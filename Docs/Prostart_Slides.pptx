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1" r:id="rId7"/>
    <p:sldId id="267" r:id="rId18"/>
    <p:sldId id="260" r:id="rId6"/>
    <p:sldId id="270" r:id="rId21"/>
    <p:sldId id="268" r:id="rId19"/>
    <p:sldId id="265" r:id="rId8"/>
    <p:sldId id="262" r:id="rId9"/>
    <p:sldId id="269" r:id="rId20"/>
    <p:sldId id="266"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FF00"/>
    <a:srgbClr val="D1FD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9"/>
    <p:restoredTop sz="94606"/>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5F93045-1210-45EE-850D-22B36CC0470C}" type="datetimeFigureOut">
              <a:t>25/09/2026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3E56838D-D544-433A-9F9C-89209B609BC5}" type="slidenum">
              <a:t>‹#›</a:t>
            </a:fld>
            <a:endParaRPr lang="en-US"/>
          </a:p>
        </p:txBody>
      </p:sp>
    </p:spTree>
    <p:extLst>
      <p:ext uri="{BB962C8B-B14F-4D97-AF65-F5344CB8AC3E}">
        <p14:creationId xmlns:p14="http://schemas.microsoft.com/office/powerpoint/2010/main" val="2113184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COVER – shown while the group gets ready. No speech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Arianna, Duarte, Lorenzo, Loke and Ninad, and our project is called Prostart. Our idea is simple: we designed a small, low-cost box that mounts on any existing starting block. The box gives the start signal, "on your marks", "set", "go", and measures the athlete's reaction time with an accelerometer. A phone at the finish line records the finish, like a photo finish. It's built for club coaches and solo athletes who today have to rely on stopwatches. It bridges the gap between professional timing and everyday training.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PT" sz="1200" b="0" i="0" u="none" strike="noStrike" kern="1200" dirty="0">
                <a:solidFill>
                  <a:schemeClr val="tx1"/>
                </a:solidFill>
                <a:effectLst/>
                <a:latin typeface="+mn-lt"/>
                <a:ea typeface="+mn-ea"/>
                <a:cs typeface="+mn-cs"/>
              </a:rPr>
              <a:t>In </a:t>
            </a:r>
            <a:r>
              <a:rPr lang="pt-PT" sz="1200" b="0" i="0" u="none" strike="noStrike" kern="1200" dirty="0" err="1">
                <a:solidFill>
                  <a:schemeClr val="tx1"/>
                </a:solidFill>
                <a:effectLst/>
                <a:latin typeface="+mn-lt"/>
                <a:ea typeface="+mn-ea"/>
                <a:cs typeface="+mn-cs"/>
              </a:rPr>
              <a:t>competitive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sprinting</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measuring</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block-start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reaction</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with</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millisecond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accuracy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luxury</a:t>
            </a:r>
            <a:r>
              <a:rPr lang="pt-PT" sz="1200" b="0" i="0" u="none" strike="noStrike" kern="1200" dirty="0">
                <a:solidFill>
                  <a:schemeClr val="tx1"/>
                </a:solidFill>
                <a:effectLst/>
                <a:latin typeface="+mn-lt"/>
                <a:ea typeface="+mn-ea"/>
                <a:cs typeface="+mn-cs"/>
              </a:rPr>
              <a:t> non-elite </a:t>
            </a:r>
            <a:r>
              <a:rPr lang="pt-PT" sz="1200" b="0" i="0" u="none" strike="noStrike" kern="1200" dirty="0" err="1">
                <a:solidFill>
                  <a:schemeClr val="tx1"/>
                </a:solidFill>
                <a:effectLst/>
                <a:latin typeface="+mn-lt"/>
                <a:ea typeface="+mn-ea"/>
                <a:cs typeface="+mn-cs"/>
              </a:rPr>
              <a:t>athletes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and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coaches</a:t>
            </a:r>
            <a:r>
              <a:rPr lang="pt-PT" sz="1200" b="0" i="0" u="none" strike="noStrike" kern="1200" dirty="0">
                <a:solidFill>
                  <a:schemeClr val="tx1"/>
                </a:solidFill>
                <a:effectLst/>
                <a:latin typeface="+mn-lt"/>
                <a:ea typeface="+mn-ea"/>
                <a:cs typeface="+mn-cs"/>
              </a:rPr>
              <a:t> can </a:t>
            </a:r>
            <a:r>
              <a:rPr lang="pt-PT" sz="1200" b="0" i="0" u="none" strike="noStrike" kern="1200" dirty="0" err="1">
                <a:solidFill>
                  <a:schemeClr val="tx1"/>
                </a:solidFill>
                <a:effectLst/>
                <a:latin typeface="+mn-lt"/>
                <a:ea typeface="+mn-ea"/>
                <a:cs typeface="+mn-cs"/>
              </a:rPr>
              <a:t>rarely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afford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Yet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fractions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of</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second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change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everything</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let’s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think</a:t>
            </a:r>
            <a:r>
              <a:rPr lang="pt-PT" sz="1200" b="0" i="0" u="none" strike="noStrike" kern="1200" dirty="0">
                <a:solidFill>
                  <a:schemeClr val="tx1"/>
                </a:solidFill>
                <a:effectLst/>
                <a:latin typeface="+mn-lt"/>
                <a:ea typeface="+mn-ea"/>
                <a:cs typeface="+mn-cs"/>
              </a:rPr>
              <a:t> for </a:t>
            </a:r>
            <a:r>
              <a:rPr lang="pt-PT" sz="1200" b="0" i="0" u="none" strike="noStrike" kern="1200" dirty="0" err="1">
                <a:solidFill>
                  <a:schemeClr val="tx1"/>
                </a:solidFill>
                <a:effectLst/>
                <a:latin typeface="+mn-lt"/>
                <a:ea typeface="+mn-ea"/>
                <a:cs typeface="+mn-cs"/>
              </a:rPr>
              <a:t>example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a:t>
            </a:r>
            <a:r>
              <a:rPr lang="pt-PT" sz="1200" b="0" i="0" u="none" strike="noStrike" kern="1200" dirty="0">
                <a:solidFill>
                  <a:schemeClr val="tx1"/>
                </a:solidFill>
                <a:effectLst/>
                <a:latin typeface="+mn-lt"/>
                <a:ea typeface="+mn-ea"/>
                <a:cs typeface="+mn-cs"/>
              </a:rPr>
              <a:t> Noah </a:t>
            </a:r>
            <a:r>
              <a:rPr lang="pt-PT" sz="1200" b="0" i="0" u="none" strike="noStrike" kern="1200" dirty="0" err="1">
                <a:solidFill>
                  <a:schemeClr val="tx1"/>
                </a:solidFill>
                <a:effectLst/>
                <a:latin typeface="+mn-lt"/>
                <a:ea typeface="+mn-ea"/>
                <a:cs typeface="+mn-cs"/>
              </a:rPr>
              <a:t>Lyles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who</a:t>
            </a:r>
            <a:r>
              <a:rPr lang="pt-PT" sz="1200" b="0" i="0" u="none" strike="noStrike" kern="1200" dirty="0">
                <a:solidFill>
                  <a:schemeClr val="tx1"/>
                </a:solidFill>
                <a:effectLst/>
                <a:latin typeface="+mn-lt"/>
                <a:ea typeface="+mn-ea"/>
                <a:cs typeface="+mn-cs"/>
              </a:rPr>
              <a:t> won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Paris </a:t>
            </a:r>
            <a:r>
              <a:rPr lang="pt-PT" sz="1200" b="0" i="0" u="none" strike="noStrike" kern="1200" dirty="0" err="1">
                <a:solidFill>
                  <a:schemeClr val="tx1"/>
                </a:solidFill>
                <a:effectLst/>
                <a:latin typeface="+mn-lt"/>
                <a:ea typeface="+mn-ea"/>
                <a:cs typeface="+mn-cs"/>
              </a:rPr>
              <a:t>Olympic</a:t>
            </a:r>
            <a:r>
              <a:rPr lang="pt-PT" sz="1200" b="0" i="0" u="none" strike="noStrike" kern="1200" dirty="0">
                <a:solidFill>
                  <a:schemeClr val="tx1"/>
                </a:solidFill>
                <a:effectLst/>
                <a:latin typeface="+mn-lt"/>
                <a:ea typeface="+mn-ea"/>
                <a:cs typeface="+mn-cs"/>
              </a:rPr>
              <a:t> 100-metre final </a:t>
            </a:r>
            <a:r>
              <a:rPr lang="pt-PT" sz="1200" b="0" i="0" u="none" strike="noStrike" kern="1200" dirty="0" err="1">
                <a:solidFill>
                  <a:schemeClr val="tx1"/>
                </a:solidFill>
                <a:effectLst/>
                <a:latin typeface="+mn-lt"/>
                <a:ea typeface="+mn-ea"/>
                <a:cs typeface="+mn-cs"/>
              </a:rPr>
              <a:t>by</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mere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five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thousandths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of</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second</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margin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where</a:t>
            </a:r>
            <a:r>
              <a:rPr lang="pt-PT" sz="1200" b="0" i="0" u="none" strike="noStrike" kern="1200" dirty="0">
                <a:solidFill>
                  <a:schemeClr val="tx1"/>
                </a:solidFill>
                <a:effectLst/>
                <a:latin typeface="+mn-lt"/>
                <a:ea typeface="+mn-ea"/>
                <a:cs typeface="+mn-cs"/>
              </a:rPr>
              <a:t> a fast </a:t>
            </a:r>
            <a:r>
              <a:rPr lang="pt-PT" sz="1200" b="0" i="0" u="none" strike="noStrike" kern="1200" dirty="0" err="1">
                <a:solidFill>
                  <a:schemeClr val="tx1"/>
                </a:solidFill>
                <a:effectLst/>
                <a:latin typeface="+mn-lt"/>
                <a:ea typeface="+mn-ea"/>
                <a:cs typeface="+mn-cs"/>
              </a:rPr>
              <a:t>and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well-measured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start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plays</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critical</a:t>
            </a:r>
            <a:r>
              <a:rPr lang="pt-PT" sz="1200" b="0" i="0" u="none" strike="noStrike" kern="1200" dirty="0">
                <a:solidFill>
                  <a:schemeClr val="tx1"/>
                </a:solidFill>
                <a:effectLst/>
                <a:latin typeface="+mn-lt"/>
                <a:ea typeface="+mn-ea"/>
                <a:cs typeface="+mn-cs"/>
              </a:rPr>
              <a:t> role. </a:t>
            </a:r>
            <a:r>
              <a:rPr lang="pt-PT" sz="1200" b="0" i="0" u="none" strike="noStrike" kern="1200" dirty="0" err="1">
                <a:solidFill>
                  <a:schemeClr val="tx1"/>
                </a:solidFill>
                <a:effectLst/>
                <a:latin typeface="+mn-lt"/>
                <a:ea typeface="+mn-ea"/>
                <a:cs typeface="+mn-cs"/>
              </a:rPr>
              <a:t>Any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reaction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under</a:t>
            </a:r>
            <a:r>
              <a:rPr lang="pt-PT" sz="1200" b="0" i="0" u="none" strike="noStrike" kern="1200" dirty="0">
                <a:solidFill>
                  <a:schemeClr val="tx1"/>
                </a:solidFill>
                <a:effectLst/>
                <a:latin typeface="+mn-lt"/>
                <a:ea typeface="+mn-ea"/>
                <a:cs typeface="+mn-cs"/>
              </a:rPr>
              <a:t> 0.100 </a:t>
            </a:r>
            <a:r>
              <a:rPr lang="pt-PT" sz="1200" b="0" i="0" u="none" strike="noStrike" kern="1200" dirty="0" err="1">
                <a:solidFill>
                  <a:schemeClr val="tx1"/>
                </a:solidFill>
                <a:effectLst/>
                <a:latin typeface="+mn-lt"/>
                <a:ea typeface="+mn-ea"/>
                <a:cs typeface="+mn-cs"/>
              </a:rPr>
              <a:t>seconds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flagged</a:t>
            </a:r>
            <a:r>
              <a:rPr lang="pt-PT" sz="1200" b="0" i="0" u="none" strike="noStrike" kern="1200" dirty="0">
                <a:solidFill>
                  <a:schemeClr val="tx1"/>
                </a:solidFill>
                <a:effectLst/>
                <a:latin typeface="+mn-lt"/>
                <a:ea typeface="+mn-ea"/>
                <a:cs typeface="+mn-cs"/>
              </a:rPr>
              <a:t> as a false </a:t>
            </a:r>
            <a:r>
              <a:rPr lang="pt-PT" sz="1200" b="0" i="0" u="none" strike="noStrike" kern="1200" dirty="0" err="1">
                <a:solidFill>
                  <a:schemeClr val="tx1"/>
                </a:solidFill>
                <a:effectLst/>
                <a:latin typeface="+mn-lt"/>
                <a:ea typeface="+mn-ea"/>
                <a:cs typeface="+mn-cs"/>
              </a:rPr>
              <a:t>start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and</a:t>
            </a:r>
            <a:r>
              <a:rPr lang="pt-PT" sz="1200" b="0" i="0" u="none" strike="noStrike" kern="1200" dirty="0">
                <a:solidFill>
                  <a:schemeClr val="tx1"/>
                </a:solidFill>
                <a:effectLst/>
                <a:latin typeface="+mn-lt"/>
                <a:ea typeface="+mn-ea"/>
                <a:cs typeface="+mn-cs"/>
              </a:rPr>
              <a:t> elite sprinters </a:t>
            </a:r>
            <a:r>
              <a:rPr lang="pt-PT" sz="1200" b="0" i="0" u="none" strike="noStrike" kern="1200" dirty="0" err="1">
                <a:solidFill>
                  <a:schemeClr val="tx1"/>
                </a:solidFill>
                <a:effectLst/>
                <a:latin typeface="+mn-lt"/>
                <a:ea typeface="+mn-ea"/>
                <a:cs typeface="+mn-cs"/>
              </a:rPr>
              <a:t>sit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only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slightly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above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that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mark</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what</a:t>
            </a:r>
            <a:r>
              <a:rPr lang="pt-PT" sz="1200" b="0" i="0" u="none" strike="noStrike" kern="1200" dirty="0">
                <a:solidFill>
                  <a:schemeClr val="tx1"/>
                </a:solidFill>
                <a:effectLst/>
                <a:latin typeface="+mn-lt"/>
                <a:ea typeface="+mn-ea"/>
                <a:cs typeface="+mn-cs"/>
              </a:rPr>
              <a:t> do </a:t>
            </a:r>
            <a:r>
              <a:rPr lang="pt-PT" sz="1200" b="0" i="0" u="none" strike="noStrike" kern="1200" dirty="0" err="1">
                <a:solidFill>
                  <a:schemeClr val="tx1"/>
                </a:solidFill>
                <a:effectLst/>
                <a:latin typeface="+mn-lt"/>
                <a:ea typeface="+mn-ea"/>
                <a:cs typeface="+mn-cs"/>
              </a:rPr>
              <a:t>most</a:t>
            </a:r>
            <a:r>
              <a:rPr lang="pt-PT" sz="1200" b="0" i="0" u="none" strike="noStrike" kern="1200" dirty="0">
                <a:solidFill>
                  <a:schemeClr val="tx1"/>
                </a:solidFill>
                <a:effectLst/>
                <a:latin typeface="+mn-lt"/>
                <a:ea typeface="+mn-ea"/>
                <a:cs typeface="+mn-cs"/>
              </a:rPr>
              <a:t> clubs use </a:t>
            </a:r>
            <a:r>
              <a:rPr lang="pt-PT" sz="1200" b="0" i="0" u="none" strike="noStrike" kern="1200" dirty="0" err="1">
                <a:solidFill>
                  <a:schemeClr val="tx1"/>
                </a:solidFill>
                <a:effectLst/>
                <a:latin typeface="+mn-lt"/>
                <a:ea typeface="+mn-ea"/>
                <a:cs typeface="+mn-cs"/>
              </a:rPr>
              <a:t>today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Hand</a:t>
            </a:r>
            <a:r>
              <a:rPr lang="pt-PT" sz="1200" b="0" i="0" u="none" strike="noStrike" kern="1200" dirty="0">
                <a:solidFill>
                  <a:schemeClr val="tx1"/>
                </a:solidFill>
                <a:effectLst/>
                <a:latin typeface="+mn-lt"/>
                <a:ea typeface="+mn-ea"/>
                <a:cs typeface="+mn-cs"/>
              </a:rPr>
              <a:t> timing. </a:t>
            </a:r>
            <a:r>
              <a:rPr lang="pt-PT" sz="1200" b="0" i="0" u="none" strike="noStrike" kern="1200" dirty="0" err="1">
                <a:solidFill>
                  <a:schemeClr val="tx1"/>
                </a:solidFill>
                <a:effectLst/>
                <a:latin typeface="+mn-lt"/>
                <a:ea typeface="+mn-ea"/>
                <a:cs typeface="+mn-cs"/>
              </a:rPr>
              <a:t>But</a:t>
            </a:r>
            <a:r>
              <a:rPr lang="pt-PT" sz="1200" b="0" i="0" u="none" strike="noStrike" kern="1200" dirty="0">
                <a:solidFill>
                  <a:schemeClr val="tx1"/>
                </a:solidFill>
                <a:effectLst/>
                <a:latin typeface="+mn-lt"/>
                <a:ea typeface="+mn-ea"/>
                <a:cs typeface="+mn-cs"/>
              </a:rPr>
              <a:t> a manual </a:t>
            </a:r>
            <a:r>
              <a:rPr lang="pt-PT" sz="1200" b="0" i="0" u="none" strike="noStrike" kern="1200" dirty="0" err="1">
                <a:solidFill>
                  <a:schemeClr val="tx1"/>
                </a:solidFill>
                <a:effectLst/>
                <a:latin typeface="+mn-lt"/>
                <a:ea typeface="+mn-ea"/>
                <a:cs typeface="+mn-cs"/>
              </a:rPr>
              <a:t>stopwatch</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introduces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an</a:t>
            </a:r>
            <a:r>
              <a:rPr lang="pt-PT" sz="1200" b="0" i="0" u="none" strike="noStrike" kern="1200" dirty="0">
                <a:solidFill>
                  <a:schemeClr val="tx1"/>
                </a:solidFill>
                <a:effectLst/>
                <a:latin typeface="+mn-lt"/>
                <a:ea typeface="+mn-ea"/>
                <a:cs typeface="+mn-cs"/>
              </a:rPr>
              <a:t> error </a:t>
            </a:r>
            <a:r>
              <a:rPr lang="pt-PT" sz="1200" b="0" i="0" u="none" strike="noStrike" kern="1200" dirty="0" err="1">
                <a:solidFill>
                  <a:schemeClr val="tx1"/>
                </a:solidFill>
                <a:effectLst/>
                <a:latin typeface="+mn-lt"/>
                <a:ea typeface="+mn-ea"/>
                <a:cs typeface="+mn-cs"/>
              </a:rPr>
              <a:t>of</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about</a:t>
            </a:r>
            <a:r>
              <a:rPr lang="pt-PT" sz="1200" b="0" i="0" u="none" strike="noStrike" kern="1200" dirty="0">
                <a:solidFill>
                  <a:schemeClr val="tx1"/>
                </a:solidFill>
                <a:effectLst/>
                <a:latin typeface="+mn-lt"/>
                <a:ea typeface="+mn-ea"/>
                <a:cs typeface="+mn-cs"/>
              </a:rPr>
              <a:t> 0.24 </a:t>
            </a:r>
            <a:r>
              <a:rPr lang="pt-PT" sz="1200" b="0" i="0" u="none" strike="noStrike" kern="1200" dirty="0" err="1">
                <a:solidFill>
                  <a:schemeClr val="tx1"/>
                </a:solidFill>
                <a:effectLst/>
                <a:latin typeface="+mn-lt"/>
                <a:ea typeface="+mn-ea"/>
                <a:cs typeface="+mn-cs"/>
              </a:rPr>
              <a:t>seconds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compared</a:t>
            </a:r>
            <a:r>
              <a:rPr lang="pt-PT" sz="1200" b="0" i="0" u="none" strike="noStrike" kern="1200" dirty="0">
                <a:solidFill>
                  <a:schemeClr val="tx1"/>
                </a:solidFill>
                <a:effectLst/>
                <a:latin typeface="+mn-lt"/>
                <a:ea typeface="+mn-ea"/>
                <a:cs typeface="+mn-cs"/>
              </a:rPr>
              <a:t> to </a:t>
            </a:r>
            <a:r>
              <a:rPr lang="pt-PT" sz="1200" b="0" i="0" u="none" strike="noStrike" kern="1200" dirty="0" err="1">
                <a:solidFill>
                  <a:schemeClr val="tx1"/>
                </a:solidFill>
                <a:effectLst/>
                <a:latin typeface="+mn-lt"/>
                <a:ea typeface="+mn-ea"/>
                <a:cs typeface="+mn-cs"/>
              </a:rPr>
              <a:t>electronic</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systems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rendering</a:t>
            </a:r>
            <a:r>
              <a:rPr lang="pt-PT" sz="1200" b="0" i="0" u="none" strike="noStrike" kern="1200" dirty="0">
                <a:solidFill>
                  <a:schemeClr val="tx1"/>
                </a:solidFill>
                <a:effectLst/>
                <a:latin typeface="+mn-lt"/>
                <a:ea typeface="+mn-ea"/>
                <a:cs typeface="+mn-cs"/>
              </a:rPr>
              <a:t> times </a:t>
            </a:r>
            <a:r>
              <a:rPr lang="pt-PT" sz="1200" b="0" i="0" u="none" strike="noStrike" kern="1200" dirty="0" err="1">
                <a:solidFill>
                  <a:schemeClr val="tx1"/>
                </a:solidFill>
                <a:effectLst/>
                <a:latin typeface="+mn-lt"/>
                <a:ea typeface="+mn-ea"/>
                <a:cs typeface="+mn-cs"/>
              </a:rPr>
              <a:t>completely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unreliable</a:t>
            </a:r>
            <a:r>
              <a:rPr lang="pt-PT" sz="1200" b="0" i="0" u="none" strike="noStrike" kern="1200" dirty="0">
                <a:solidFill>
                  <a:schemeClr val="tx1"/>
                </a:solidFill>
                <a:effectLst/>
                <a:latin typeface="+mn-lt"/>
                <a:ea typeface="+mn-ea"/>
                <a:cs typeface="+mn-cs"/>
              </a:rPr>
              <a:t> for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tiny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gains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athlete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trains</a:t>
            </a:r>
            <a:r>
              <a:rPr lang="pt-PT" sz="1200" b="0" i="0" u="none" strike="noStrike" kern="1200" dirty="0">
                <a:solidFill>
                  <a:schemeClr val="tx1"/>
                </a:solidFill>
                <a:effectLst/>
                <a:latin typeface="+mn-lt"/>
                <a:ea typeface="+mn-ea"/>
                <a:cs typeface="+mn-cs"/>
              </a:rPr>
              <a:t> for. </a:t>
            </a:r>
            <a:r>
              <a:rPr lang="pt-PT" sz="1200" b="0" i="0" u="none" strike="noStrike" kern="1200" dirty="0" err="1">
                <a:solidFill>
                  <a:schemeClr val="tx1"/>
                </a:solidFill>
                <a:effectLst/>
                <a:latin typeface="+mn-lt"/>
                <a:ea typeface="+mn-ea"/>
                <a:cs typeface="+mn-cs"/>
              </a:rPr>
              <a:t>Other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solutions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exist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Photocells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start</a:t>
            </a:r>
            <a:r>
              <a:rPr lang="pt-PT" sz="1200" b="0" i="0" u="none" strike="noStrike" kern="1200" dirty="0">
                <a:solidFill>
                  <a:schemeClr val="tx1"/>
                </a:solidFill>
                <a:effectLst/>
                <a:latin typeface="+mn-lt"/>
                <a:ea typeface="+mn-ea"/>
                <a:cs typeface="+mn-cs"/>
              </a:rPr>
              <a:t> timing </a:t>
            </a:r>
            <a:r>
              <a:rPr lang="pt-PT" sz="1200" b="0" i="0" u="none" strike="noStrike" kern="1200" dirty="0" err="1">
                <a:solidFill>
                  <a:schemeClr val="tx1"/>
                </a:solidFill>
                <a:effectLst/>
                <a:latin typeface="+mn-lt"/>
                <a:ea typeface="+mn-ea"/>
                <a:cs typeface="+mn-cs"/>
              </a:rPr>
              <a:t>when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body crosses a </a:t>
            </a:r>
            <a:r>
              <a:rPr lang="pt-PT" sz="1200" b="0" i="0" u="none" strike="noStrike" kern="1200" dirty="0" err="1">
                <a:solidFill>
                  <a:schemeClr val="tx1"/>
                </a:solidFill>
                <a:effectLst/>
                <a:latin typeface="+mn-lt"/>
                <a:ea typeface="+mn-ea"/>
                <a:cs typeface="+mn-cs"/>
              </a:rPr>
              <a:t>beam</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they</a:t>
            </a:r>
            <a:r>
              <a:rPr lang="pt-PT" sz="1200" b="0" i="0" u="none" strike="noStrike" kern="1200" dirty="0">
                <a:solidFill>
                  <a:schemeClr val="tx1"/>
                </a:solidFill>
                <a:effectLst/>
                <a:latin typeface="+mn-lt"/>
                <a:ea typeface="+mn-ea"/>
                <a:cs typeface="+mn-cs"/>
              </a:rPr>
              <a:t> miss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reaction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FinishLynx</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ReacTime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measures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reaction</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with</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threshold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acceleration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but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even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training </a:t>
            </a:r>
            <a:r>
              <a:rPr lang="pt-PT" sz="1200" b="0" i="0" u="none" strike="noStrike" kern="1200" dirty="0" err="1">
                <a:solidFill>
                  <a:schemeClr val="tx1"/>
                </a:solidFill>
                <a:effectLst/>
                <a:latin typeface="+mn-lt"/>
                <a:ea typeface="+mn-ea"/>
                <a:cs typeface="+mn-cs"/>
              </a:rPr>
              <a:t>version</a:t>
            </a:r>
            <a:r>
              <a:rPr lang="pt-PT" sz="1200" b="0" i="0" u="none" strike="noStrike" kern="1200" dirty="0">
                <a:solidFill>
                  <a:schemeClr val="tx1"/>
                </a:solidFill>
                <a:effectLst/>
                <a:latin typeface="+mn-lt"/>
                <a:ea typeface="+mn-ea"/>
                <a:cs typeface="+mn-cs"/>
              </a:rPr>
              <a:t> for </a:t>
            </a:r>
            <a:r>
              <a:rPr lang="pt-PT" sz="1200" b="0" i="0" u="none" strike="noStrike" kern="1200" dirty="0" err="1">
                <a:solidFill>
                  <a:schemeClr val="tx1"/>
                </a:solidFill>
                <a:effectLst/>
                <a:latin typeface="+mn-lt"/>
                <a:ea typeface="+mn-ea"/>
                <a:cs typeface="+mn-cs"/>
              </a:rPr>
              <a:t>one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block</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costs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about</a:t>
            </a:r>
            <a:r>
              <a:rPr lang="pt-PT" sz="1200" b="0" i="0" u="none" strike="noStrike" kern="1200" dirty="0">
                <a:solidFill>
                  <a:schemeClr val="tx1"/>
                </a:solidFill>
                <a:effectLst/>
                <a:latin typeface="+mn-lt"/>
                <a:ea typeface="+mn-ea"/>
                <a:cs typeface="+mn-cs"/>
              </a:rPr>
              <a:t> 1,600 </a:t>
            </a:r>
            <a:r>
              <a:rPr lang="pt-PT" sz="1200" b="0" i="0" u="none" strike="noStrike" kern="1200" dirty="0" err="1">
                <a:solidFill>
                  <a:schemeClr val="tx1"/>
                </a:solidFill>
                <a:effectLst/>
                <a:latin typeface="+mn-lt"/>
                <a:ea typeface="+mn-ea"/>
                <a:cs typeface="+mn-cs"/>
              </a:rPr>
              <a:t>dollars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Olympics</a:t>
            </a:r>
            <a:r>
              <a:rPr lang="pt-PT" sz="1200" b="0" i="0" u="none" strike="noStrike" kern="1200" dirty="0">
                <a:solidFill>
                  <a:schemeClr val="tx1"/>
                </a:solidFill>
                <a:effectLst/>
                <a:latin typeface="+mn-lt"/>
                <a:ea typeface="+mn-ea"/>
                <a:cs typeface="+mn-cs"/>
              </a:rPr>
              <a:t>, Omega uses force </a:t>
            </a:r>
            <a:r>
              <a:rPr lang="pt-PT" sz="1200" b="0" i="0" u="none" strike="noStrike" kern="1200" dirty="0" err="1">
                <a:solidFill>
                  <a:schemeClr val="tx1"/>
                </a:solidFill>
                <a:effectLst/>
                <a:latin typeface="+mn-lt"/>
                <a:ea typeface="+mn-ea"/>
                <a:cs typeface="+mn-cs"/>
              </a:rPr>
              <a:t>sensors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built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into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blocks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there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 clear gap: a </a:t>
            </a:r>
            <a:r>
              <a:rPr lang="pt-PT" sz="1200" b="0" i="0" u="none" strike="noStrike" kern="1200" dirty="0" err="1">
                <a:solidFill>
                  <a:schemeClr val="tx1"/>
                </a:solidFill>
                <a:effectLst/>
                <a:latin typeface="+mn-lt"/>
                <a:ea typeface="+mn-ea"/>
                <a:cs typeface="+mn-cs"/>
              </a:rPr>
              <a:t>low-cost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portable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system</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with</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documented</a:t>
            </a:r>
            <a:r>
              <a:rPr lang="pt-PT" sz="1200" b="0" i="0" u="none" strike="noStrike" kern="1200" dirty="0">
                <a:solidFill>
                  <a:schemeClr val="tx1"/>
                </a:solidFill>
                <a:effectLst/>
                <a:latin typeface="+mn-lt"/>
                <a:ea typeface="+mn-ea"/>
                <a:cs typeface="+mn-cs"/>
              </a:rPr>
              <a:t> timing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two parts: a start unit on the block, and a phone at the finish line. The start unit is built on one small board, an ESP32-C3, with a BMI270 accelerometer. It reads the accelerometer about 800 times per second, so one sample every 1.2 milliseconds, and every reading is stamped the moment it arrives.</a:t>
            </a:r>
          </a:p>
          <a:p>
            <a:r>
              <a:rPr lang="en-US" dirty="0"/>
              <a:t>To find the exact moment the athlete starts to push, we use two steps. First, an STA/LTA trigger decides that a movement happened. Then an AIC picker looks around that moment and finds the sample where the signal changes from quiet to active. This second step does not depend on any threshold.</a:t>
            </a:r>
          </a:p>
          <a:p>
            <a:r>
              <a:rPr lang="en-US" dirty="0"/>
              <a:t>The start unit talks to the phone directly over Bluetooth, which covers about 30 metres. For a full 100 metres we plan a second ESP32-C3 at the finish, linked by long-range radio. At the finish, the phone's clock is synced to the board, and on-device AI finds the chest crossing the line. We write the firmware in Arduino, the app in Flutter, and the analysis in Python.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pt-PT" sz="1200" b="0" i="0" u="none" strike="noStrike" kern="1200" dirty="0" err="1">
                <a:solidFill>
                  <a:schemeClr val="tx1"/>
                </a:solidFill>
                <a:effectLst/>
                <a:latin typeface="+mn-lt"/>
                <a:ea typeface="+mn-ea"/>
                <a:cs typeface="+mn-cs"/>
              </a:rPr>
              <a:t>Now</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how</a:t>
            </a:r>
            <a:r>
              <a:rPr lang="pt-PT" sz="1200" b="0" i="0" u="none" strike="noStrike" kern="1200" dirty="0">
                <a:solidFill>
                  <a:schemeClr val="tx1"/>
                </a:solidFill>
                <a:effectLst/>
                <a:latin typeface="+mn-lt"/>
                <a:ea typeface="+mn-ea"/>
                <a:cs typeface="+mn-cs"/>
              </a:rPr>
              <a:t> does </a:t>
            </a:r>
            <a:r>
              <a:rPr lang="pt-PT" sz="1200" b="0" i="0" u="none" strike="noStrike" kern="1200" dirty="0" err="1">
                <a:solidFill>
                  <a:schemeClr val="tx1"/>
                </a:solidFill>
                <a:effectLst/>
                <a:latin typeface="+mn-lt"/>
                <a:ea typeface="+mn-ea"/>
                <a:cs typeface="+mn-cs"/>
              </a:rPr>
              <a:t>an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athlete</a:t>
            </a:r>
            <a:r>
              <a:rPr lang="pt-PT" sz="1200" b="0" i="0" u="none" strike="noStrike" kern="1200" dirty="0">
                <a:solidFill>
                  <a:schemeClr val="tx1"/>
                </a:solidFill>
                <a:effectLst/>
                <a:latin typeface="+mn-lt"/>
                <a:ea typeface="+mn-ea"/>
                <a:cs typeface="+mn-cs"/>
              </a:rPr>
              <a:t> use </a:t>
            </a:r>
            <a:r>
              <a:rPr lang="pt-PT" sz="1200" b="0" i="0" u="none" strike="noStrike" kern="1200" dirty="0" err="1">
                <a:solidFill>
                  <a:schemeClr val="tx1"/>
                </a:solidFill>
                <a:effectLst/>
                <a:latin typeface="+mn-lt"/>
                <a:ea typeface="+mn-ea"/>
                <a:cs typeface="+mn-cs"/>
              </a:rPr>
              <a:t>it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First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coach </a:t>
            </a:r>
            <a:r>
              <a:rPr lang="pt-PT" sz="1200" b="0" i="0" u="none" strike="noStrike" kern="1200" dirty="0" err="1">
                <a:solidFill>
                  <a:schemeClr val="tx1"/>
                </a:solidFill>
                <a:effectLst/>
                <a:latin typeface="+mn-lt"/>
                <a:ea typeface="+mn-ea"/>
                <a:cs typeface="+mn-cs"/>
              </a:rPr>
              <a:t>or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athlete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securely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straps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box </a:t>
            </a:r>
            <a:r>
              <a:rPr lang="pt-PT" sz="1200" b="0" i="0" u="none" strike="noStrike" kern="1200" dirty="0" err="1">
                <a:solidFill>
                  <a:schemeClr val="tx1"/>
                </a:solidFill>
                <a:effectLst/>
                <a:latin typeface="+mn-lt"/>
                <a:ea typeface="+mn-ea"/>
                <a:cs typeface="+mn-cs"/>
              </a:rPr>
              <a:t>onto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back</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of</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starting</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block</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press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one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button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box </a:t>
            </a:r>
            <a:r>
              <a:rPr lang="pt-PT" sz="1200" b="0" i="0" u="none" strike="noStrike" kern="1200" dirty="0" err="1">
                <a:solidFill>
                  <a:schemeClr val="tx1"/>
                </a:solidFill>
                <a:effectLst/>
                <a:latin typeface="+mn-lt"/>
                <a:ea typeface="+mn-ea"/>
                <a:cs typeface="+mn-cs"/>
              </a:rPr>
              <a:t>plays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three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beeps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your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marks</a:t>
            </a:r>
            <a:r>
              <a:rPr lang="pt-PT" sz="1200" b="0" i="0" u="none" strike="noStrike" kern="1200" dirty="0">
                <a:solidFill>
                  <a:schemeClr val="tx1"/>
                </a:solidFill>
                <a:effectLst/>
                <a:latin typeface="+mn-lt"/>
                <a:ea typeface="+mn-ea"/>
                <a:cs typeface="+mn-cs"/>
              </a:rPr>
              <a:t>", "set" </a:t>
            </a:r>
            <a:r>
              <a:rPr lang="pt-PT" sz="1200" b="0" i="0" u="none" strike="noStrike" kern="1200" dirty="0" err="1">
                <a:solidFill>
                  <a:schemeClr val="tx1"/>
                </a:solidFill>
                <a:effectLst/>
                <a:latin typeface="+mn-lt"/>
                <a:ea typeface="+mn-ea"/>
                <a:cs typeface="+mn-cs"/>
              </a:rPr>
              <a:t>and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go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After</a:t>
            </a:r>
            <a:r>
              <a:rPr lang="pt-PT" sz="1200" b="0" i="0" u="none" strike="noStrike" kern="1200" dirty="0">
                <a:solidFill>
                  <a:schemeClr val="tx1"/>
                </a:solidFill>
                <a:effectLst/>
                <a:latin typeface="+mn-lt"/>
                <a:ea typeface="+mn-ea"/>
                <a:cs typeface="+mn-cs"/>
              </a:rPr>
              <a:t> "set",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box </a:t>
            </a:r>
            <a:r>
              <a:rPr lang="pt-PT" sz="1200" b="0" i="0" u="none" strike="noStrike" kern="1200" dirty="0" err="1">
                <a:solidFill>
                  <a:schemeClr val="tx1"/>
                </a:solidFill>
                <a:effectLst/>
                <a:latin typeface="+mn-lt"/>
                <a:ea typeface="+mn-ea"/>
                <a:cs typeface="+mn-cs"/>
              </a:rPr>
              <a:t>waits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until</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athlete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completely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still</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and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fires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go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random</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between</a:t>
            </a:r>
            <a:r>
              <a:rPr lang="pt-PT" sz="1200" b="0" i="0" u="none" strike="noStrike" kern="1200" dirty="0">
                <a:solidFill>
                  <a:schemeClr val="tx1"/>
                </a:solidFill>
                <a:effectLst/>
                <a:latin typeface="+mn-lt"/>
                <a:ea typeface="+mn-ea"/>
                <a:cs typeface="+mn-cs"/>
              </a:rPr>
              <a:t> 0.7 </a:t>
            </a:r>
            <a:r>
              <a:rPr lang="pt-PT" sz="1200" b="0" i="0" u="none" strike="noStrike" kern="1200" dirty="0" err="1">
                <a:solidFill>
                  <a:schemeClr val="tx1"/>
                </a:solidFill>
                <a:effectLst/>
                <a:latin typeface="+mn-lt"/>
                <a:ea typeface="+mn-ea"/>
                <a:cs typeface="+mn-cs"/>
              </a:rPr>
              <a:t>and</a:t>
            </a:r>
            <a:r>
              <a:rPr lang="pt-PT" sz="1200" b="0" i="0" u="none" strike="noStrike" kern="1200" dirty="0">
                <a:solidFill>
                  <a:schemeClr val="tx1"/>
                </a:solidFill>
                <a:effectLst/>
                <a:latin typeface="+mn-lt"/>
                <a:ea typeface="+mn-ea"/>
                <a:cs typeface="+mn-cs"/>
              </a:rPr>
              <a:t> 1.5 </a:t>
            </a:r>
            <a:r>
              <a:rPr lang="pt-PT" sz="1200" b="0" i="0" u="none" strike="noStrike" kern="1200" dirty="0" err="1">
                <a:solidFill>
                  <a:schemeClr val="tx1"/>
                </a:solidFill>
                <a:effectLst/>
                <a:latin typeface="+mn-lt"/>
                <a:ea typeface="+mn-ea"/>
                <a:cs typeface="+mn-cs"/>
              </a:rPr>
              <a:t>seconds</a:t>
            </a:r>
            <a:r>
              <a:rPr lang="pt-PT" sz="1200" b="0" i="0" u="none" strike="noStrike" kern="1200" dirty="0">
                <a:solidFill>
                  <a:schemeClr val="tx1"/>
                </a:solidFill>
                <a:effectLst/>
                <a:latin typeface="+mn-lt"/>
                <a:ea typeface="+mn-ea"/>
                <a:cs typeface="+mn-cs"/>
              </a:rPr>
              <a:t> later. </a:t>
            </a:r>
            <a:r>
              <a:rPr lang="pt-PT" sz="1200" b="0" i="0" u="none" strike="noStrike" kern="1200" dirty="0" err="1">
                <a:solidFill>
                  <a:schemeClr val="tx1"/>
                </a:solidFill>
                <a:effectLst/>
                <a:latin typeface="+mn-lt"/>
                <a:ea typeface="+mn-ea"/>
                <a:cs typeface="+mn-cs"/>
              </a:rPr>
              <a:t>When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athlete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pushes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off</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box </a:t>
            </a:r>
            <a:r>
              <a:rPr lang="pt-PT" sz="1200" b="0" i="0" u="none" strike="noStrike" kern="1200" dirty="0" err="1">
                <a:solidFill>
                  <a:schemeClr val="tx1"/>
                </a:solidFill>
                <a:effectLst/>
                <a:latin typeface="+mn-lt"/>
                <a:ea typeface="+mn-ea"/>
                <a:cs typeface="+mn-cs"/>
              </a:rPr>
              <a:t>measures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reaction</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If</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athlete</a:t>
            </a:r>
            <a:r>
              <a:rPr lang="pt-PT" sz="1200" b="0" i="0" u="none" strike="noStrike" kern="1200" dirty="0">
                <a:solidFill>
                  <a:schemeClr val="tx1"/>
                </a:solidFill>
                <a:effectLst/>
                <a:latin typeface="+mn-lt"/>
                <a:ea typeface="+mn-ea"/>
                <a:cs typeface="+mn-cs"/>
              </a:rPr>
              <a:t> moves </a:t>
            </a:r>
            <a:r>
              <a:rPr lang="pt-PT" sz="1200" b="0" i="0" u="none" strike="noStrike" kern="1200" dirty="0" err="1">
                <a:solidFill>
                  <a:schemeClr val="tx1"/>
                </a:solidFill>
                <a:effectLst/>
                <a:latin typeface="+mn-lt"/>
                <a:ea typeface="+mn-ea"/>
                <a:cs typeface="+mn-cs"/>
              </a:rPr>
              <a:t>less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than</a:t>
            </a:r>
            <a:r>
              <a:rPr lang="pt-PT" sz="1200" b="0" i="0" u="none" strike="noStrike" kern="1200" dirty="0">
                <a:solidFill>
                  <a:schemeClr val="tx1"/>
                </a:solidFill>
                <a:effectLst/>
                <a:latin typeface="+mn-lt"/>
                <a:ea typeface="+mn-ea"/>
                <a:cs typeface="+mn-cs"/>
              </a:rPr>
              <a:t> 100 </a:t>
            </a:r>
            <a:r>
              <a:rPr lang="pt-PT" sz="1200" b="0" i="0" u="none" strike="noStrike" kern="1200" dirty="0" err="1">
                <a:solidFill>
                  <a:schemeClr val="tx1"/>
                </a:solidFill>
                <a:effectLst/>
                <a:latin typeface="+mn-lt"/>
                <a:ea typeface="+mn-ea"/>
                <a:cs typeface="+mn-cs"/>
              </a:rPr>
              <a:t>milliseconds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after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go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 false </a:t>
            </a:r>
            <a:r>
              <a:rPr lang="pt-PT" sz="1200" b="0" i="0" u="none" strike="noStrike" kern="1200" dirty="0" err="1">
                <a:solidFill>
                  <a:schemeClr val="tx1"/>
                </a:solidFill>
                <a:effectLst/>
                <a:latin typeface="+mn-lt"/>
                <a:ea typeface="+mn-ea"/>
                <a:cs typeface="+mn-cs"/>
              </a:rPr>
              <a:t>start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finish</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line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phone</a:t>
            </a:r>
            <a:r>
              <a:rPr lang="pt-PT" sz="1200" b="0" i="0" u="none" strike="noStrike" kern="1200" dirty="0">
                <a:solidFill>
                  <a:schemeClr val="tx1"/>
                </a:solidFill>
                <a:effectLst/>
                <a:latin typeface="+mn-lt"/>
                <a:ea typeface="+mn-ea"/>
                <a:cs typeface="+mn-cs"/>
              </a:rPr>
              <a:t> app </a:t>
            </a:r>
            <a:r>
              <a:rPr lang="pt-PT" sz="1200" b="0" i="0" u="none" strike="noStrike" kern="1200" dirty="0" err="1">
                <a:solidFill>
                  <a:schemeClr val="tx1"/>
                </a:solidFill>
                <a:effectLst/>
                <a:latin typeface="+mn-lt"/>
                <a:ea typeface="+mn-ea"/>
                <a:cs typeface="+mn-cs"/>
              </a:rPr>
              <a:t>films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all</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When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receives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start</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from</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block</a:t>
            </a:r>
            <a:r>
              <a:rPr lang="pt-PT" sz="1200" b="0" i="0" u="none" strike="noStrike" kern="1200" dirty="0">
                <a:solidFill>
                  <a:schemeClr val="tx1"/>
                </a:solidFill>
                <a:effectLst/>
                <a:latin typeface="+mn-lt"/>
                <a:ea typeface="+mn-ea"/>
                <a:cs typeface="+mn-cs"/>
              </a:rPr>
              <a:t>, AI </a:t>
            </a:r>
            <a:r>
              <a:rPr lang="pt-PT" sz="1200" b="0" i="0" u="none" strike="noStrike" kern="1200" dirty="0" err="1">
                <a:solidFill>
                  <a:schemeClr val="tx1"/>
                </a:solidFill>
                <a:effectLst/>
                <a:latin typeface="+mn-lt"/>
                <a:ea typeface="+mn-ea"/>
                <a:cs typeface="+mn-cs"/>
              </a:rPr>
              <a:t>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phone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finds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moment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athlete's</a:t>
            </a:r>
            <a:r>
              <a:rPr lang="pt-PT" sz="1200" b="0" i="0" u="none" strike="noStrike" kern="1200" dirty="0">
                <a:solidFill>
                  <a:schemeClr val="tx1"/>
                </a:solidFill>
                <a:effectLst/>
                <a:latin typeface="+mn-lt"/>
                <a:ea typeface="+mn-ea"/>
                <a:cs typeface="+mn-cs"/>
              </a:rPr>
              <a:t> torso crosses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line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finish</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simply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finish</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moment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minus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start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moment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Here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you</a:t>
            </a:r>
            <a:r>
              <a:rPr lang="pt-PT" sz="1200" b="0" i="0" u="none" strike="noStrike" kern="1200" dirty="0">
                <a:solidFill>
                  <a:schemeClr val="tx1"/>
                </a:solidFill>
                <a:effectLst/>
                <a:latin typeface="+mn-lt"/>
                <a:ea typeface="+mn-ea"/>
                <a:cs typeface="+mn-cs"/>
              </a:rPr>
              <a:t> can </a:t>
            </a:r>
            <a:r>
              <a:rPr lang="pt-PT" sz="1200" b="0" i="0" u="none" strike="noStrike" kern="1200" dirty="0" err="1">
                <a:solidFill>
                  <a:schemeClr val="tx1"/>
                </a:solidFill>
                <a:effectLst/>
                <a:latin typeface="+mn-lt"/>
                <a:ea typeface="+mn-ea"/>
                <a:cs typeface="+mn-cs"/>
              </a:rPr>
              <a:t>see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design </a:t>
            </a:r>
            <a:r>
              <a:rPr lang="pt-PT" sz="1200" b="0" i="0" u="none" strike="noStrike" kern="1200" dirty="0" err="1">
                <a:solidFill>
                  <a:schemeClr val="tx1"/>
                </a:solidFill>
                <a:effectLst/>
                <a:latin typeface="+mn-lt"/>
                <a:ea typeface="+mn-ea"/>
                <a:cs typeface="+mn-cs"/>
              </a:rPr>
              <a:t>of</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our</a:t>
            </a:r>
            <a:r>
              <a:rPr lang="pt-PT" sz="1200" b="0" i="0" u="none" strike="noStrike" kern="1200" dirty="0">
                <a:solidFill>
                  <a:schemeClr val="tx1"/>
                </a:solidFill>
                <a:effectLst/>
                <a:latin typeface="+mn-lt"/>
                <a:ea typeface="+mn-ea"/>
                <a:cs typeface="+mn-cs"/>
              </a:rPr>
              <a:t> app.</a:t>
            </a:r>
            <a:endParaRPr lang="pt-PT" b="0" dirty="0">
              <a:effectLst/>
            </a:endParaRPr>
          </a:p>
          <a:p>
            <a:br>
              <a:rPr lang="pt-PT" dirty="0"/>
            </a:b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we started: our first prototype on a breadboard, mounted on the back of a real block. It worked, but it needed three microcontrollers: one on the block, and two more to carry the start signal to the finish.</a:t>
            </a:r>
          </a:p>
          <a:p>
            <a:r>
              <a:rPr lang="en-US" dirty="0"/>
              <a:t>Now everything runs on one ESP32-C3, on our own two-layer PCB: the accelerometer, the display, the button and the buzzer. The same chip samples the sensor, judges the start and talks to the phone over Bluetooth.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one real start. The green line is “go”. The black line is where our detector finds the push: 138 milliseconds later. A simple threshold would place it 16 milliseconds later. </a:t>
            </a:r>
            <a:r>
              <a:rPr lang="en-US" dirty="0"/>
              <a:t> </a:t>
            </a:r>
            <a:r>
              <a:rPr lang="en-US"/>
              <a:t>[Next </a:t>
            </a:r>
            <a:r>
              <a:rPr lang="en-US" dirty="0"/>
              <a:t>Slide]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PT" sz="1200" b="0" i="0" u="none" strike="noStrike" kern="1200" dirty="0" err="1">
                <a:solidFill>
                  <a:schemeClr val="tx1"/>
                </a:solidFill>
                <a:effectLst/>
                <a:latin typeface="+mn-lt"/>
                <a:ea typeface="+mn-ea"/>
                <a:cs typeface="+mn-cs"/>
              </a:rPr>
              <a:t>Our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main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result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shown</a:t>
            </a:r>
            <a:r>
              <a:rPr lang="pt-PT" sz="1200" b="0" i="0" u="none" strike="noStrike" kern="1200" dirty="0">
                <a:solidFill>
                  <a:schemeClr val="tx1"/>
                </a:solidFill>
                <a:effectLst/>
                <a:latin typeface="+mn-lt"/>
                <a:ea typeface="+mn-ea"/>
                <a:cs typeface="+mn-cs"/>
              </a:rPr>
              <a:t> in </a:t>
            </a:r>
            <a:r>
              <a:rPr lang="pt-PT" sz="1200" b="0" i="0" u="none" strike="noStrike" kern="1200" dirty="0" err="1">
                <a:solidFill>
                  <a:schemeClr val="tx1"/>
                </a:solidFill>
                <a:effectLst/>
                <a:latin typeface="+mn-lt"/>
                <a:ea typeface="+mn-ea"/>
                <a:cs typeface="+mn-cs"/>
              </a:rPr>
              <a:t>this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graph</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swept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detection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threshold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from</a:t>
            </a:r>
            <a:r>
              <a:rPr lang="pt-PT" sz="1200" b="0" i="0" u="none" strike="noStrike" kern="1200" dirty="0">
                <a:solidFill>
                  <a:schemeClr val="tx1"/>
                </a:solidFill>
                <a:effectLst/>
                <a:latin typeface="+mn-lt"/>
                <a:ea typeface="+mn-ea"/>
                <a:cs typeface="+mn-cs"/>
              </a:rPr>
              <a:t> 10 to 50 </a:t>
            </a:r>
            <a:r>
              <a:rPr lang="pt-PT" sz="1200" b="0" i="0" u="none" strike="noStrike" kern="1200" dirty="0" err="1">
                <a:solidFill>
                  <a:schemeClr val="tx1"/>
                </a:solidFill>
                <a:effectLst/>
                <a:latin typeface="+mn-lt"/>
                <a:ea typeface="+mn-ea"/>
                <a:cs typeface="+mn-cs"/>
              </a:rPr>
              <a:t>milli</a:t>
            </a:r>
            <a:r>
              <a:rPr lang="pt-PT" sz="1200" b="0" i="0" u="none" strike="noStrike" kern="1200" dirty="0">
                <a:solidFill>
                  <a:schemeClr val="tx1"/>
                </a:solidFill>
                <a:effectLst/>
                <a:latin typeface="+mn-lt"/>
                <a:ea typeface="+mn-ea"/>
                <a:cs typeface="+mn-cs"/>
              </a:rPr>
              <a:t>-g. </a:t>
            </a:r>
            <a:r>
              <a:rPr lang="pt-PT" sz="1200" b="0" i="0" u="none" strike="noStrike" kern="1200" dirty="0" err="1">
                <a:solidFill>
                  <a:schemeClr val="tx1"/>
                </a:solidFill>
                <a:effectLst/>
                <a:latin typeface="+mn-lt"/>
                <a:ea typeface="+mn-ea"/>
                <a:cs typeface="+mn-cs"/>
              </a:rPr>
              <a:t>With</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simple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threshold</a:t>
            </a:r>
            <a:r>
              <a:rPr lang="pt-PT" sz="1200" b="0" i="0" u="none" strike="noStrike" kern="1200" dirty="0">
                <a:solidFill>
                  <a:schemeClr val="tx1"/>
                </a:solidFill>
                <a:effectLst/>
                <a:latin typeface="+mn-lt"/>
                <a:ea typeface="+mn-ea"/>
                <a:cs typeface="+mn-cs"/>
              </a:rPr>
              <a:t>—</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line</a:t>
            </a:r>
            <a:r>
              <a:rPr lang="pt-PT" sz="1200" b="0" i="0" u="none" strike="noStrike" kern="1200" dirty="0">
                <a:solidFill>
                  <a:schemeClr val="tx1"/>
                </a:solidFill>
                <a:effectLst/>
                <a:latin typeface="+mn-lt"/>
                <a:ea typeface="+mn-ea"/>
                <a:cs typeface="+mn-cs"/>
              </a:rPr>
              <a:t>—</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reported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reaction</a:t>
            </a:r>
            <a:r>
              <a:rPr lang="pt-PT" sz="1200" b="0" i="0" u="none" strike="noStrike" kern="1200" dirty="0">
                <a:solidFill>
                  <a:schemeClr val="tx1"/>
                </a:solidFill>
                <a:effectLst/>
                <a:latin typeface="+mn-lt"/>
                <a:ea typeface="+mn-ea"/>
                <a:cs typeface="+mn-cs"/>
              </a:rPr>
              <a:t> time </a:t>
            </a:r>
            <a:r>
              <a:rPr lang="pt-PT" sz="1200" b="0" i="0" u="none" strike="noStrike" kern="1200" dirty="0" err="1">
                <a:solidFill>
                  <a:schemeClr val="tx1"/>
                </a:solidFill>
                <a:effectLst/>
                <a:latin typeface="+mn-lt"/>
                <a:ea typeface="+mn-ea"/>
                <a:cs typeface="+mn-cs"/>
              </a:rPr>
              <a:t>drifts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with</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median</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shift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of</a:t>
            </a:r>
            <a:r>
              <a:rPr lang="pt-PT" sz="1200" b="0" i="0" u="none" strike="noStrike" kern="1200" dirty="0">
                <a:solidFill>
                  <a:schemeClr val="tx1"/>
                </a:solidFill>
                <a:effectLst/>
                <a:latin typeface="+mn-lt"/>
                <a:ea typeface="+mn-ea"/>
                <a:cs typeface="+mn-cs"/>
              </a:rPr>
              <a:t> 9.3 </a:t>
            </a:r>
            <a:r>
              <a:rPr lang="pt-PT" sz="1200" b="0" i="0" u="none" strike="noStrike" kern="1200" dirty="0" err="1">
                <a:solidFill>
                  <a:schemeClr val="tx1"/>
                </a:solidFill>
                <a:effectLst/>
                <a:latin typeface="+mn-lt"/>
                <a:ea typeface="+mn-ea"/>
                <a:cs typeface="+mn-cs"/>
              </a:rPr>
              <a:t>milliseconds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With</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our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two</a:t>
            </a:r>
            <a:r>
              <a:rPr lang="pt-PT" sz="1200" b="0" i="0" u="none" strike="noStrike" kern="1200" dirty="0">
                <a:solidFill>
                  <a:schemeClr val="tx1"/>
                </a:solidFill>
                <a:effectLst/>
                <a:latin typeface="+mn-lt"/>
                <a:ea typeface="+mn-ea"/>
                <a:cs typeface="+mn-cs"/>
              </a:rPr>
              <a:t>-step </a:t>
            </a:r>
            <a:r>
              <a:rPr lang="pt-PT" sz="1200" b="0" i="0" u="none" strike="noStrike" kern="1200" dirty="0" err="1">
                <a:solidFill>
                  <a:schemeClr val="tx1"/>
                </a:solidFill>
                <a:effectLst/>
                <a:latin typeface="+mn-lt"/>
                <a:ea typeface="+mn-ea"/>
                <a:cs typeface="+mn-cs"/>
              </a:rPr>
              <a:t>detector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blue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line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remains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completely</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stable</a:t>
            </a:r>
            <a:r>
              <a:rPr lang="pt-PT" sz="1200" b="0" i="0" u="none" strike="noStrike" kern="1200" dirty="0">
                <a:solidFill>
                  <a:schemeClr val="tx1"/>
                </a:solidFill>
                <a:effectLst/>
                <a:latin typeface="+mn-lt"/>
                <a:ea typeface="+mn-ea"/>
                <a:cs typeface="+mn-cs"/>
              </a:rPr>
              <a:t>: in 70 </a:t>
            </a:r>
            <a:r>
              <a:rPr lang="pt-PT" sz="1200" b="0" i="0" u="none" strike="noStrike" kern="1200" dirty="0" err="1">
                <a:solidFill>
                  <a:schemeClr val="tx1"/>
                </a:solidFill>
                <a:effectLst/>
                <a:latin typeface="+mn-lt"/>
                <a:ea typeface="+mn-ea"/>
                <a:cs typeface="+mn-cs"/>
              </a:rPr>
              <a:t>of</a:t>
            </a:r>
            <a:r>
              <a:rPr lang="pt-PT" sz="1200" b="0" i="0" u="none" strike="noStrike" kern="1200" dirty="0">
                <a:solidFill>
                  <a:schemeClr val="tx1"/>
                </a:solidFill>
                <a:effectLst/>
                <a:latin typeface="+mn-lt"/>
                <a:ea typeface="+mn-ea"/>
                <a:cs typeface="+mn-cs"/>
              </a:rPr>
              <a:t> 79 </a:t>
            </a:r>
            <a:r>
              <a:rPr lang="pt-PT" sz="1200" b="0" i="0" u="none" strike="noStrike" kern="1200" dirty="0" err="1">
                <a:solidFill>
                  <a:schemeClr val="tx1"/>
                </a:solidFill>
                <a:effectLst/>
                <a:latin typeface="+mn-lt"/>
                <a:ea typeface="+mn-ea"/>
                <a:cs typeface="+mn-cs"/>
              </a:rPr>
              <a:t>starts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result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did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not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change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all</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and</a:t>
            </a:r>
            <a:r>
              <a:rPr lang="pt-PT" sz="1200" b="0" i="0" u="none" strike="noStrike" kern="1200" dirty="0">
                <a:solidFill>
                  <a:schemeClr val="tx1"/>
                </a:solidFill>
                <a:effectLst/>
                <a:latin typeface="+mn-lt"/>
                <a:ea typeface="+mn-ea"/>
                <a:cs typeface="+mn-cs"/>
              </a:rPr>
              <a:t> in 74 </a:t>
            </a:r>
            <a:r>
              <a:rPr lang="pt-PT" sz="1200" b="0" i="0" u="none" strike="noStrike" kern="1200" dirty="0" err="1">
                <a:solidFill>
                  <a:schemeClr val="tx1"/>
                </a:solidFill>
                <a:effectLst/>
                <a:latin typeface="+mn-lt"/>
                <a:ea typeface="+mn-ea"/>
                <a:cs typeface="+mn-cs"/>
              </a:rPr>
              <a:t>it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stayed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within</a:t>
            </a:r>
            <a:r>
              <a:rPr lang="pt-PT" sz="1200" b="0" i="0" u="none" strike="noStrike" kern="1200" dirty="0">
                <a:solidFill>
                  <a:schemeClr val="tx1"/>
                </a:solidFill>
                <a:effectLst/>
                <a:latin typeface="+mn-lt"/>
                <a:ea typeface="+mn-ea"/>
                <a:cs typeface="+mn-cs"/>
              </a:rPr>
              <a:t> a single sample. </a:t>
            </a:r>
            <a:r>
              <a:rPr lang="pt-PT" sz="1200" b="0" i="0" u="none" strike="noStrike" kern="1200" dirty="0" err="1">
                <a:solidFill>
                  <a:schemeClr val="tx1"/>
                </a:solidFill>
                <a:effectLst/>
                <a:latin typeface="+mn-lt"/>
                <a:ea typeface="+mn-ea"/>
                <a:cs typeface="+mn-cs"/>
              </a:rPr>
              <a:t>We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estimate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the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random</a:t>
            </a:r>
            <a:r>
              <a:rPr lang="pt-PT" sz="1200" b="0" i="0" u="none" strike="noStrike" kern="1200" dirty="0">
                <a:solidFill>
                  <a:schemeClr val="tx1"/>
                </a:solidFill>
                <a:effectLst/>
                <a:latin typeface="+mn-lt"/>
                <a:ea typeface="+mn-ea"/>
                <a:cs typeface="+mn-cs"/>
              </a:rPr>
              <a:t> error </a:t>
            </a:r>
            <a:r>
              <a:rPr lang="pt-PT" sz="1200" b="0" i="0" u="none" strike="noStrike" kern="1200" dirty="0" err="1">
                <a:solidFill>
                  <a:schemeClr val="tx1"/>
                </a:solidFill>
                <a:effectLst/>
                <a:latin typeface="+mn-lt"/>
                <a:ea typeface="+mn-ea"/>
                <a:cs typeface="+mn-cs"/>
              </a:rPr>
              <a:t>at</a:t>
            </a:r>
            <a:r>
              <a:rPr lang="pt-PT" sz="1200" b="0" i="0" u="none" strike="noStrike" kern="1200" dirty="0">
                <a:solidFill>
                  <a:schemeClr val="tx1"/>
                </a:solidFill>
                <a:effectLst/>
                <a:latin typeface="+mn-lt"/>
                <a:ea typeface="+mn-ea"/>
                <a:cs typeface="+mn-cs"/>
              </a:rPr>
              <a:t> 1 to 2 </a:t>
            </a:r>
            <a:r>
              <a:rPr lang="pt-PT" sz="1200" b="0" i="0" u="none" strike="noStrike" kern="1200" dirty="0" err="1">
                <a:solidFill>
                  <a:schemeClr val="tx1"/>
                </a:solidFill>
                <a:effectLst/>
                <a:latin typeface="+mn-lt"/>
                <a:ea typeface="+mn-ea"/>
                <a:cs typeface="+mn-cs"/>
              </a:rPr>
              <a:t>milliseconds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However</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stable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number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is</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not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yet</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guaranteed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correct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number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so</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our</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next</a:t>
            </a:r>
            <a:r>
              <a:rPr lang="pt-PT" sz="1200" b="0" i="0" u="none" strike="noStrike" kern="1200" dirty="0">
                <a:solidFill>
                  <a:schemeClr val="tx1"/>
                </a:solidFill>
                <a:effectLst/>
                <a:latin typeface="+mn-lt"/>
                <a:ea typeface="+mn-ea"/>
                <a:cs typeface="+mn-cs"/>
              </a:rPr>
              <a:t> step </a:t>
            </a:r>
            <a:r>
              <a:rPr lang="pt-PT" sz="1200" b="0" i="0" u="none" strike="noStrike" kern="1200" dirty="0" err="1">
                <a:solidFill>
                  <a:schemeClr val="tx1"/>
                </a:solidFill>
                <a:effectLst/>
                <a:latin typeface="+mn-lt"/>
                <a:ea typeface="+mn-ea"/>
                <a:cs typeface="+mn-cs"/>
              </a:rPr>
              <a:t>will</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be</a:t>
            </a:r>
            <a:r>
              <a:rPr lang="pt-PT" sz="1200" b="0" i="0" u="none" strike="noStrike" kern="1200" dirty="0">
                <a:solidFill>
                  <a:schemeClr val="tx1"/>
                </a:solidFill>
                <a:effectLst/>
                <a:latin typeface="+mn-lt"/>
                <a:ea typeface="+mn-ea"/>
                <a:cs typeface="+mn-cs"/>
              </a:rPr>
              <a:t> to </a:t>
            </a:r>
            <a:r>
              <a:rPr lang="pt-PT" sz="1200" b="0" i="0" u="none" strike="noStrike" kern="1200" dirty="0" err="1">
                <a:solidFill>
                  <a:schemeClr val="tx1"/>
                </a:solidFill>
                <a:effectLst/>
                <a:latin typeface="+mn-lt"/>
                <a:ea typeface="+mn-ea"/>
                <a:cs typeface="+mn-cs"/>
              </a:rPr>
              <a:t>validate</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it</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against</a:t>
            </a:r>
            <a:r>
              <a:rPr lang="pt-PT" sz="1200" b="0" i="0" u="none" strike="noStrike" kern="1200" dirty="0">
                <a:solidFill>
                  <a:schemeClr val="tx1"/>
                </a:solidFill>
                <a:effectLst/>
                <a:latin typeface="+mn-lt"/>
                <a:ea typeface="+mn-ea"/>
                <a:cs typeface="+mn-cs"/>
              </a:rPr>
              <a:t> a </a:t>
            </a:r>
            <a:r>
              <a:rPr lang="pt-PT" sz="1200" b="0" i="0" u="none" strike="noStrike" kern="1200" dirty="0" err="1">
                <a:solidFill>
                  <a:schemeClr val="tx1"/>
                </a:solidFill>
                <a:effectLst/>
                <a:latin typeface="+mn-lt"/>
                <a:ea typeface="+mn-ea"/>
                <a:cs typeface="+mn-cs"/>
              </a:rPr>
              <a:t>mechanical</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ground</a:t>
            </a:r>
            <a:r>
              <a:rPr lang="pt-PT" sz="1200" b="0" i="0" u="none" strike="noStrike" kern="1200" dirty="0">
                <a:solidFill>
                  <a:schemeClr val="tx1"/>
                </a:solidFill>
                <a:effectLst/>
                <a:latin typeface="+mn-lt"/>
                <a:ea typeface="+mn-ea"/>
                <a:cs typeface="+mn-cs"/>
              </a:rPr>
              <a:t> </a:t>
            </a:r>
            <a:r>
              <a:rPr lang="pt-PT" sz="1200" b="0" i="0" u="none" strike="noStrike" kern="1200" dirty="0" err="1">
                <a:solidFill>
                  <a:schemeClr val="tx1"/>
                </a:solidFill>
                <a:effectLst/>
                <a:latin typeface="+mn-lt"/>
                <a:ea typeface="+mn-ea"/>
                <a:cs typeface="+mn-cs"/>
              </a:rPr>
              <a:t>truth</a:t>
            </a:r>
            <a:r>
              <a:rPr lang="pt-PT" sz="1200" b="0" i="0" u="none" strike="noStrike" kern="1200" dirty="0">
                <a:solidFill>
                  <a:schemeClr val="tx1"/>
                </a:solidFill>
                <a:effectLst/>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Both measurements are validated, so the next steps make them sharper and longer. First, a 1000 frames-per-second camera, to check the unit's one-sample accuracy, 1.2 milliseconds, directly. Second, measure the two fixed delays we have not measured yet: the accelerometer's internal filter, and the time the sound takes to reach the athlete, about 3 milliseconds per metre.</a:t>
            </a:r>
          </a:p>
          <a:p>
            <a:r>
              <a:rPr lang="en-US" dirty="0"/>
              <a:t>Third, reach 100 metres: a second ESP32-C3 at the finish, linked to the start unit by long-range radio, which we already tested beyond 100 metres, and to the phone by Bluetooth. Fourth, bring the photo finish to Android; today it runs on the iPhone.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a few words on how we worked. We built the system step by step, and we always tested with real sprinters on real blocks, and in the end against 240 frames-per-second video. What went well? First, we measured before trusting: for example, sending data over the serial cable limited us to about 232 samples per second, so we buffered the data on the board and sampled without gaps. Second, we let the data guide the design: the threshold sweep showed that a simple threshold was not stable, so we added the AIC step.</a:t>
            </a:r>
          </a:p>
          <a:p>
            <a:r>
              <a:rPr lang="en-US" dirty="0"/>
              <a:t>What would we do differently? We would test the radio range earlier: a Wi-Fi test reached only 60 to 70 metres, and a track needs more. We would plan the ground truth from day one: the LED and high-speed video check came at the end. And we would choose the final microcontroller early: adding Bluetooth to our first board cost timing, so we moved everything to one ESP32-C3.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PROSTART measures reaction time and finish time within the limits of high-speed video, with a box that fits on any block and a phone. Olympic-style timing, accessible to every club.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the box around the board and printed it in three parts: the box, the lid and the button cap. The lid has a window for the display and openings for the buzzer and the button. This is the finished unit, mounted on the block.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the photo finish work? The board knows when "go" was, and the phone knows when the chest crossed the line, but on two different clocks. So, first, before "set", the phone pings the board many times and keeps the fastest message in each direction: that tells us the offset between the two clocks within a few milliseconds.</a:t>
            </a:r>
          </a:p>
          <a:p>
            <a:r>
              <a:rPr lang="en-US" dirty="0"/>
              <a:t>Second, the phone films the line at 240 frames per second, with a very short exposure, and every frame keeps the time it was taken. Third, on-device AI finds the body; the rules time the chest, so we take the front of the chest from the body's silhouette, with the arms removed. Fourth, the chest is before the line in one frame and past it in the next: interpolating between the two gives the crossing time, finer than one frame.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validated both measurements against high-speed video. For the reaction time, we added an LED that the board lights exactly at "go", and filmed the block at 240 frames per second. The LED gives us the "go" frame exactly; the push is the first frame where the athlete moves, picked by eye. Board and video agree within about 8 milliseconds. One frame alone is 4.2 milliseconds, and the eye sees the body move after the first force on the block, so this is the limit of the video, not of our unit: the unit's own resolution is one sample, 1.2 milliseconds.</a:t>
            </a:r>
          </a:p>
          <a:p>
            <a:r>
              <a:rPr lang="en-US" dirty="0"/>
              <a:t>For the photo finish, against a 60 frames-per-second reference video, our time differs by 10 milliseconds: less than one frame, and a third of the 33 milliseconds we set as our target at half-time, thanks to the interpolation between frames. Hand timing on the same runs read about a quarter of a second fast, as the literature says.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show you how it works on the track. [Play the video.]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1.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pcb_3d.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0.sv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6.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ph_finished_unit.png"/><Relationship Id="rId1" Type="http://schemas.openxmlformats.org/officeDocument/2006/relationships/slideLayout" Target="../slideLayouts/slideLayout1.xml"/><Relationship Id="rId4" Type="http://schemas.openxmlformats.org/officeDocument/2006/relationships/image" Target="../media/fig_box.png"/><Relationship Id="rIdN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 Id="rIdN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error_scale_slide.png"/><Relationship Id="rId1" Type="http://schemas.openxmlformats.org/officeDocument/2006/relationships/slideLayout" Target="../slideLayouts/slideLayout1.xml"/><Relationship Id="rIdN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6.png"/><Relationship Id="rId4" Type="http://schemas.openxmlformats.org/officeDocument/2006/relationships/image" Target="../media/image32.png"/><Relationship Id="rIdN1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48640" y="690215"/>
            <a:ext cx="4206240" cy="411480"/>
          </a:xfrm>
          <a:prstGeom prst="roundRect">
            <a:avLst>
              <a:gd name="adj" fmla="val 22222"/>
            </a:avLst>
          </a:prstGeom>
          <a:solidFill>
            <a:srgbClr val="B7FF00"/>
          </a:solidFill>
          <a:ln w="12700">
            <a:noFill/>
            <a:prstDash val="solid"/>
          </a:ln>
        </p:spPr>
        <p:txBody>
          <a:bodyPr/>
          <a:lstStyle/>
          <a:p>
            <a:endParaRPr lang="en-IT"/>
          </a:p>
        </p:txBody>
      </p:sp>
      <p:sp>
        <p:nvSpPr>
          <p:cNvPr id="3" name="Text 1"/>
          <p:cNvSpPr txBox="1"/>
          <p:nvPr/>
        </p:nvSpPr>
        <p:spPr>
          <a:xfrm>
            <a:off x="548640" y="690215"/>
            <a:ext cx="4206240" cy="411480"/>
          </a:xfrm>
          <a:prstGeom prst="rect">
            <a:avLst/>
          </a:prstGeom>
          <a:noFill/>
          <a:ln/>
        </p:spPr>
        <p:txBody>
          <a:bodyPr wrap="square" lIns="0" tIns="0" rIns="0" bIns="0" rtlCol="0" anchor="ctr"/>
          <a:lstStyle/>
          <a:p>
            <a:pPr marL="0" indent="0" algn="ctr">
              <a:buNone/>
            </a:pPr>
            <a:r>
              <a:rPr lang="en-US" sz="1300" b="1" kern="0" spc="200" dirty="0">
                <a:solidFill>
                  <a:srgbClr val="111111"/>
                </a:solidFill>
                <a:latin typeface="Arial" pitchFamily="34" charset="0"/>
                <a:ea typeface="Arial" pitchFamily="34" charset="-122"/>
                <a:cs typeface="Arial" pitchFamily="34" charset="-120"/>
              </a:rPr>
              <a:t>TECHNOLOGY &amp; HEALTH · KTH · HT26</a:t>
            </a:r>
            <a:endParaRPr lang="en-US" sz="1300" dirty="0"/>
          </a:p>
        </p:txBody>
      </p:sp>
      <p:sp>
        <p:nvSpPr>
          <p:cNvPr id="4" name="Text 2"/>
          <p:cNvSpPr txBox="1"/>
          <p:nvPr/>
        </p:nvSpPr>
        <p:spPr>
          <a:xfrm>
            <a:off x="548640" y="1511703"/>
            <a:ext cx="6217920" cy="1188720"/>
          </a:xfrm>
          <a:prstGeom prst="rect">
            <a:avLst/>
          </a:prstGeom>
          <a:noFill/>
          <a:ln/>
        </p:spPr>
        <p:txBody>
          <a:bodyPr wrap="square" lIns="0" tIns="0" rIns="0" bIns="0" rtlCol="0" anchor="t"/>
          <a:lstStyle/>
          <a:p>
            <a:pPr marL="0" indent="0">
              <a:buNone/>
            </a:pPr>
            <a:r>
              <a:rPr lang="en-US" sz="8000" b="1" i="1" dirty="0">
                <a:solidFill>
                  <a:schemeClr val="bg1"/>
                </a:solidFill>
                <a:latin typeface="Arial"/>
                <a:ea typeface="Arial" pitchFamily="34" charset="-122"/>
                <a:cs typeface="Arial"/>
              </a:rPr>
              <a:t>PRO</a:t>
            </a:r>
            <a:r>
              <a:rPr lang="en-US" sz="8000" b="1" i="1" dirty="0">
                <a:solidFill>
                  <a:srgbClr val="B7FF00"/>
                </a:solidFill>
                <a:latin typeface="Arial"/>
                <a:ea typeface="Arial" pitchFamily="34" charset="-122"/>
                <a:cs typeface="Arial"/>
              </a:rPr>
              <a:t>START</a:t>
            </a:r>
            <a:endParaRPr lang="en-US" sz="8000" dirty="0">
              <a:solidFill>
                <a:srgbClr val="B7FF00"/>
              </a:solidFill>
              <a:latin typeface="Arial"/>
              <a:ea typeface="Calibri"/>
              <a:cs typeface="Calibri"/>
            </a:endParaRPr>
          </a:p>
        </p:txBody>
      </p:sp>
      <p:sp>
        <p:nvSpPr>
          <p:cNvPr id="5" name="Text 3"/>
          <p:cNvSpPr txBox="1"/>
          <p:nvPr/>
        </p:nvSpPr>
        <p:spPr>
          <a:xfrm>
            <a:off x="548640" y="3064711"/>
            <a:ext cx="5852160" cy="914400"/>
          </a:xfrm>
          <a:prstGeom prst="rect">
            <a:avLst/>
          </a:prstGeom>
          <a:noFill/>
          <a:ln/>
        </p:spPr>
        <p:txBody>
          <a:bodyPr wrap="square" lIns="0" tIns="0" rIns="0" bIns="0" rtlCol="0" anchor="t"/>
          <a:lstStyle/>
          <a:p>
            <a:pPr marL="0" indent="0">
              <a:buNone/>
            </a:pPr>
            <a:r>
              <a:rPr lang="en-US" sz="2200" dirty="0">
                <a:solidFill>
                  <a:srgbClr val="FFFFFF"/>
                </a:solidFill>
                <a:latin typeface="Arial" pitchFamily="34" charset="0"/>
                <a:ea typeface="Arial" pitchFamily="34" charset="-122"/>
                <a:cs typeface="Arial" pitchFamily="34" charset="-120"/>
              </a:rPr>
              <a:t>A portable reaction-time and photo-finish system for track &amp; field</a:t>
            </a:r>
            <a:endParaRPr lang="en-US" sz="2200" dirty="0"/>
          </a:p>
        </p:txBody>
      </p:sp>
      <p:sp>
        <p:nvSpPr>
          <p:cNvPr id="6" name="Text 4"/>
          <p:cNvSpPr txBox="1"/>
          <p:nvPr/>
        </p:nvSpPr>
        <p:spPr>
          <a:xfrm>
            <a:off x="548640" y="4343400"/>
            <a:ext cx="1920240" cy="548640"/>
          </a:xfrm>
          <a:prstGeom prst="rect">
            <a:avLst/>
          </a:prstGeom>
          <a:noFill/>
          <a:ln/>
        </p:spPr>
        <p:txBody>
          <a:bodyPr wrap="square" lIns="0" tIns="0" rIns="0" bIns="0" rtlCol="0" anchor="t"/>
          <a:lstStyle/>
          <a:p>
            <a:pPr marL="0" indent="0">
              <a:buNone/>
            </a:pPr>
            <a:r>
              <a:rPr lang="en-US" sz="3000" b="1" i="1" dirty="0">
                <a:solidFill>
                  <a:srgbClr val="B7FF00"/>
                </a:solidFill>
                <a:latin typeface="Arial"/>
                <a:ea typeface="Arial" pitchFamily="34" charset="-122"/>
                <a:cs typeface="Arial"/>
              </a:rPr>
              <a:t xml:space="preserve">1.2 </a:t>
            </a:r>
            <a:r>
              <a:rPr lang="en-US" sz="3000" b="1" i="1" dirty="0" err="1">
                <a:solidFill>
                  <a:srgbClr val="B7FF00"/>
                </a:solidFill>
                <a:latin typeface="Arial"/>
                <a:ea typeface="Arial" pitchFamily="34" charset="-122"/>
                <a:cs typeface="Arial"/>
              </a:rPr>
              <a:t>ms</a:t>
            </a:r>
            <a:endParaRPr lang="en-US" sz="3000" dirty="0">
              <a:solidFill>
                <a:srgbClr val="B7FF00"/>
              </a:solidFill>
              <a:latin typeface="Arial"/>
              <a:ea typeface="Calibri"/>
              <a:cs typeface="Arial"/>
            </a:endParaRPr>
          </a:p>
        </p:txBody>
      </p:sp>
      <p:sp>
        <p:nvSpPr>
          <p:cNvPr id="7" name="Text 5"/>
          <p:cNvSpPr txBox="1"/>
          <p:nvPr/>
        </p:nvSpPr>
        <p:spPr>
          <a:xfrm>
            <a:off x="548640" y="4892040"/>
            <a:ext cx="1920240" cy="320040"/>
          </a:xfrm>
          <a:prstGeom prst="rect">
            <a:avLst/>
          </a:prstGeom>
          <a:noFill/>
          <a:ln/>
        </p:spPr>
        <p:txBody>
          <a:bodyPr wrap="square" lIns="0" tIns="0" rIns="0" bIns="0" rtlCol="0" anchor="t"/>
          <a:lstStyle/>
          <a:p>
            <a:pPr marL="0" indent="0">
              <a:buNone/>
            </a:pPr>
            <a:r>
              <a:rPr lang="en-US" sz="1200" dirty="0">
                <a:solidFill>
                  <a:srgbClr val="BDBDBD"/>
                </a:solidFill>
                <a:latin typeface="Arial" pitchFamily="34" charset="0"/>
                <a:cs typeface="Arial" pitchFamily="34" charset="-120"/>
              </a:rPr>
              <a:t>One sample: our resolution</a:t>
            </a:r>
            <a:endParaRPr lang="en-US" sz="1200" dirty="0"/>
          </a:p>
        </p:txBody>
      </p:sp>
      <p:sp>
        <p:nvSpPr>
          <p:cNvPr id="8" name="Text 6"/>
          <p:cNvSpPr txBox="1"/>
          <p:nvPr/>
        </p:nvSpPr>
        <p:spPr>
          <a:xfrm>
            <a:off x="2560320" y="4343400"/>
            <a:ext cx="1920240" cy="548640"/>
          </a:xfrm>
          <a:prstGeom prst="rect">
            <a:avLst/>
          </a:prstGeom>
          <a:noFill/>
          <a:ln/>
        </p:spPr>
        <p:txBody>
          <a:bodyPr wrap="square" lIns="0" tIns="0" rIns="0" bIns="0" rtlCol="0" anchor="t"/>
          <a:lstStyle/>
          <a:p>
            <a:pPr marL="0" indent="0">
              <a:buNone/>
            </a:pPr>
            <a:r>
              <a:rPr lang="en-US" sz="3000" b="1" i="1" dirty="0">
                <a:solidFill>
                  <a:srgbClr val="B7FF00"/>
                </a:solidFill>
                <a:latin typeface="Arial"/>
                <a:ea typeface="Calibri"/>
                <a:cs typeface="Arial"/>
              </a:rPr>
              <a:t xml:space="preserve">≈ 8 </a:t>
            </a:r>
            <a:r>
              <a:rPr lang="en-US" sz="3000" b="1" i="1" dirty="0" err="1">
                <a:solidFill>
                  <a:srgbClr val="B7FF00"/>
                </a:solidFill>
                <a:latin typeface="Arial"/>
                <a:ea typeface="Calibri"/>
                <a:cs typeface="Arial"/>
              </a:rPr>
              <a:t>ms</a:t>
            </a:r>
            <a:endParaRPr lang="en-US" sz="3000" dirty="0">
              <a:solidFill>
                <a:srgbClr val="B7FF00"/>
              </a:solidFill>
              <a:latin typeface="Arial"/>
              <a:ea typeface="Calibri"/>
              <a:cs typeface="Arial"/>
            </a:endParaRPr>
          </a:p>
        </p:txBody>
      </p:sp>
      <p:sp>
        <p:nvSpPr>
          <p:cNvPr id="9" name="Text 7"/>
          <p:cNvSpPr txBox="1"/>
          <p:nvPr/>
        </p:nvSpPr>
        <p:spPr>
          <a:xfrm>
            <a:off x="2560320" y="4892040"/>
            <a:ext cx="1920240" cy="320040"/>
          </a:xfrm>
          <a:prstGeom prst="rect">
            <a:avLst/>
          </a:prstGeom>
          <a:noFill/>
          <a:ln/>
        </p:spPr>
        <p:txBody>
          <a:bodyPr wrap="square" lIns="0" tIns="0" rIns="0" bIns="0" rtlCol="0" anchor="t"/>
          <a:lstStyle/>
          <a:p>
            <a:pPr marL="0" indent="0">
              <a:buNone/>
            </a:pPr>
            <a:r>
              <a:rPr lang="en-US" sz="1200" dirty="0">
                <a:solidFill>
                  <a:srgbClr val="BDBDBD"/>
                </a:solidFill>
                <a:latin typeface="Arial" pitchFamily="34" charset="0"/>
                <a:ea typeface="Arial" pitchFamily="34" charset="-122"/>
                <a:cs typeface="Arial" pitchFamily="34" charset="-120"/>
              </a:rPr>
              <a:t>Reaction vs 240 fps video</a:t>
            </a:r>
            <a:endParaRPr lang="en-US" sz="1200" dirty="0"/>
          </a:p>
        </p:txBody>
      </p:sp>
      <p:sp>
        <p:nvSpPr>
          <p:cNvPr id="10" name="Text 8"/>
          <p:cNvSpPr txBox="1"/>
          <p:nvPr/>
        </p:nvSpPr>
        <p:spPr>
          <a:xfrm>
            <a:off x="4572000" y="4343400"/>
            <a:ext cx="1920240" cy="548640"/>
          </a:xfrm>
          <a:prstGeom prst="rect">
            <a:avLst/>
          </a:prstGeom>
          <a:noFill/>
          <a:ln/>
        </p:spPr>
        <p:txBody>
          <a:bodyPr wrap="square" lIns="0" tIns="0" rIns="0" bIns="0" rtlCol="0" anchor="t"/>
          <a:lstStyle/>
          <a:p>
            <a:pPr marL="0" indent="0">
              <a:buNone/>
            </a:pPr>
            <a:r>
              <a:rPr lang="en-US" sz="3000" b="1" i="1" dirty="0">
                <a:solidFill>
                  <a:srgbClr val="B7FF00"/>
                </a:solidFill>
                <a:latin typeface="Arial"/>
                <a:ea typeface="Arial" pitchFamily="34" charset="-122"/>
                <a:cs typeface="Arial"/>
              </a:rPr>
              <a:t xml:space="preserve">10 </a:t>
            </a:r>
            <a:r>
              <a:rPr lang="en-US" sz="3000" b="1" i="1" dirty="0" err="1">
                <a:solidFill>
                  <a:srgbClr val="B7FF00"/>
                </a:solidFill>
                <a:latin typeface="Arial"/>
                <a:ea typeface="Arial" pitchFamily="34" charset="-122"/>
                <a:cs typeface="Arial"/>
              </a:rPr>
              <a:t>ms</a:t>
            </a:r>
            <a:endParaRPr lang="en-US" sz="3000" dirty="0">
              <a:solidFill>
                <a:srgbClr val="B7FF00"/>
              </a:solidFill>
              <a:latin typeface="Arial"/>
              <a:ea typeface="Calibri"/>
              <a:cs typeface="Arial"/>
            </a:endParaRPr>
          </a:p>
        </p:txBody>
      </p:sp>
      <p:sp>
        <p:nvSpPr>
          <p:cNvPr id="11" name="Text 9"/>
          <p:cNvSpPr txBox="1"/>
          <p:nvPr/>
        </p:nvSpPr>
        <p:spPr>
          <a:xfrm>
            <a:off x="4572000" y="4892040"/>
            <a:ext cx="1920240" cy="320040"/>
          </a:xfrm>
          <a:prstGeom prst="rect">
            <a:avLst/>
          </a:prstGeom>
          <a:noFill/>
          <a:ln/>
        </p:spPr>
        <p:txBody>
          <a:bodyPr wrap="square" lIns="0" tIns="0" rIns="0" bIns="0" rtlCol="0" anchor="t"/>
          <a:lstStyle/>
          <a:p>
            <a:pPr marL="0" indent="0">
              <a:buNone/>
            </a:pPr>
            <a:r>
              <a:rPr lang="en-US" sz="1200" dirty="0">
                <a:solidFill>
                  <a:srgbClr val="BDBDBD"/>
                </a:solidFill>
                <a:latin typeface="Arial" pitchFamily="34" charset="0"/>
                <a:cs typeface="Arial" pitchFamily="34" charset="-120"/>
              </a:rPr>
              <a:t>Photo finish vs 60 fps video</a:t>
            </a:r>
            <a:endParaRPr lang="en-US" sz="1200" dirty="0"/>
          </a:p>
        </p:txBody>
      </p:sp>
      <p:sp>
        <p:nvSpPr>
          <p:cNvPr id="12" name="Text 10"/>
          <p:cNvSpPr txBox="1"/>
          <p:nvPr/>
        </p:nvSpPr>
        <p:spPr>
          <a:xfrm>
            <a:off x="548640" y="5897880"/>
            <a:ext cx="6400800" cy="457200"/>
          </a:xfrm>
          <a:prstGeom prst="rect">
            <a:avLst/>
          </a:prstGeom>
          <a:noFill/>
          <a:ln/>
        </p:spPr>
        <p:txBody>
          <a:bodyPr wrap="square" lIns="0" tIns="0" rIns="0" bIns="0" rtlCol="0" anchor="t"/>
          <a:lstStyle/>
          <a:p>
            <a:pPr marL="0" indent="0">
              <a:buNone/>
            </a:pPr>
            <a:r>
              <a:rPr lang="en-US" sz="1200" dirty="0">
                <a:solidFill>
                  <a:srgbClr val="BDBDBD"/>
                </a:solidFill>
                <a:latin typeface="Arial" pitchFamily="34" charset="0"/>
                <a:ea typeface="Arial" pitchFamily="34" charset="-122"/>
                <a:cs typeface="Arial" pitchFamily="34" charset="-120"/>
              </a:rPr>
              <a:t>Arianna Bartocci · Duarte </a:t>
            </a:r>
            <a:r>
              <a:rPr lang="en-US" sz="1200" dirty="0" err="1">
                <a:solidFill>
                  <a:srgbClr val="BDBDBD"/>
                </a:solidFill>
                <a:latin typeface="Arial" pitchFamily="34" charset="0"/>
                <a:ea typeface="Arial" pitchFamily="34" charset="-122"/>
                <a:cs typeface="Arial" pitchFamily="34" charset="-120"/>
              </a:rPr>
              <a:t>Chambel</a:t>
            </a:r>
            <a:r>
              <a:rPr lang="en-US" sz="1200" dirty="0">
                <a:solidFill>
                  <a:srgbClr val="BDBDBD"/>
                </a:solidFill>
                <a:latin typeface="Arial" pitchFamily="34" charset="0"/>
                <a:ea typeface="Arial" pitchFamily="34" charset="-122"/>
                <a:cs typeface="Arial" pitchFamily="34" charset="-120"/>
              </a:rPr>
              <a:t> · Lorenzo Galli · Loke Enlund </a:t>
            </a:r>
            <a:r>
              <a:rPr lang="en-US" sz="1200" dirty="0" err="1">
                <a:solidFill>
                  <a:srgbClr val="BDBDBD"/>
                </a:solidFill>
                <a:latin typeface="Arial" pitchFamily="34" charset="0"/>
                <a:ea typeface="Arial" pitchFamily="34" charset="-122"/>
                <a:cs typeface="Arial" pitchFamily="34" charset="-120"/>
              </a:rPr>
              <a:t>Östangård</a:t>
            </a:r>
            <a:r>
              <a:rPr lang="en-US" sz="1200" dirty="0">
                <a:solidFill>
                  <a:srgbClr val="BDBDBD"/>
                </a:solidFill>
                <a:latin typeface="Arial" pitchFamily="34" charset="0"/>
                <a:ea typeface="Arial" pitchFamily="34" charset="-122"/>
                <a:cs typeface="Arial" pitchFamily="34" charset="-120"/>
              </a:rPr>
              <a:t> · Ninad </a:t>
            </a:r>
            <a:r>
              <a:rPr lang="en-US" sz="1200" dirty="0" err="1">
                <a:solidFill>
                  <a:srgbClr val="BDBDBD"/>
                </a:solidFill>
                <a:latin typeface="Arial" pitchFamily="34" charset="0"/>
                <a:ea typeface="Arial" pitchFamily="34" charset="-122"/>
                <a:cs typeface="Arial" pitchFamily="34" charset="-120"/>
              </a:rPr>
              <a:t>Purekar</a:t>
            </a:r>
            <a:endParaRPr lang="en-US" sz="1200" dirty="0"/>
          </a:p>
        </p:txBody>
      </p:sp>
      <p:pic>
        <p:nvPicPr>
          <p:cNvPr id="16" name="Picture 15">
            <a:extLst>
              <a:ext uri="{FF2B5EF4-FFF2-40B4-BE49-F238E27FC236}">
                <a16:creationId xmlns:a16="http://schemas.microsoft.com/office/drawing/2014/main" id="{4D54BB15-F363-98B5-F4D0-C3723CCAE354}"/>
              </a:ext>
            </a:extLst>
          </p:cNvPr>
          <p:cNvPicPr>
            <a:picLocks noChangeAspect="1"/>
          </p:cNvPicPr>
          <p:nvPr/>
        </p:nvPicPr>
        <p:blipFill>
          <a:blip r:embed="rId4"/>
          <a:srcRect l="7064" t="7334" r="38065" b="7334"/>
          <a:stretch>
            <a:fillRect/>
          </a:stretch>
        </p:blipFill>
        <p:spPr>
          <a:xfrm>
            <a:off x="7711442" y="573259"/>
            <a:ext cx="3787464" cy="7190349"/>
          </a:xfrm>
          <a:prstGeom prst="rect">
            <a:avLst/>
          </a:prstGeom>
        </p:spPr>
      </p:pic>
      <p:pic>
        <p:nvPicPr>
          <p:cNvPr id="17" name="Picture 16" descr="KTH Royal Institute of Technology - Wikipedia">
            <a:extLst>
              <a:ext uri="{FF2B5EF4-FFF2-40B4-BE49-F238E27FC236}">
                <a16:creationId xmlns:a16="http://schemas.microsoft.com/office/drawing/2014/main" id="{1F843481-2F4F-AD98-234A-568C51F1386F}"/>
              </a:ext>
            </a:extLst>
          </p:cNvPr>
          <p:cNvPicPr>
            <a:picLocks noChangeAspect="1"/>
          </p:cNvPicPr>
          <p:nvPr/>
        </p:nvPicPr>
        <p:blipFill>
          <a:blip r:embed="rId5">
            <a:lum bright="70000" contrast="-70000"/>
            <a:alphaModFix amt="20000"/>
          </a:blip>
          <a:srcRect/>
          <a:stretch>
            <a:fillRect/>
          </a:stretch>
        </p:blipFill>
        <p:spPr>
          <a:xfrm>
            <a:off x="11498906" y="126528"/>
            <a:ext cx="566484" cy="6346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4" name="Timeline 1">
            <a:extLst>
              <a:ext uri="{FF2B5EF4-FFF2-40B4-BE49-F238E27FC236}">
                <a16:creationId xmlns:a16="http://schemas.microsoft.com/office/drawing/2014/main" id="{D21FC4CB-204B-8744-41F4-532DB0433DA3}"/>
              </a:ext>
            </a:extLst>
          </p:cNvPr>
          <p:cNvPicPr>
            <a:picLocks noChangeAspect="1"/>
          </p:cNvPicPr>
          <p:nvPr/>
        </p:nvPicPr>
        <p:blipFill>
          <a:blip r:embed="rId5"/>
          <a:srcRect l="32193" r="26932"/>
          <a:stretch>
            <a:fillRect/>
          </a:stretch>
        </p:blipFill>
        <p:spPr>
          <a:xfrm>
            <a:off x="7926977" y="4220"/>
            <a:ext cx="4984131" cy="6858895"/>
          </a:xfrm>
          <a:prstGeom prst="rect">
            <a:avLst/>
          </a:prstGeom>
        </p:spPr>
      </p:pic>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a:solidFill>
                  <a:srgbClr val="111111"/>
                </a:solidFill>
                <a:latin typeface="Arial" pitchFamily="34" charset="0"/>
                <a:ea typeface="Arial" pitchFamily="34" charset="-122"/>
                <a:cs typeface="Arial" pitchFamily="34" charset="-120"/>
              </a:rPr>
              <a:t>01</a:t>
            </a:r>
            <a:endParaRPr lang="en-US" sz="2200"/>
          </a:p>
        </p:txBody>
      </p:sp>
      <p:sp>
        <p:nvSpPr>
          <p:cNvPr id="4" name="Text 2"/>
          <p:cNvSpPr txBox="1"/>
          <p:nvPr/>
        </p:nvSpPr>
        <p:spPr>
          <a:xfrm>
            <a:off x="1563106" y="411480"/>
            <a:ext cx="9966960" cy="640080"/>
          </a:xfrm>
          <a:prstGeom prst="rect">
            <a:avLst/>
          </a:prstGeom>
          <a:noFill/>
          <a:ln/>
        </p:spPr>
        <p:txBody>
          <a:bodyPr wrap="square" lIns="0" tIns="0" rIns="0" bIns="0" rtlCol="0" anchor="ctr"/>
          <a:lstStyle/>
          <a:p>
            <a:pPr marL="0" indent="0">
              <a:buNone/>
            </a:pPr>
            <a:r>
              <a:rPr lang="en-US" sz="3600" b="1" i="1">
                <a:solidFill>
                  <a:srgbClr val="111111"/>
                </a:solidFill>
                <a:latin typeface="Arial" pitchFamily="34" charset="0"/>
                <a:ea typeface="Arial" pitchFamily="34" charset="-122"/>
                <a:cs typeface="Arial" pitchFamily="34" charset="-120"/>
              </a:rPr>
              <a:t>PROJECT INTRODUCTION</a:t>
            </a:r>
            <a:endParaRPr lang="en-US" sz="3600"/>
          </a:p>
        </p:txBody>
      </p:sp>
      <p:sp>
        <p:nvSpPr>
          <p:cNvPr id="5" name="Text 3"/>
          <p:cNvSpPr txBox="1"/>
          <p:nvPr/>
        </p:nvSpPr>
        <p:spPr>
          <a:xfrm>
            <a:off x="548640" y="1371600"/>
            <a:ext cx="5120640" cy="1188720"/>
          </a:xfrm>
          <a:prstGeom prst="rect">
            <a:avLst/>
          </a:prstGeom>
          <a:noFill/>
          <a:ln/>
        </p:spPr>
        <p:txBody>
          <a:bodyPr wrap="square" lIns="0" tIns="0" rIns="0" bIns="0" rtlCol="0" anchor="t"/>
          <a:lstStyle/>
          <a:p>
            <a:pPr marL="0" indent="0">
              <a:buNone/>
            </a:pPr>
            <a:r>
              <a:rPr lang="en-US" sz="1800" dirty="0">
                <a:solidFill>
                  <a:srgbClr val="111111"/>
                </a:solidFill>
                <a:latin typeface="Arial"/>
                <a:ea typeface="Arial" pitchFamily="34" charset="-122"/>
                <a:cs typeface="Arial"/>
              </a:rPr>
              <a:t>A small, affordable box that mounts on any existing starting block, gives the start signal and times the reaction, linked to a phone </a:t>
            </a:r>
            <a:r>
              <a:rPr lang="en-US" sz="1800" dirty="0" err="1">
                <a:solidFill>
                  <a:srgbClr val="111111"/>
                </a:solidFill>
                <a:latin typeface="Arial"/>
                <a:ea typeface="Arial" pitchFamily="34" charset="-122"/>
                <a:cs typeface="Arial"/>
              </a:rPr>
              <a:t>photofinish</a:t>
            </a:r>
            <a:r>
              <a:rPr lang="en-US" sz="1800" dirty="0">
                <a:solidFill>
                  <a:srgbClr val="111111"/>
                </a:solidFill>
                <a:latin typeface="Arial"/>
                <a:ea typeface="Arial" pitchFamily="34" charset="-122"/>
                <a:cs typeface="Arial"/>
              </a:rPr>
              <a:t>.</a:t>
            </a:r>
            <a:endParaRPr lang="en-US" sz="1800" dirty="0">
              <a:latin typeface="Arial"/>
              <a:ea typeface="Calibri" panose="020F0502020204030204"/>
              <a:cs typeface="Arial"/>
            </a:endParaRPr>
          </a:p>
        </p:txBody>
      </p:sp>
      <p:sp>
        <p:nvSpPr>
          <p:cNvPr id="6" name="Text 4"/>
          <p:cNvSpPr txBox="1"/>
          <p:nvPr/>
        </p:nvSpPr>
        <p:spPr>
          <a:xfrm>
            <a:off x="548640" y="2788920"/>
            <a:ext cx="5120640" cy="365760"/>
          </a:xfrm>
          <a:prstGeom prst="rect">
            <a:avLst/>
          </a:prstGeom>
          <a:noFill/>
          <a:ln/>
        </p:spPr>
        <p:txBody>
          <a:bodyPr wrap="square" lIns="0" tIns="0" rIns="0" bIns="0" rtlCol="0" anchor="t"/>
          <a:lstStyle/>
          <a:p>
            <a:pPr marL="0" indent="0">
              <a:buNone/>
            </a:pPr>
            <a:r>
              <a:rPr lang="en-US" sz="1400" b="1" kern="0" spc="200">
                <a:solidFill>
                  <a:srgbClr val="6B6B6B"/>
                </a:solidFill>
                <a:latin typeface="Arial" pitchFamily="34" charset="0"/>
                <a:ea typeface="Arial" pitchFamily="34" charset="-122"/>
                <a:cs typeface="Arial" pitchFamily="34" charset="-120"/>
              </a:rPr>
              <a:t>INTENDED USERS</a:t>
            </a:r>
            <a:endParaRPr lang="en-US" sz="1400"/>
          </a:p>
        </p:txBody>
      </p:sp>
      <p:sp>
        <p:nvSpPr>
          <p:cNvPr id="7" name="Shape 5"/>
          <p:cNvSpPr/>
          <p:nvPr/>
        </p:nvSpPr>
        <p:spPr>
          <a:xfrm>
            <a:off x="548640" y="3246120"/>
            <a:ext cx="640080" cy="640080"/>
          </a:xfrm>
          <a:prstGeom prst="ellipse">
            <a:avLst/>
          </a:prstGeom>
          <a:solidFill>
            <a:srgbClr val="B7FF00"/>
          </a:solidFill>
          <a:ln w="12700">
            <a:noFill/>
            <a:prstDash val="solid"/>
          </a:ln>
        </p:spPr>
        <p:txBody>
          <a:bodyPr/>
          <a:lstStyle/>
          <a:p>
            <a:endParaRPr lang="en-IT"/>
          </a:p>
        </p:txBody>
      </p:sp>
      <p:pic>
        <p:nvPicPr>
          <p:cNvPr id="8" name="Image 0" descr="preencoded.png"/>
          <p:cNvPicPr>
            <a:picLocks noChangeAspect="1"/>
          </p:cNvPicPr>
          <p:nvPr/>
        </p:nvPicPr>
        <p:blipFill>
          <a:blip r:embed="rId6"/>
          <a:stretch>
            <a:fillRect/>
          </a:stretch>
        </p:blipFill>
        <p:spPr>
          <a:xfrm>
            <a:off x="708660" y="3406140"/>
            <a:ext cx="320040" cy="320040"/>
          </a:xfrm>
          <a:prstGeom prst="rect">
            <a:avLst/>
          </a:prstGeom>
        </p:spPr>
      </p:pic>
      <p:sp>
        <p:nvSpPr>
          <p:cNvPr id="9" name="Text 6"/>
          <p:cNvSpPr txBox="1"/>
          <p:nvPr/>
        </p:nvSpPr>
        <p:spPr>
          <a:xfrm>
            <a:off x="1371600" y="3264408"/>
            <a:ext cx="42976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Athletes training alone</a:t>
            </a:r>
            <a:endParaRPr lang="en-US" sz="1600"/>
          </a:p>
        </p:txBody>
      </p:sp>
      <p:sp>
        <p:nvSpPr>
          <p:cNvPr id="10" name="Text 7"/>
          <p:cNvSpPr txBox="1"/>
          <p:nvPr/>
        </p:nvSpPr>
        <p:spPr>
          <a:xfrm>
            <a:off x="1371600" y="3584448"/>
            <a:ext cx="4297680" cy="274320"/>
          </a:xfrm>
          <a:prstGeom prst="rect">
            <a:avLst/>
          </a:prstGeom>
          <a:noFill/>
          <a:ln/>
        </p:spPr>
        <p:txBody>
          <a:bodyPr wrap="square" lIns="0" tIns="0" rIns="0" bIns="0" rtlCol="0" anchor="t"/>
          <a:lstStyle/>
          <a:p>
            <a:pPr marL="0" indent="0">
              <a:buNone/>
            </a:pPr>
            <a:r>
              <a:rPr lang="en-US" sz="1300">
                <a:solidFill>
                  <a:srgbClr val="6B6B6B"/>
                </a:solidFill>
                <a:latin typeface="Arial" pitchFamily="34" charset="0"/>
                <a:ea typeface="Arial" pitchFamily="34" charset="-122"/>
                <a:cs typeface="Arial" pitchFamily="34" charset="-120"/>
              </a:rPr>
              <a:t>no starter, no timer needed</a:t>
            </a:r>
            <a:endParaRPr lang="en-US" sz="1300"/>
          </a:p>
        </p:txBody>
      </p:sp>
      <p:sp>
        <p:nvSpPr>
          <p:cNvPr id="11" name="Shape 8"/>
          <p:cNvSpPr/>
          <p:nvPr/>
        </p:nvSpPr>
        <p:spPr>
          <a:xfrm>
            <a:off x="548640" y="4114800"/>
            <a:ext cx="640080" cy="640080"/>
          </a:xfrm>
          <a:prstGeom prst="ellipse">
            <a:avLst/>
          </a:prstGeom>
          <a:solidFill>
            <a:srgbClr val="B7FF00"/>
          </a:solidFill>
          <a:ln w="12700">
            <a:noFill/>
            <a:prstDash val="solid"/>
          </a:ln>
        </p:spPr>
        <p:txBody>
          <a:bodyPr/>
          <a:lstStyle/>
          <a:p>
            <a:endParaRPr lang="en-IT"/>
          </a:p>
        </p:txBody>
      </p:sp>
      <p:pic>
        <p:nvPicPr>
          <p:cNvPr id="12" name="Image 1" descr="preencoded.png"/>
          <p:cNvPicPr>
            <a:picLocks noChangeAspect="1"/>
          </p:cNvPicPr>
          <p:nvPr/>
        </p:nvPicPr>
        <p:blipFill>
          <a:blip r:embed="rId7"/>
          <a:stretch>
            <a:fillRect/>
          </a:stretch>
        </p:blipFill>
        <p:spPr>
          <a:xfrm>
            <a:off x="708660" y="4274820"/>
            <a:ext cx="320040" cy="320040"/>
          </a:xfrm>
          <a:prstGeom prst="rect">
            <a:avLst/>
          </a:prstGeom>
        </p:spPr>
      </p:pic>
      <p:sp>
        <p:nvSpPr>
          <p:cNvPr id="13" name="Text 9"/>
          <p:cNvSpPr txBox="1"/>
          <p:nvPr/>
        </p:nvSpPr>
        <p:spPr>
          <a:xfrm>
            <a:off x="1371600" y="4133088"/>
            <a:ext cx="42976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Coaches</a:t>
            </a:r>
            <a:endParaRPr lang="en-US" sz="1600"/>
          </a:p>
        </p:txBody>
      </p:sp>
      <p:sp>
        <p:nvSpPr>
          <p:cNvPr id="14" name="Text 10"/>
          <p:cNvSpPr txBox="1"/>
          <p:nvPr/>
        </p:nvSpPr>
        <p:spPr>
          <a:xfrm>
            <a:off x="1371600" y="4453128"/>
            <a:ext cx="4297680" cy="274320"/>
          </a:xfrm>
          <a:prstGeom prst="rect">
            <a:avLst/>
          </a:prstGeom>
          <a:noFill/>
          <a:ln/>
        </p:spPr>
        <p:txBody>
          <a:bodyPr wrap="square" lIns="0" tIns="0" rIns="0" bIns="0" rtlCol="0" anchor="t"/>
          <a:lstStyle/>
          <a:p>
            <a:pPr marL="0" indent="0">
              <a:buNone/>
            </a:pPr>
            <a:r>
              <a:rPr lang="en-US" sz="1300" dirty="0">
                <a:solidFill>
                  <a:srgbClr val="6B6B6B"/>
                </a:solidFill>
                <a:latin typeface="Arial" pitchFamily="34" charset="0"/>
                <a:ea typeface="Arial" pitchFamily="34" charset="-122"/>
                <a:cs typeface="Arial" pitchFamily="34" charset="-120"/>
              </a:rPr>
              <a:t>today: hand timing only</a:t>
            </a:r>
            <a:endParaRPr lang="en-US" sz="1300" dirty="0"/>
          </a:p>
        </p:txBody>
      </p:sp>
      <p:sp>
        <p:nvSpPr>
          <p:cNvPr id="15" name="Shape 11"/>
          <p:cNvSpPr/>
          <p:nvPr/>
        </p:nvSpPr>
        <p:spPr>
          <a:xfrm>
            <a:off x="548640" y="4983480"/>
            <a:ext cx="640080" cy="640080"/>
          </a:xfrm>
          <a:prstGeom prst="ellipse">
            <a:avLst/>
          </a:prstGeom>
          <a:solidFill>
            <a:srgbClr val="B7FF00"/>
          </a:solidFill>
          <a:ln w="12700">
            <a:noFill/>
            <a:prstDash val="solid"/>
          </a:ln>
        </p:spPr>
        <p:txBody>
          <a:bodyPr/>
          <a:lstStyle/>
          <a:p>
            <a:endParaRPr lang="en-IT"/>
          </a:p>
        </p:txBody>
      </p:sp>
      <p:pic>
        <p:nvPicPr>
          <p:cNvPr id="16" name="Image 2" descr="preencoded.png"/>
          <p:cNvPicPr>
            <a:picLocks noChangeAspect="1"/>
          </p:cNvPicPr>
          <p:nvPr/>
        </p:nvPicPr>
        <p:blipFill>
          <a:blip r:embed="rId8"/>
          <a:stretch>
            <a:fillRect/>
          </a:stretch>
        </p:blipFill>
        <p:spPr>
          <a:xfrm>
            <a:off x="708660" y="5143500"/>
            <a:ext cx="320040" cy="320040"/>
          </a:xfrm>
          <a:prstGeom prst="rect">
            <a:avLst/>
          </a:prstGeom>
        </p:spPr>
      </p:pic>
      <p:sp>
        <p:nvSpPr>
          <p:cNvPr id="17" name="Text 12"/>
          <p:cNvSpPr txBox="1"/>
          <p:nvPr/>
        </p:nvSpPr>
        <p:spPr>
          <a:xfrm>
            <a:off x="1371600" y="5001768"/>
            <a:ext cx="42976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Clubs &amp; academies</a:t>
            </a:r>
            <a:endParaRPr lang="en-US" sz="1600"/>
          </a:p>
        </p:txBody>
      </p:sp>
      <p:sp>
        <p:nvSpPr>
          <p:cNvPr id="18" name="Text 13"/>
          <p:cNvSpPr txBox="1"/>
          <p:nvPr/>
        </p:nvSpPr>
        <p:spPr>
          <a:xfrm>
            <a:off x="1371600" y="5321808"/>
            <a:ext cx="4297680" cy="274320"/>
          </a:xfrm>
          <a:prstGeom prst="rect">
            <a:avLst/>
          </a:prstGeom>
          <a:noFill/>
          <a:ln/>
        </p:spPr>
        <p:txBody>
          <a:bodyPr wrap="square" lIns="0" tIns="0" rIns="0" bIns="0" rtlCol="0" anchor="t"/>
          <a:lstStyle/>
          <a:p>
            <a:pPr marL="0" indent="0">
              <a:buNone/>
            </a:pPr>
            <a:r>
              <a:rPr lang="en-US" sz="1300">
                <a:solidFill>
                  <a:srgbClr val="6B6B6B"/>
                </a:solidFill>
                <a:latin typeface="Arial" pitchFamily="34" charset="0"/>
                <a:ea typeface="Arial" pitchFamily="34" charset="-122"/>
                <a:cs typeface="Arial" pitchFamily="34" charset="-120"/>
              </a:rPr>
              <a:t>no budget for certified systems</a:t>
            </a:r>
            <a:endParaRPr lang="en-US" sz="1300"/>
          </a:p>
        </p:txBody>
      </p:sp>
      <p:pic>
        <p:nvPicPr>
          <p:cNvPr id="19" name="Image 0" descr="preencoded.png">
            <a:extLst>
              <a:ext uri="{FF2B5EF4-FFF2-40B4-BE49-F238E27FC236}">
                <a16:creationId xmlns:a16="http://schemas.microsoft.com/office/drawing/2014/main" id="{3CE94142-B208-D523-A034-548F8E9CDD29}"/>
              </a:ext>
            </a:extLst>
          </p:cNvPr>
          <p:cNvPicPr>
            <a:picLocks noChangeAspect="1"/>
          </p:cNvPicPr>
          <p:nvPr/>
        </p:nvPicPr>
        <p:blipFill>
          <a:blip r:embed="rId9"/>
          <a:stretch>
            <a:fillRect/>
          </a:stretch>
        </p:blipFill>
        <p:spPr>
          <a:xfrm>
            <a:off x="3648891" y="3018226"/>
            <a:ext cx="4406537" cy="22297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a:solidFill>
                  <a:srgbClr val="111111"/>
                </a:solidFill>
                <a:latin typeface="Arial" pitchFamily="34" charset="0"/>
                <a:ea typeface="Arial" pitchFamily="34" charset="-122"/>
                <a:cs typeface="Arial" pitchFamily="34" charset="-120"/>
              </a:rPr>
              <a:t>02</a:t>
            </a:r>
            <a:endParaRPr lang="en-US" sz="2200"/>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a:solidFill>
                  <a:srgbClr val="111111"/>
                </a:solidFill>
                <a:latin typeface="Arial" pitchFamily="34" charset="0"/>
                <a:ea typeface="Arial" pitchFamily="34" charset="-122"/>
                <a:cs typeface="Arial" pitchFamily="34" charset="-120"/>
              </a:rPr>
              <a:t>PROBLEM STATEMENT</a:t>
            </a:r>
            <a:endParaRPr lang="en-US" sz="3600"/>
          </a:p>
        </p:txBody>
      </p:sp>
      <p:sp>
        <p:nvSpPr>
          <p:cNvPr id="5" name="Text 3"/>
          <p:cNvSpPr txBox="1"/>
          <p:nvPr/>
        </p:nvSpPr>
        <p:spPr>
          <a:xfrm>
            <a:off x="548640" y="1234440"/>
            <a:ext cx="11064240" cy="457200"/>
          </a:xfrm>
          <a:prstGeom prst="rect">
            <a:avLst/>
          </a:prstGeom>
          <a:noFill/>
          <a:ln/>
        </p:spPr>
        <p:txBody>
          <a:bodyPr wrap="square" lIns="0" tIns="0" rIns="0" bIns="0" rtlCol="0" anchor="t"/>
          <a:lstStyle/>
          <a:p>
            <a:pPr marL="0" indent="0" algn="just">
              <a:buNone/>
            </a:pPr>
            <a:r>
              <a:rPr lang="en-US" sz="1800">
                <a:solidFill>
                  <a:srgbClr val="111111"/>
                </a:solidFill>
                <a:latin typeface="Arial" pitchFamily="34" charset="0"/>
                <a:ea typeface="Arial" pitchFamily="34" charset="-122"/>
                <a:cs typeface="Arial" pitchFamily="34" charset="-120"/>
              </a:rPr>
              <a:t>Non-elite athletes and coaches can rarely measure block-start reaction time with millisecond accuracy.</a:t>
            </a:r>
            <a:endParaRPr lang="en-US" sz="1800"/>
          </a:p>
        </p:txBody>
      </p:sp>
      <p:sp>
        <p:nvSpPr>
          <p:cNvPr id="6" name="Shape 4"/>
          <p:cNvSpPr/>
          <p:nvPr/>
        </p:nvSpPr>
        <p:spPr>
          <a:xfrm>
            <a:off x="548640" y="1874520"/>
            <a:ext cx="2606040" cy="1600200"/>
          </a:xfrm>
          <a:prstGeom prst="roundRect">
            <a:avLst>
              <a:gd name="adj" fmla="val 5714"/>
            </a:avLst>
          </a:prstGeom>
          <a:solidFill>
            <a:srgbClr val="111111"/>
          </a:solidFill>
          <a:ln w="12700">
            <a:solidFill>
              <a:srgbClr val="111111"/>
            </a:solidFill>
            <a:prstDash val="solid"/>
          </a:ln>
        </p:spPr>
        <p:txBody>
          <a:bodyPr/>
          <a:lstStyle/>
          <a:p>
            <a:endParaRPr lang="en-IT"/>
          </a:p>
        </p:txBody>
      </p:sp>
      <p:sp>
        <p:nvSpPr>
          <p:cNvPr id="7" name="Text 5"/>
          <p:cNvSpPr txBox="1"/>
          <p:nvPr/>
        </p:nvSpPr>
        <p:spPr>
          <a:xfrm>
            <a:off x="731520" y="2011680"/>
            <a:ext cx="2240280" cy="685800"/>
          </a:xfrm>
          <a:prstGeom prst="rect">
            <a:avLst/>
          </a:prstGeom>
          <a:noFill/>
          <a:ln/>
        </p:spPr>
        <p:txBody>
          <a:bodyPr wrap="square" lIns="0" tIns="0" rIns="0" bIns="0" rtlCol="0" anchor="t"/>
          <a:lstStyle/>
          <a:p>
            <a:pPr marL="0" indent="0">
              <a:buNone/>
            </a:pPr>
            <a:r>
              <a:rPr lang="en-US" sz="3200" b="1" i="1">
                <a:solidFill>
                  <a:srgbClr val="B7FF00"/>
                </a:solidFill>
                <a:latin typeface="Arial"/>
                <a:ea typeface="Arial" pitchFamily="34" charset="-122"/>
                <a:cs typeface="Arial"/>
              </a:rPr>
              <a:t>0.005 s</a:t>
            </a:r>
            <a:endParaRPr lang="en-US" sz="3200">
              <a:solidFill>
                <a:srgbClr val="B7FF00"/>
              </a:solidFill>
              <a:latin typeface="Arial"/>
              <a:ea typeface="Calibri"/>
              <a:cs typeface="Arial"/>
            </a:endParaRPr>
          </a:p>
        </p:txBody>
      </p:sp>
      <p:sp>
        <p:nvSpPr>
          <p:cNvPr id="8" name="Text 6"/>
          <p:cNvSpPr txBox="1"/>
          <p:nvPr/>
        </p:nvSpPr>
        <p:spPr>
          <a:xfrm>
            <a:off x="731520" y="2697480"/>
            <a:ext cx="2240280" cy="685800"/>
          </a:xfrm>
          <a:prstGeom prst="rect">
            <a:avLst/>
          </a:prstGeom>
          <a:noFill/>
          <a:ln/>
        </p:spPr>
        <p:txBody>
          <a:bodyPr wrap="square" lIns="0" tIns="0" rIns="0" bIns="0" rtlCol="0" anchor="t"/>
          <a:lstStyle/>
          <a:p>
            <a:pPr marL="0" indent="0">
              <a:buNone/>
            </a:pPr>
            <a:r>
              <a:rPr lang="en-US" sz="1300" dirty="0">
                <a:solidFill>
                  <a:srgbClr val="FFFFFF"/>
                </a:solidFill>
                <a:latin typeface="Arial"/>
                <a:ea typeface="Arial" pitchFamily="34" charset="-122"/>
                <a:cs typeface="Arial"/>
              </a:rPr>
              <a:t>Noah Lyles’ winning margin in the 100 m at the 2024 Paris Olympic Games</a:t>
            </a:r>
            <a:endParaRPr lang="en-US" sz="1300" dirty="0">
              <a:latin typeface="Arial"/>
              <a:ea typeface="Calibri" panose="020F0502020204030204"/>
              <a:cs typeface="Arial"/>
            </a:endParaRPr>
          </a:p>
        </p:txBody>
      </p:sp>
      <p:sp>
        <p:nvSpPr>
          <p:cNvPr id="9" name="Shape 7"/>
          <p:cNvSpPr/>
          <p:nvPr/>
        </p:nvSpPr>
        <p:spPr>
          <a:xfrm>
            <a:off x="3360420" y="1874520"/>
            <a:ext cx="2606040" cy="1600200"/>
          </a:xfrm>
          <a:prstGeom prst="roundRect">
            <a:avLst>
              <a:gd name="adj" fmla="val 5714"/>
            </a:avLst>
          </a:prstGeom>
          <a:solidFill>
            <a:srgbClr val="111111"/>
          </a:solidFill>
          <a:ln w="12700">
            <a:solidFill>
              <a:srgbClr val="111111"/>
            </a:solidFill>
            <a:prstDash val="solid"/>
          </a:ln>
        </p:spPr>
        <p:txBody>
          <a:bodyPr/>
          <a:lstStyle/>
          <a:p>
            <a:endParaRPr lang="en-IT"/>
          </a:p>
        </p:txBody>
      </p:sp>
      <p:sp>
        <p:nvSpPr>
          <p:cNvPr id="10" name="Text 8"/>
          <p:cNvSpPr txBox="1"/>
          <p:nvPr/>
        </p:nvSpPr>
        <p:spPr>
          <a:xfrm>
            <a:off x="3543300" y="2011680"/>
            <a:ext cx="2240280" cy="685800"/>
          </a:xfrm>
          <a:prstGeom prst="rect">
            <a:avLst/>
          </a:prstGeom>
          <a:noFill/>
          <a:ln/>
        </p:spPr>
        <p:txBody>
          <a:bodyPr wrap="square" lIns="0" tIns="0" rIns="0" bIns="0" rtlCol="0" anchor="t"/>
          <a:lstStyle/>
          <a:p>
            <a:pPr marL="0" indent="0">
              <a:buNone/>
            </a:pPr>
            <a:r>
              <a:rPr lang="en-US" sz="3200" b="1" i="1">
                <a:solidFill>
                  <a:srgbClr val="B7FF00"/>
                </a:solidFill>
                <a:latin typeface="Arial"/>
                <a:ea typeface="Arial" pitchFamily="34" charset="-122"/>
                <a:cs typeface="Arial"/>
              </a:rPr>
              <a:t>&lt; 0.100 s</a:t>
            </a:r>
            <a:endParaRPr lang="en-US" sz="3200">
              <a:solidFill>
                <a:srgbClr val="B7FF00"/>
              </a:solidFill>
              <a:latin typeface="Arial"/>
              <a:ea typeface="Calibri"/>
              <a:cs typeface="Calibri"/>
            </a:endParaRPr>
          </a:p>
        </p:txBody>
      </p:sp>
      <p:sp>
        <p:nvSpPr>
          <p:cNvPr id="11" name="Text 9"/>
          <p:cNvSpPr txBox="1"/>
          <p:nvPr/>
        </p:nvSpPr>
        <p:spPr>
          <a:xfrm>
            <a:off x="3543300" y="2697480"/>
            <a:ext cx="2240280" cy="685800"/>
          </a:xfrm>
          <a:prstGeom prst="rect">
            <a:avLst/>
          </a:prstGeom>
          <a:noFill/>
          <a:ln/>
        </p:spPr>
        <p:txBody>
          <a:bodyPr wrap="square" lIns="0" tIns="0" rIns="0" bIns="0" rtlCol="0" anchor="t"/>
          <a:lstStyle/>
          <a:p>
            <a:pPr marL="0" indent="0">
              <a:buNone/>
            </a:pPr>
            <a:r>
              <a:rPr lang="en-US" sz="1300" dirty="0">
                <a:solidFill>
                  <a:srgbClr val="FFFFFF"/>
                </a:solidFill>
                <a:latin typeface="Arial"/>
                <a:ea typeface="Arial" pitchFamily="34" charset="-122"/>
                <a:cs typeface="Arial"/>
              </a:rPr>
              <a:t>Reaction time counted as a false start</a:t>
            </a:r>
            <a:endParaRPr lang="en-US" sz="1300" dirty="0">
              <a:latin typeface="Arial"/>
              <a:ea typeface="Calibri" panose="020F0502020204030204"/>
              <a:cs typeface="Arial"/>
            </a:endParaRPr>
          </a:p>
        </p:txBody>
      </p:sp>
      <p:sp>
        <p:nvSpPr>
          <p:cNvPr id="12" name="Shape 10"/>
          <p:cNvSpPr/>
          <p:nvPr/>
        </p:nvSpPr>
        <p:spPr>
          <a:xfrm>
            <a:off x="8980932" y="1874520"/>
            <a:ext cx="2606040" cy="1600200"/>
          </a:xfrm>
          <a:prstGeom prst="roundRect">
            <a:avLst>
              <a:gd name="adj" fmla="val 5714"/>
            </a:avLst>
          </a:prstGeom>
          <a:solidFill>
            <a:srgbClr val="111111"/>
          </a:solidFill>
          <a:ln w="12700">
            <a:solidFill>
              <a:srgbClr val="111111"/>
            </a:solidFill>
            <a:prstDash val="solid"/>
          </a:ln>
        </p:spPr>
        <p:txBody>
          <a:bodyPr/>
          <a:lstStyle/>
          <a:p>
            <a:endParaRPr lang="en-IT"/>
          </a:p>
        </p:txBody>
      </p:sp>
      <p:sp>
        <p:nvSpPr>
          <p:cNvPr id="13" name="Text 11"/>
          <p:cNvSpPr txBox="1"/>
          <p:nvPr/>
        </p:nvSpPr>
        <p:spPr>
          <a:xfrm>
            <a:off x="9163812" y="2011680"/>
            <a:ext cx="2240280" cy="685800"/>
          </a:xfrm>
          <a:prstGeom prst="rect">
            <a:avLst/>
          </a:prstGeom>
          <a:noFill/>
          <a:ln/>
        </p:spPr>
        <p:txBody>
          <a:bodyPr wrap="square" lIns="0" tIns="0" rIns="0" bIns="0" rtlCol="0" anchor="t"/>
          <a:lstStyle/>
          <a:p>
            <a:pPr marL="0" indent="0">
              <a:buNone/>
            </a:pPr>
            <a:r>
              <a:rPr lang="en-US" sz="3200" b="1" i="1">
                <a:solidFill>
                  <a:srgbClr val="B7FF00"/>
                </a:solidFill>
                <a:latin typeface="Arial"/>
                <a:ea typeface="Arial" pitchFamily="34" charset="-122"/>
                <a:cs typeface="Arial"/>
              </a:rPr>
              <a:t>≈ US$1,600</a:t>
            </a:r>
            <a:endParaRPr lang="en-US" sz="3200">
              <a:solidFill>
                <a:srgbClr val="B7FF00"/>
              </a:solidFill>
              <a:latin typeface="Arial"/>
              <a:ea typeface="Calibri"/>
              <a:cs typeface="Arial"/>
            </a:endParaRPr>
          </a:p>
        </p:txBody>
      </p:sp>
      <p:sp>
        <p:nvSpPr>
          <p:cNvPr id="14" name="Text 12"/>
          <p:cNvSpPr txBox="1"/>
          <p:nvPr/>
        </p:nvSpPr>
        <p:spPr>
          <a:xfrm>
            <a:off x="9163812" y="2697480"/>
            <a:ext cx="2240280" cy="685800"/>
          </a:xfrm>
          <a:prstGeom prst="rect">
            <a:avLst/>
          </a:prstGeom>
          <a:noFill/>
          <a:ln/>
        </p:spPr>
        <p:txBody>
          <a:bodyPr wrap="square" lIns="0" tIns="0" rIns="0" bIns="0" rtlCol="0" anchor="t"/>
          <a:lstStyle/>
          <a:p>
            <a:pPr marL="0" indent="0">
              <a:buNone/>
            </a:pPr>
            <a:r>
              <a:rPr lang="en-US" sz="1300" dirty="0">
                <a:solidFill>
                  <a:srgbClr val="FFFFFF"/>
                </a:solidFill>
                <a:latin typeface="Arial" pitchFamily="34" charset="0"/>
                <a:ea typeface="Arial" pitchFamily="34" charset="-122"/>
                <a:cs typeface="Arial" pitchFamily="34" charset="-120"/>
              </a:rPr>
              <a:t>Price of a single-block </a:t>
            </a:r>
            <a:r>
              <a:rPr lang="en-US" sz="1300" dirty="0" err="1">
                <a:solidFill>
                  <a:srgbClr val="FFFFFF"/>
                </a:solidFill>
                <a:latin typeface="Arial" pitchFamily="34" charset="0"/>
                <a:ea typeface="Arial" pitchFamily="34" charset="-122"/>
                <a:cs typeface="Arial" pitchFamily="34" charset="-120"/>
              </a:rPr>
              <a:t>ReacTime</a:t>
            </a:r>
            <a:r>
              <a:rPr lang="en-US" sz="1300" dirty="0">
                <a:solidFill>
                  <a:srgbClr val="FFFFFF"/>
                </a:solidFill>
                <a:latin typeface="Arial" pitchFamily="34" charset="0"/>
                <a:ea typeface="Arial" pitchFamily="34" charset="-122"/>
                <a:cs typeface="Arial" pitchFamily="34" charset="-120"/>
              </a:rPr>
              <a:t> system</a:t>
            </a:r>
            <a:endParaRPr lang="en-US" sz="1300" dirty="0"/>
          </a:p>
        </p:txBody>
      </p:sp>
      <p:sp>
        <p:nvSpPr>
          <p:cNvPr id="15" name="Shape 13"/>
          <p:cNvSpPr/>
          <p:nvPr/>
        </p:nvSpPr>
        <p:spPr>
          <a:xfrm>
            <a:off x="6172200" y="1874520"/>
            <a:ext cx="2606040" cy="1600200"/>
          </a:xfrm>
          <a:prstGeom prst="roundRect">
            <a:avLst>
              <a:gd name="adj" fmla="val 5714"/>
            </a:avLst>
          </a:prstGeom>
          <a:solidFill>
            <a:srgbClr val="111111"/>
          </a:solidFill>
          <a:ln w="12700">
            <a:solidFill>
              <a:srgbClr val="111111"/>
            </a:solidFill>
            <a:prstDash val="solid"/>
          </a:ln>
        </p:spPr>
        <p:txBody>
          <a:bodyPr/>
          <a:lstStyle/>
          <a:p>
            <a:endParaRPr lang="en-IT"/>
          </a:p>
        </p:txBody>
      </p:sp>
      <p:sp>
        <p:nvSpPr>
          <p:cNvPr id="16" name="Text 14"/>
          <p:cNvSpPr txBox="1"/>
          <p:nvPr/>
        </p:nvSpPr>
        <p:spPr>
          <a:xfrm>
            <a:off x="6355080" y="2011680"/>
            <a:ext cx="2240280" cy="685800"/>
          </a:xfrm>
          <a:prstGeom prst="rect">
            <a:avLst/>
          </a:prstGeom>
          <a:noFill/>
          <a:ln/>
        </p:spPr>
        <p:txBody>
          <a:bodyPr wrap="square" lIns="0" tIns="0" rIns="0" bIns="0" rtlCol="0" anchor="t"/>
          <a:lstStyle/>
          <a:p>
            <a:pPr marL="0" indent="0">
              <a:buNone/>
            </a:pPr>
            <a:r>
              <a:rPr lang="en-US" sz="3200" b="1" i="1" dirty="0">
                <a:solidFill>
                  <a:srgbClr val="B7FF00"/>
                </a:solidFill>
                <a:latin typeface="Arial"/>
                <a:ea typeface="Arial" pitchFamily="34" charset="-122"/>
                <a:cs typeface="Arial"/>
              </a:rPr>
              <a:t>- 0.24 s</a:t>
            </a:r>
            <a:endParaRPr lang="en-US" sz="3200" dirty="0">
              <a:solidFill>
                <a:srgbClr val="B7FF00"/>
              </a:solidFill>
              <a:latin typeface="Arial"/>
              <a:ea typeface="Calibri"/>
              <a:cs typeface="Arial"/>
            </a:endParaRPr>
          </a:p>
        </p:txBody>
      </p:sp>
      <p:sp>
        <p:nvSpPr>
          <p:cNvPr id="17" name="Text 15"/>
          <p:cNvSpPr txBox="1"/>
          <p:nvPr/>
        </p:nvSpPr>
        <p:spPr>
          <a:xfrm>
            <a:off x="6355080" y="2697480"/>
            <a:ext cx="2240280" cy="685800"/>
          </a:xfrm>
          <a:prstGeom prst="rect">
            <a:avLst/>
          </a:prstGeom>
          <a:noFill/>
          <a:ln/>
        </p:spPr>
        <p:txBody>
          <a:bodyPr wrap="square" lIns="0" tIns="0" rIns="0" bIns="0" rtlCol="0" anchor="t"/>
          <a:lstStyle/>
          <a:p>
            <a:r>
              <a:rPr lang="en-US" sz="1300" dirty="0">
                <a:solidFill>
                  <a:srgbClr val="FFFFFF"/>
                </a:solidFill>
                <a:latin typeface="Arial"/>
                <a:ea typeface="Arial" pitchFamily="34" charset="-122"/>
                <a:cs typeface="Arial"/>
              </a:rPr>
              <a:t>Hand timing reads faster than electronic timing</a:t>
            </a:r>
            <a:endParaRPr lang="en-US" sz="1300" dirty="0">
              <a:latin typeface="Arial"/>
              <a:ea typeface="Calibri" panose="020F0502020204030204"/>
              <a:cs typeface="Arial"/>
            </a:endParaRPr>
          </a:p>
        </p:txBody>
      </p:sp>
      <p:sp>
        <p:nvSpPr>
          <p:cNvPr id="18" name="Text 16"/>
          <p:cNvSpPr txBox="1"/>
          <p:nvPr/>
        </p:nvSpPr>
        <p:spPr>
          <a:xfrm>
            <a:off x="548640" y="3749040"/>
            <a:ext cx="5486400" cy="365760"/>
          </a:xfrm>
          <a:prstGeom prst="rect">
            <a:avLst/>
          </a:prstGeom>
          <a:noFill/>
          <a:ln/>
        </p:spPr>
        <p:txBody>
          <a:bodyPr wrap="square" lIns="0" tIns="0" rIns="0" bIns="0" rtlCol="0" anchor="t"/>
          <a:lstStyle/>
          <a:p>
            <a:pPr marL="0" indent="0">
              <a:buNone/>
            </a:pPr>
            <a:r>
              <a:rPr lang="en-US" sz="1400" b="1" kern="0" spc="200">
                <a:solidFill>
                  <a:srgbClr val="6B6B6B"/>
                </a:solidFill>
                <a:latin typeface="Arial" pitchFamily="34" charset="0"/>
                <a:ea typeface="Arial" pitchFamily="34" charset="-122"/>
                <a:cs typeface="Arial" pitchFamily="34" charset="-120"/>
              </a:rPr>
              <a:t>EXISTING SOLUTIONS</a:t>
            </a:r>
            <a:endParaRPr lang="en-US" sz="1400"/>
          </a:p>
        </p:txBody>
      </p:sp>
      <p:sp>
        <p:nvSpPr>
          <p:cNvPr id="19" name="Shape 17"/>
          <p:cNvSpPr/>
          <p:nvPr/>
        </p:nvSpPr>
        <p:spPr>
          <a:xfrm>
            <a:off x="3360420" y="4206240"/>
            <a:ext cx="2606040" cy="1325880"/>
          </a:xfrm>
          <a:prstGeom prst="roundRect">
            <a:avLst>
              <a:gd name="adj" fmla="val 6897"/>
            </a:avLst>
          </a:prstGeom>
          <a:solidFill>
            <a:srgbClr val="F3F3F3"/>
          </a:solidFill>
          <a:ln w="12700">
            <a:solidFill>
              <a:srgbClr val="F3F3F3"/>
            </a:solidFill>
            <a:prstDash val="solid"/>
          </a:ln>
        </p:spPr>
        <p:txBody>
          <a:bodyPr/>
          <a:lstStyle/>
          <a:p>
            <a:endParaRPr lang="en-IT"/>
          </a:p>
        </p:txBody>
      </p:sp>
      <p:sp>
        <p:nvSpPr>
          <p:cNvPr id="20" name="Text 18"/>
          <p:cNvSpPr txBox="1"/>
          <p:nvPr/>
        </p:nvSpPr>
        <p:spPr>
          <a:xfrm>
            <a:off x="3543300" y="4315968"/>
            <a:ext cx="2240280" cy="365760"/>
          </a:xfrm>
          <a:prstGeom prst="rect">
            <a:avLst/>
          </a:prstGeom>
          <a:noFill/>
          <a:ln/>
        </p:spPr>
        <p:txBody>
          <a:bodyPr wrap="square" lIns="0" tIns="0" rIns="0" bIns="0" rtlCol="0" anchor="t"/>
          <a:lstStyle/>
          <a:p>
            <a:pPr marL="0" indent="0">
              <a:buNone/>
            </a:pPr>
            <a:r>
              <a:rPr lang="en-US" sz="1500" b="1">
                <a:solidFill>
                  <a:srgbClr val="111111"/>
                </a:solidFill>
                <a:latin typeface="Arial" pitchFamily="34" charset="0"/>
                <a:ea typeface="Arial" pitchFamily="34" charset="-122"/>
                <a:cs typeface="Arial" pitchFamily="34" charset="-120"/>
              </a:rPr>
              <a:t>Photocells</a:t>
            </a:r>
            <a:endParaRPr lang="en-US" sz="1500"/>
          </a:p>
        </p:txBody>
      </p:sp>
      <p:sp>
        <p:nvSpPr>
          <p:cNvPr id="21" name="Text 19"/>
          <p:cNvSpPr txBox="1"/>
          <p:nvPr/>
        </p:nvSpPr>
        <p:spPr>
          <a:xfrm>
            <a:off x="3543300" y="4681728"/>
            <a:ext cx="2240280" cy="77724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solidFill>
                  <a:srgbClr val="333333"/>
                </a:solidFill>
                <a:latin typeface="Arial"/>
                <a:ea typeface="Arial" pitchFamily="34" charset="-122"/>
                <a:cs typeface="Arial"/>
              </a:rPr>
              <a:t>Start at the torso crossing a beam, missing the reaction to the gun</a:t>
            </a:r>
            <a:endParaRPr lang="en-US" sz="1200" dirty="0">
              <a:latin typeface="Arial"/>
              <a:ea typeface="Calibri" panose="020F0502020204030204"/>
              <a:cs typeface="Arial"/>
            </a:endParaRPr>
          </a:p>
        </p:txBody>
      </p:sp>
      <p:sp>
        <p:nvSpPr>
          <p:cNvPr id="22" name="Shape 20"/>
          <p:cNvSpPr/>
          <p:nvPr/>
        </p:nvSpPr>
        <p:spPr>
          <a:xfrm>
            <a:off x="548640" y="4206240"/>
            <a:ext cx="2606040" cy="1325880"/>
          </a:xfrm>
          <a:prstGeom prst="roundRect">
            <a:avLst>
              <a:gd name="adj" fmla="val 6897"/>
            </a:avLst>
          </a:prstGeom>
          <a:solidFill>
            <a:srgbClr val="F3F3F3"/>
          </a:solidFill>
          <a:ln w="12700">
            <a:solidFill>
              <a:srgbClr val="F3F3F3"/>
            </a:solidFill>
            <a:prstDash val="solid"/>
          </a:ln>
        </p:spPr>
        <p:txBody>
          <a:bodyPr/>
          <a:lstStyle/>
          <a:p>
            <a:endParaRPr lang="en-IT"/>
          </a:p>
        </p:txBody>
      </p:sp>
      <p:sp>
        <p:nvSpPr>
          <p:cNvPr id="23" name="Text 21"/>
          <p:cNvSpPr txBox="1"/>
          <p:nvPr/>
        </p:nvSpPr>
        <p:spPr>
          <a:xfrm>
            <a:off x="731520" y="4315968"/>
            <a:ext cx="2240280" cy="365760"/>
          </a:xfrm>
          <a:prstGeom prst="rect">
            <a:avLst/>
          </a:prstGeom>
          <a:noFill/>
          <a:ln/>
        </p:spPr>
        <p:txBody>
          <a:bodyPr wrap="square" lIns="0" tIns="0" rIns="0" bIns="0" rtlCol="0" anchor="t"/>
          <a:lstStyle/>
          <a:p>
            <a:pPr marL="0" indent="0">
              <a:buNone/>
            </a:pPr>
            <a:r>
              <a:rPr lang="en-US" sz="1500" b="1">
                <a:solidFill>
                  <a:srgbClr val="111111"/>
                </a:solidFill>
                <a:latin typeface="Arial" pitchFamily="34" charset="0"/>
                <a:ea typeface="Arial" pitchFamily="34" charset="-122"/>
                <a:cs typeface="Arial" pitchFamily="34" charset="-120"/>
              </a:rPr>
              <a:t>FinishLynx ReacTime</a:t>
            </a:r>
            <a:endParaRPr lang="en-US" sz="1500"/>
          </a:p>
        </p:txBody>
      </p:sp>
      <p:sp>
        <p:nvSpPr>
          <p:cNvPr id="24" name="Text 22"/>
          <p:cNvSpPr txBox="1"/>
          <p:nvPr/>
        </p:nvSpPr>
        <p:spPr>
          <a:xfrm>
            <a:off x="731520" y="4681728"/>
            <a:ext cx="2240280" cy="77724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solidFill>
                  <a:srgbClr val="333333"/>
                </a:solidFill>
                <a:latin typeface="Arial"/>
                <a:ea typeface="Arial" pitchFamily="34" charset="-122"/>
                <a:cs typeface="Arial"/>
              </a:rPr>
              <a:t>Threshold on acceleration reads the onset late</a:t>
            </a:r>
            <a:endParaRPr lang="en-US" sz="1200" dirty="0">
              <a:solidFill>
                <a:srgbClr val="000000"/>
              </a:solidFill>
              <a:latin typeface="Arial"/>
              <a:ea typeface="Calibri" panose="020F0502020204030204"/>
              <a:cs typeface="Arial"/>
            </a:endParaRPr>
          </a:p>
          <a:p>
            <a:pPr marL="171450" indent="-171450">
              <a:buFont typeface="Arial" panose="020B0604020202020204" pitchFamily="34" charset="0"/>
              <a:buChar char="•"/>
            </a:pPr>
            <a:r>
              <a:rPr lang="en-US" sz="1200" dirty="0">
                <a:solidFill>
                  <a:srgbClr val="333333"/>
                </a:solidFill>
                <a:latin typeface="Arial"/>
                <a:ea typeface="Calibri" panose="020F0502020204030204"/>
                <a:cs typeface="Arial"/>
              </a:rPr>
              <a:t>Costly</a:t>
            </a:r>
          </a:p>
        </p:txBody>
      </p:sp>
      <p:sp>
        <p:nvSpPr>
          <p:cNvPr id="25" name="Shape 23"/>
          <p:cNvSpPr/>
          <p:nvPr/>
        </p:nvSpPr>
        <p:spPr>
          <a:xfrm>
            <a:off x="6172200" y="4206240"/>
            <a:ext cx="2606040" cy="1325880"/>
          </a:xfrm>
          <a:prstGeom prst="roundRect">
            <a:avLst>
              <a:gd name="adj" fmla="val 6897"/>
            </a:avLst>
          </a:prstGeom>
          <a:solidFill>
            <a:srgbClr val="F3F3F3"/>
          </a:solidFill>
          <a:ln w="12700">
            <a:solidFill>
              <a:srgbClr val="F3F3F3"/>
            </a:solidFill>
            <a:prstDash val="solid"/>
          </a:ln>
        </p:spPr>
        <p:txBody>
          <a:bodyPr/>
          <a:lstStyle/>
          <a:p>
            <a:endParaRPr lang="en-IT"/>
          </a:p>
        </p:txBody>
      </p:sp>
      <p:sp>
        <p:nvSpPr>
          <p:cNvPr id="26" name="Text 24"/>
          <p:cNvSpPr txBox="1"/>
          <p:nvPr/>
        </p:nvSpPr>
        <p:spPr>
          <a:xfrm>
            <a:off x="6355080" y="4315968"/>
            <a:ext cx="2240280" cy="365760"/>
          </a:xfrm>
          <a:prstGeom prst="rect">
            <a:avLst/>
          </a:prstGeom>
          <a:noFill/>
          <a:ln/>
        </p:spPr>
        <p:txBody>
          <a:bodyPr wrap="square" lIns="0" tIns="0" rIns="0" bIns="0" rtlCol="0" anchor="t"/>
          <a:lstStyle/>
          <a:p>
            <a:pPr marL="0" indent="0">
              <a:buNone/>
            </a:pPr>
            <a:r>
              <a:rPr lang="en-US" sz="1500" b="1" dirty="0">
                <a:solidFill>
                  <a:srgbClr val="111111"/>
                </a:solidFill>
                <a:latin typeface="Arial" pitchFamily="34" charset="0"/>
                <a:ea typeface="Arial" pitchFamily="34" charset="-122"/>
                <a:cs typeface="Arial" pitchFamily="34" charset="-120"/>
              </a:rPr>
              <a:t>Omega </a:t>
            </a:r>
            <a:r>
              <a:rPr lang="en-US" sz="800" b="1" dirty="0">
                <a:solidFill>
                  <a:srgbClr val="111111"/>
                </a:solidFill>
                <a:latin typeface="Arial" pitchFamily="34" charset="0"/>
                <a:ea typeface="Arial" pitchFamily="34" charset="-122"/>
                <a:cs typeface="Arial" pitchFamily="34" charset="-120"/>
              </a:rPr>
              <a:t>(Olympics official timekeeper)</a:t>
            </a:r>
            <a:endParaRPr lang="en-US" sz="1500" dirty="0"/>
          </a:p>
        </p:txBody>
      </p:sp>
      <p:sp>
        <p:nvSpPr>
          <p:cNvPr id="27" name="Text 25"/>
          <p:cNvSpPr txBox="1"/>
          <p:nvPr/>
        </p:nvSpPr>
        <p:spPr>
          <a:xfrm>
            <a:off x="6355080" y="4681728"/>
            <a:ext cx="2240280" cy="777240"/>
          </a:xfrm>
          <a:prstGeom prst="rect">
            <a:avLst/>
          </a:prstGeom>
          <a:noFill/>
          <a:ln/>
        </p:spPr>
        <p:txBody>
          <a:bodyPr wrap="square" lIns="0" tIns="0" rIns="0" bIns="0" rtlCol="0" anchor="t"/>
          <a:lstStyle/>
          <a:p>
            <a:pPr marL="171450" indent="-171450" algn="just">
              <a:buFont typeface="Calibri"/>
              <a:buChar char="-"/>
            </a:pPr>
            <a:r>
              <a:rPr lang="en-US" sz="1200" dirty="0">
                <a:solidFill>
                  <a:srgbClr val="333333"/>
                </a:solidFill>
                <a:latin typeface="Arial"/>
                <a:ea typeface="Arial" pitchFamily="34" charset="-122"/>
                <a:cs typeface="Arial"/>
              </a:rPr>
              <a:t>Force sensors built into the blocks, 4,000 Hz</a:t>
            </a:r>
            <a:endParaRPr lang="en-US" sz="1200" dirty="0">
              <a:latin typeface="Arial"/>
              <a:cs typeface="Arial"/>
            </a:endParaRPr>
          </a:p>
        </p:txBody>
      </p:sp>
      <p:sp>
        <p:nvSpPr>
          <p:cNvPr id="28" name="Shape 26"/>
          <p:cNvSpPr/>
          <p:nvPr/>
        </p:nvSpPr>
        <p:spPr>
          <a:xfrm>
            <a:off x="8983980" y="4206240"/>
            <a:ext cx="2606040" cy="1325880"/>
          </a:xfrm>
          <a:prstGeom prst="roundRect">
            <a:avLst>
              <a:gd name="adj" fmla="val 6897"/>
            </a:avLst>
          </a:prstGeom>
          <a:solidFill>
            <a:srgbClr val="F3F3F3"/>
          </a:solidFill>
          <a:ln w="12700">
            <a:solidFill>
              <a:srgbClr val="F3F3F3"/>
            </a:solidFill>
            <a:prstDash val="solid"/>
          </a:ln>
        </p:spPr>
        <p:txBody>
          <a:bodyPr/>
          <a:lstStyle/>
          <a:p>
            <a:endParaRPr lang="en-IT"/>
          </a:p>
        </p:txBody>
      </p:sp>
      <p:sp>
        <p:nvSpPr>
          <p:cNvPr id="29" name="Text 27"/>
          <p:cNvSpPr txBox="1"/>
          <p:nvPr/>
        </p:nvSpPr>
        <p:spPr>
          <a:xfrm>
            <a:off x="9166860" y="4315968"/>
            <a:ext cx="2240280" cy="365760"/>
          </a:xfrm>
          <a:prstGeom prst="rect">
            <a:avLst/>
          </a:prstGeom>
          <a:noFill/>
          <a:ln/>
        </p:spPr>
        <p:txBody>
          <a:bodyPr wrap="square" lIns="0" tIns="0" rIns="0" bIns="0" rtlCol="0" anchor="t"/>
          <a:lstStyle/>
          <a:p>
            <a:pPr marL="0" indent="0">
              <a:buNone/>
            </a:pPr>
            <a:r>
              <a:rPr lang="en-US" sz="1500" b="1">
                <a:solidFill>
                  <a:srgbClr val="111111"/>
                </a:solidFill>
                <a:latin typeface="Arial" pitchFamily="34" charset="0"/>
                <a:ea typeface="Arial" pitchFamily="34" charset="-122"/>
                <a:cs typeface="Arial" pitchFamily="34" charset="-120"/>
              </a:rPr>
              <a:t>Student load-cell block</a:t>
            </a:r>
            <a:endParaRPr lang="en-US" sz="1500"/>
          </a:p>
        </p:txBody>
      </p:sp>
      <p:sp>
        <p:nvSpPr>
          <p:cNvPr id="30" name="Text 28"/>
          <p:cNvSpPr txBox="1"/>
          <p:nvPr/>
        </p:nvSpPr>
        <p:spPr>
          <a:xfrm>
            <a:off x="9166860" y="4681728"/>
            <a:ext cx="2240280" cy="77724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dirty="0">
                <a:solidFill>
                  <a:srgbClr val="333333"/>
                </a:solidFill>
                <a:latin typeface="Arial"/>
                <a:ea typeface="Arial" pitchFamily="34" charset="-122"/>
                <a:cs typeface="Arial"/>
              </a:rPr>
              <a:t>Force sensors are not portable</a:t>
            </a:r>
          </a:p>
          <a:p>
            <a:pPr marL="171450" indent="-171450">
              <a:buFont typeface="Arial" panose="020B0604020202020204" pitchFamily="34" charset="0"/>
              <a:buChar char="•"/>
            </a:pPr>
            <a:r>
              <a:rPr lang="en-US" sz="1200" dirty="0">
                <a:solidFill>
                  <a:srgbClr val="333333"/>
                </a:solidFill>
                <a:latin typeface="Arial"/>
                <a:ea typeface="Arial" pitchFamily="34" charset="-122"/>
                <a:cs typeface="Arial"/>
              </a:rPr>
              <a:t>No timing-accuracy check</a:t>
            </a:r>
            <a:endParaRPr lang="en-US" sz="1200" dirty="0">
              <a:latin typeface="Arial"/>
              <a:ea typeface="Calibri"/>
              <a:cs typeface="Arial"/>
            </a:endParaRPr>
          </a:p>
        </p:txBody>
      </p:sp>
      <p:sp>
        <p:nvSpPr>
          <p:cNvPr id="31" name="Shape 29"/>
          <p:cNvSpPr/>
          <p:nvPr/>
        </p:nvSpPr>
        <p:spPr>
          <a:xfrm>
            <a:off x="548640" y="5760720"/>
            <a:ext cx="11109960" cy="594360"/>
          </a:xfrm>
          <a:prstGeom prst="roundRect">
            <a:avLst>
              <a:gd name="adj" fmla="val 15385"/>
            </a:avLst>
          </a:prstGeom>
          <a:solidFill>
            <a:srgbClr val="B7FF00"/>
          </a:solidFill>
          <a:ln w="12700">
            <a:solidFill>
              <a:srgbClr val="B7FF00"/>
            </a:solidFill>
            <a:prstDash val="solid"/>
          </a:ln>
        </p:spPr>
        <p:txBody>
          <a:bodyPr/>
          <a:lstStyle/>
          <a:p>
            <a:endParaRPr lang="en-IT"/>
          </a:p>
        </p:txBody>
      </p:sp>
      <p:sp>
        <p:nvSpPr>
          <p:cNvPr id="32" name="Text 30"/>
          <p:cNvSpPr txBox="1"/>
          <p:nvPr/>
        </p:nvSpPr>
        <p:spPr>
          <a:xfrm>
            <a:off x="777240" y="5760720"/>
            <a:ext cx="10698480" cy="594360"/>
          </a:xfrm>
          <a:prstGeom prst="rect">
            <a:avLst/>
          </a:prstGeom>
          <a:noFill/>
          <a:ln/>
        </p:spPr>
        <p:txBody>
          <a:bodyPr wrap="square" lIns="0" tIns="0" rIns="0" bIns="0" rtlCol="0" anchor="ctr"/>
          <a:lstStyle/>
          <a:p>
            <a:pPr marL="0" indent="0">
              <a:buNone/>
            </a:pPr>
            <a:r>
              <a:rPr lang="en-US" sz="1700" b="1" dirty="0">
                <a:solidFill>
                  <a:srgbClr val="111111"/>
                </a:solidFill>
                <a:latin typeface="Arial" pitchFamily="34" charset="0"/>
                <a:ea typeface="Arial" pitchFamily="34" charset="-122"/>
                <a:cs typeface="Arial" pitchFamily="34" charset="-120"/>
              </a:rPr>
              <a:t>GAP:  a low-cost, portable solution with a documented timing error.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46" name="Picture 45" descr="Flutter - YouTube">
            <a:extLst>
              <a:ext uri="{FF2B5EF4-FFF2-40B4-BE49-F238E27FC236}">
                <a16:creationId xmlns:a16="http://schemas.microsoft.com/office/drawing/2014/main" id="{B236F78C-905B-A33D-7364-0A488E920752}"/>
              </a:ext>
            </a:extLst>
          </p:cNvPr>
          <p:cNvPicPr>
            <a:picLocks noChangeAspect="1"/>
          </p:cNvPicPr>
          <p:nvPr/>
        </p:nvPicPr>
        <p:blipFill>
          <a:blip r:embed="rId3"/>
          <a:stretch>
            <a:fillRect/>
          </a:stretch>
        </p:blipFill>
        <p:spPr>
          <a:xfrm>
            <a:off x="11192190" y="5477879"/>
            <a:ext cx="509287" cy="509287"/>
          </a:xfrm>
          <a:prstGeom prst="rect">
            <a:avLst/>
          </a:prstGeom>
        </p:spPr>
      </p:pic>
      <p:pic>
        <p:nvPicPr>
          <p:cNvPr id="41" name="Picture 40" descr="Bluetooth low-energy interface (BLE) – Smart IoT device RAM-1®">
            <a:extLst>
              <a:ext uri="{FF2B5EF4-FFF2-40B4-BE49-F238E27FC236}">
                <a16:creationId xmlns:a16="http://schemas.microsoft.com/office/drawing/2014/main" id="{19B3EF42-DE2B-5473-7A05-9F6B18B138B4}"/>
              </a:ext>
            </a:extLst>
          </p:cNvPr>
          <p:cNvPicPr>
            <a:picLocks noChangeAspect="1"/>
          </p:cNvPicPr>
          <p:nvPr/>
        </p:nvPicPr>
        <p:blipFill>
          <a:blip r:embed="rId4"/>
          <a:stretch>
            <a:fillRect/>
          </a:stretch>
        </p:blipFill>
        <p:spPr>
          <a:xfrm>
            <a:off x="11199926" y="4284427"/>
            <a:ext cx="500589" cy="500589"/>
          </a:xfrm>
          <a:prstGeom prst="rect">
            <a:avLst/>
          </a:prstGeom>
        </p:spPr>
      </p:pic>
      <p:pic>
        <p:nvPicPr>
          <p:cNvPr id="40" name="Picture 39" descr="Exploring ESP-NOW in MicroPython: A Learner's Guide - donskytech.com">
            <a:extLst>
              <a:ext uri="{FF2B5EF4-FFF2-40B4-BE49-F238E27FC236}">
                <a16:creationId xmlns:a16="http://schemas.microsoft.com/office/drawing/2014/main" id="{A046105B-9AC8-EDCF-F7AF-484EB02F896A}"/>
              </a:ext>
            </a:extLst>
          </p:cNvPr>
          <p:cNvPicPr>
            <a:picLocks noChangeAspect="1"/>
          </p:cNvPicPr>
          <p:nvPr/>
        </p:nvPicPr>
        <p:blipFill>
          <a:blip r:embed="rId5"/>
          <a:srcRect l="13020" t="25081" r="4892"/>
          <a:stretch>
            <a:fillRect/>
          </a:stretch>
        </p:blipFill>
        <p:spPr>
          <a:xfrm>
            <a:off x="11075887" y="3243682"/>
            <a:ext cx="694937" cy="354661"/>
          </a:xfrm>
          <a:prstGeom prst="rect">
            <a:avLst/>
          </a:prstGeom>
        </p:spPr>
      </p:pic>
      <p:pic>
        <p:nvPicPr>
          <p:cNvPr id="45" name="Picture 44" descr="Fil:ISO C++ Logo.svg – Wikipedia">
            <a:extLst>
              <a:ext uri="{FF2B5EF4-FFF2-40B4-BE49-F238E27FC236}">
                <a16:creationId xmlns:a16="http://schemas.microsoft.com/office/drawing/2014/main" id="{5097C34A-C6DB-84DE-51E8-DE1D8D7F51E8}"/>
              </a:ext>
            </a:extLst>
          </p:cNvPr>
          <p:cNvPicPr>
            <a:picLocks noChangeAspect="1"/>
          </p:cNvPicPr>
          <p:nvPr/>
        </p:nvPicPr>
        <p:blipFill>
          <a:blip r:embed="rId6"/>
          <a:stretch>
            <a:fillRect/>
          </a:stretch>
        </p:blipFill>
        <p:spPr>
          <a:xfrm>
            <a:off x="11300036" y="2248836"/>
            <a:ext cx="388072" cy="436783"/>
          </a:xfrm>
          <a:prstGeom prst="rect">
            <a:avLst/>
          </a:prstGeom>
        </p:spPr>
      </p:pic>
      <p:pic>
        <p:nvPicPr>
          <p:cNvPr id="42" name="Picture 41">
            <a:extLst>
              <a:ext uri="{FF2B5EF4-FFF2-40B4-BE49-F238E27FC236}">
                <a16:creationId xmlns:a16="http://schemas.microsoft.com/office/drawing/2014/main" id="{03A29F63-46CD-196A-9E40-3ADCCBB80AB6}"/>
              </a:ext>
            </a:extLst>
          </p:cNvPr>
          <p:cNvPicPr>
            <a:picLocks noChangeAspect="1"/>
          </p:cNvPicPr>
          <p:nvPr/>
        </p:nvPicPr>
        <p:blipFill>
          <a:blip r:embed="rId7"/>
          <a:stretch>
            <a:fillRect/>
          </a:stretch>
        </p:blipFill>
        <p:spPr>
          <a:xfrm>
            <a:off x="11250931" y="1234115"/>
            <a:ext cx="443263" cy="392646"/>
          </a:xfrm>
          <a:prstGeom prst="rect">
            <a:avLst/>
          </a:prstGeom>
        </p:spPr>
      </p:pic>
      <p:pic>
        <p:nvPicPr>
          <p:cNvPr id="44" name="Picture 43">
            <a:extLst>
              <a:ext uri="{FF2B5EF4-FFF2-40B4-BE49-F238E27FC236}">
                <a16:creationId xmlns:a16="http://schemas.microsoft.com/office/drawing/2014/main" id="{A6459509-98EA-C559-23B6-29F5952FC1FB}"/>
              </a:ext>
            </a:extLst>
          </p:cNvPr>
          <p:cNvPicPr>
            <a:picLocks noChangeAspect="1"/>
          </p:cNvPicPr>
          <p:nvPr/>
        </p:nvPicPr>
        <p:blipFill>
          <a:blip r:embed="rId8"/>
          <a:stretch>
            <a:fillRect/>
          </a:stretch>
        </p:blipFill>
        <p:spPr>
          <a:xfrm>
            <a:off x="7333550" y="168293"/>
            <a:ext cx="5617845" cy="6858000"/>
          </a:xfrm>
          <a:prstGeom prst="rect">
            <a:avLst/>
          </a:prstGeom>
        </p:spPr>
      </p:pic>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a:solidFill>
                  <a:srgbClr val="111111"/>
                </a:solidFill>
                <a:latin typeface="Arial" pitchFamily="34" charset="0"/>
                <a:ea typeface="Arial" pitchFamily="34" charset="-122"/>
                <a:cs typeface="Arial" pitchFamily="34" charset="-120"/>
              </a:rPr>
              <a:t>03</a:t>
            </a:r>
            <a:endParaRPr lang="en-US" sz="2200"/>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a:solidFill>
                  <a:srgbClr val="111111"/>
                </a:solidFill>
                <a:latin typeface="Arial" pitchFamily="34" charset="0"/>
                <a:ea typeface="Arial" pitchFamily="34" charset="-122"/>
                <a:cs typeface="Arial" pitchFamily="34" charset="-120"/>
              </a:rPr>
              <a:t>TECHNICAL APPROACH</a:t>
            </a:r>
            <a:endParaRPr lang="en-US" sz="3600"/>
          </a:p>
        </p:txBody>
      </p:sp>
      <p:sp>
        <p:nvSpPr>
          <p:cNvPr id="19" name="Shape 16"/>
          <p:cNvSpPr/>
          <p:nvPr/>
        </p:nvSpPr>
        <p:spPr>
          <a:xfrm>
            <a:off x="547987" y="1626761"/>
            <a:ext cx="685800" cy="685800"/>
          </a:xfrm>
          <a:prstGeom prst="ellipse">
            <a:avLst/>
          </a:prstGeom>
          <a:solidFill>
            <a:srgbClr val="B7FF00"/>
          </a:solidFill>
          <a:ln w="12700">
            <a:noFill/>
            <a:prstDash val="solid"/>
          </a:ln>
        </p:spPr>
        <p:txBody>
          <a:bodyPr/>
          <a:lstStyle/>
          <a:p>
            <a:endParaRPr lang="en-IT"/>
          </a:p>
        </p:txBody>
      </p:sp>
      <p:pic>
        <p:nvPicPr>
          <p:cNvPr id="20" name="Image 1" descr="preencoded.png"/>
          <p:cNvPicPr>
            <a:picLocks noChangeAspect="1"/>
          </p:cNvPicPr>
          <p:nvPr/>
        </p:nvPicPr>
        <p:blipFill>
          <a:blip r:embed="rId9"/>
          <a:stretch>
            <a:fillRect/>
          </a:stretch>
        </p:blipFill>
        <p:spPr>
          <a:xfrm>
            <a:off x="719437" y="1798211"/>
            <a:ext cx="342900" cy="342900"/>
          </a:xfrm>
          <a:prstGeom prst="rect">
            <a:avLst/>
          </a:prstGeom>
        </p:spPr>
      </p:pic>
      <p:sp>
        <p:nvSpPr>
          <p:cNvPr id="21" name="Text 17"/>
          <p:cNvSpPr txBox="1"/>
          <p:nvPr/>
        </p:nvSpPr>
        <p:spPr>
          <a:xfrm>
            <a:off x="1416667" y="1626761"/>
            <a:ext cx="4206240" cy="347472"/>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Start unit</a:t>
            </a:r>
            <a:endParaRPr lang="en-US" sz="1600"/>
          </a:p>
        </p:txBody>
      </p:sp>
      <p:sp>
        <p:nvSpPr>
          <p:cNvPr id="22" name="Text 18"/>
          <p:cNvSpPr txBox="1"/>
          <p:nvPr/>
        </p:nvSpPr>
        <p:spPr>
          <a:xfrm>
            <a:off x="1416667" y="1992521"/>
            <a:ext cx="4206240" cy="777240"/>
          </a:xfrm>
          <a:prstGeom prst="rect">
            <a:avLst/>
          </a:prstGeom>
          <a:noFill/>
          <a:ln/>
        </p:spPr>
        <p:txBody>
          <a:bodyPr wrap="square" lIns="0" tIns="0" rIns="0" bIns="0" rtlCol="0" anchor="t"/>
          <a:lstStyle/>
          <a:p>
            <a:r>
              <a:rPr lang="en-US" sz="1250" dirty="0">
                <a:solidFill>
                  <a:srgbClr val="333333"/>
                </a:solidFill>
                <a:latin typeface="Arial"/>
                <a:ea typeface="Arial" pitchFamily="34" charset="-122"/>
                <a:cs typeface="Arial"/>
              </a:rPr>
              <a:t>ESP32-C3 + BMI270 at 804 Hz: 1 sample = 1.2 ms, each one stamped in an interrupt</a:t>
            </a:r>
          </a:p>
        </p:txBody>
      </p:sp>
      <p:sp>
        <p:nvSpPr>
          <p:cNvPr id="23" name="Shape 19"/>
          <p:cNvSpPr/>
          <p:nvPr/>
        </p:nvSpPr>
        <p:spPr>
          <a:xfrm>
            <a:off x="547987" y="2842913"/>
            <a:ext cx="685800" cy="685800"/>
          </a:xfrm>
          <a:prstGeom prst="ellipse">
            <a:avLst/>
          </a:prstGeom>
          <a:solidFill>
            <a:srgbClr val="B7FF00"/>
          </a:solidFill>
          <a:ln w="12700">
            <a:noFill/>
            <a:prstDash val="solid"/>
          </a:ln>
        </p:spPr>
        <p:txBody>
          <a:bodyPr/>
          <a:lstStyle/>
          <a:p>
            <a:endParaRPr lang="en-IT"/>
          </a:p>
        </p:txBody>
      </p:sp>
      <p:pic>
        <p:nvPicPr>
          <p:cNvPr id="24" name="Image 2" descr="preencoded.png"/>
          <p:cNvPicPr>
            <a:picLocks noChangeAspect="1"/>
          </p:cNvPicPr>
          <p:nvPr/>
        </p:nvPicPr>
        <p:blipFill>
          <a:blip r:embed="rId10"/>
          <a:stretch>
            <a:fillRect/>
          </a:stretch>
        </p:blipFill>
        <p:spPr>
          <a:xfrm>
            <a:off x="719437" y="3014363"/>
            <a:ext cx="342900" cy="342900"/>
          </a:xfrm>
          <a:prstGeom prst="rect">
            <a:avLst/>
          </a:prstGeom>
        </p:spPr>
      </p:pic>
      <p:sp>
        <p:nvSpPr>
          <p:cNvPr id="25" name="Text 20"/>
          <p:cNvSpPr txBox="1"/>
          <p:nvPr/>
        </p:nvSpPr>
        <p:spPr>
          <a:xfrm>
            <a:off x="1416667" y="2842913"/>
            <a:ext cx="4206240" cy="347472"/>
          </a:xfrm>
          <a:prstGeom prst="rect">
            <a:avLst/>
          </a:prstGeom>
          <a:noFill/>
          <a:ln/>
        </p:spPr>
        <p:txBody>
          <a:bodyPr wrap="square" lIns="0" tIns="0" rIns="0" bIns="0" rtlCol="0" anchor="t"/>
          <a:lstStyle/>
          <a:p>
            <a:pPr marL="0" indent="0">
              <a:buNone/>
            </a:pPr>
            <a:r>
              <a:rPr lang="en-US" sz="1600" b="1" dirty="0">
                <a:solidFill>
                  <a:srgbClr val="111111"/>
                </a:solidFill>
                <a:latin typeface="Arial" pitchFamily="34" charset="0"/>
                <a:ea typeface="Arial" pitchFamily="34" charset="-122"/>
                <a:cs typeface="Arial" pitchFamily="34" charset="-120"/>
              </a:rPr>
              <a:t>Two-stage onset detector</a:t>
            </a:r>
            <a:endParaRPr lang="en-US" sz="1600" dirty="0"/>
          </a:p>
        </p:txBody>
      </p:sp>
      <p:sp>
        <p:nvSpPr>
          <p:cNvPr id="26" name="Text 21"/>
          <p:cNvSpPr txBox="1"/>
          <p:nvPr/>
        </p:nvSpPr>
        <p:spPr>
          <a:xfrm>
            <a:off x="1416667" y="3208673"/>
            <a:ext cx="4206240" cy="777240"/>
          </a:xfrm>
          <a:prstGeom prst="rect">
            <a:avLst/>
          </a:prstGeom>
          <a:noFill/>
          <a:ln/>
        </p:spPr>
        <p:txBody>
          <a:bodyPr wrap="square" lIns="0" tIns="0" rIns="0" bIns="0" rtlCol="0" anchor="t"/>
          <a:lstStyle/>
          <a:p>
            <a:pPr marL="342900" indent="-342900" algn="just">
              <a:buFont typeface="+mj-lt"/>
              <a:buAutoNum type="arabicPeriod"/>
            </a:pPr>
            <a:r>
              <a:rPr lang="en-US" sz="1250" dirty="0">
                <a:solidFill>
                  <a:srgbClr val="333333"/>
                </a:solidFill>
                <a:latin typeface="Arial"/>
                <a:ea typeface="Arial" pitchFamily="34" charset="-122"/>
                <a:cs typeface="Arial"/>
              </a:rPr>
              <a:t>STA/LTA trigger decides that a movement occurred</a:t>
            </a:r>
          </a:p>
          <a:p>
            <a:pPr marL="342900" indent="-342900">
              <a:buFont typeface="+mj-lt"/>
              <a:buAutoNum type="arabicPeriod"/>
            </a:pPr>
            <a:r>
              <a:rPr lang="en-US" sz="1250" dirty="0">
                <a:solidFill>
                  <a:srgbClr val="333333"/>
                </a:solidFill>
                <a:latin typeface="Arial"/>
                <a:ea typeface="Arial" pitchFamily="34" charset="-122"/>
                <a:cs typeface="Arial"/>
              </a:rPr>
              <a:t>AIC picker finds the exact sample: threshold-free</a:t>
            </a:r>
            <a:endParaRPr lang="en-US" sz="1250" dirty="0">
              <a:latin typeface="Arial"/>
              <a:cs typeface="Arial"/>
            </a:endParaRPr>
          </a:p>
        </p:txBody>
      </p:sp>
      <p:sp>
        <p:nvSpPr>
          <p:cNvPr id="27" name="Shape 22"/>
          <p:cNvSpPr/>
          <p:nvPr/>
        </p:nvSpPr>
        <p:spPr>
          <a:xfrm>
            <a:off x="547987" y="4059065"/>
            <a:ext cx="685800" cy="685800"/>
          </a:xfrm>
          <a:prstGeom prst="ellipse">
            <a:avLst/>
          </a:prstGeom>
          <a:solidFill>
            <a:srgbClr val="B7FF00"/>
          </a:solidFill>
          <a:ln w="12700">
            <a:noFill/>
            <a:prstDash val="solid"/>
          </a:ln>
        </p:spPr>
        <p:txBody>
          <a:bodyPr/>
          <a:lstStyle/>
          <a:p>
            <a:endParaRPr lang="en-IT"/>
          </a:p>
        </p:txBody>
      </p:sp>
      <p:pic>
        <p:nvPicPr>
          <p:cNvPr id="28" name="Image 3" descr="preencoded.png"/>
          <p:cNvPicPr>
            <a:picLocks noChangeAspect="1"/>
          </p:cNvPicPr>
          <p:nvPr/>
        </p:nvPicPr>
        <p:blipFill>
          <a:blip r:embed="rId11"/>
          <a:stretch>
            <a:fillRect/>
          </a:stretch>
        </p:blipFill>
        <p:spPr>
          <a:xfrm>
            <a:off x="719437" y="4230515"/>
            <a:ext cx="342900" cy="342900"/>
          </a:xfrm>
          <a:prstGeom prst="rect">
            <a:avLst/>
          </a:prstGeom>
        </p:spPr>
      </p:pic>
      <p:sp>
        <p:nvSpPr>
          <p:cNvPr id="29" name="Text 23"/>
          <p:cNvSpPr txBox="1"/>
          <p:nvPr/>
        </p:nvSpPr>
        <p:spPr>
          <a:xfrm>
            <a:off x="1416667" y="4059065"/>
            <a:ext cx="4206240" cy="347472"/>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Link to the finish</a:t>
            </a:r>
            <a:endParaRPr lang="en-US" sz="1600"/>
          </a:p>
        </p:txBody>
      </p:sp>
      <p:sp>
        <p:nvSpPr>
          <p:cNvPr id="30" name="Text 24"/>
          <p:cNvSpPr txBox="1"/>
          <p:nvPr/>
        </p:nvSpPr>
        <p:spPr>
          <a:xfrm>
            <a:off x="1416667" y="4424825"/>
            <a:ext cx="4206240" cy="777240"/>
          </a:xfrm>
          <a:prstGeom prst="rect">
            <a:avLst/>
          </a:prstGeom>
          <a:noFill/>
          <a:ln/>
        </p:spPr>
        <p:txBody>
          <a:bodyPr wrap="square" lIns="0" tIns="0" rIns="0" bIns="0" rtlCol="0" anchor="t"/>
          <a:lstStyle/>
          <a:p>
            <a:r>
              <a:rPr lang="en-US" sz="1300" dirty="0">
                <a:solidFill>
                  <a:srgbClr val="333333"/>
                </a:solidFill>
                <a:latin typeface="Arial"/>
                <a:ea typeface="Arial" pitchFamily="34" charset="-122"/>
                <a:cs typeface="Arial"/>
              </a:rPr>
              <a:t>Start unit → BLE → phone (≈ 30 m); for 100 m, a second ESP32-C3 on long-range ESP-NOW</a:t>
            </a:r>
          </a:p>
        </p:txBody>
      </p:sp>
      <p:sp>
        <p:nvSpPr>
          <p:cNvPr id="31" name="Shape 25"/>
          <p:cNvSpPr/>
          <p:nvPr/>
        </p:nvSpPr>
        <p:spPr>
          <a:xfrm>
            <a:off x="547987" y="5275217"/>
            <a:ext cx="685800" cy="685800"/>
          </a:xfrm>
          <a:prstGeom prst="ellipse">
            <a:avLst/>
          </a:prstGeom>
          <a:solidFill>
            <a:srgbClr val="B7FF00"/>
          </a:solidFill>
          <a:ln w="12700">
            <a:noFill/>
            <a:prstDash val="solid"/>
          </a:ln>
        </p:spPr>
        <p:txBody>
          <a:bodyPr/>
          <a:lstStyle/>
          <a:p>
            <a:endParaRPr lang="en-IT"/>
          </a:p>
        </p:txBody>
      </p:sp>
      <p:pic>
        <p:nvPicPr>
          <p:cNvPr id="32" name="Image 4" descr="preencoded.png"/>
          <p:cNvPicPr>
            <a:picLocks noChangeAspect="1"/>
          </p:cNvPicPr>
          <p:nvPr/>
        </p:nvPicPr>
        <p:blipFill>
          <a:blip r:embed="rId12"/>
          <a:stretch>
            <a:fillRect/>
          </a:stretch>
        </p:blipFill>
        <p:spPr>
          <a:xfrm>
            <a:off x="719437" y="5446667"/>
            <a:ext cx="342900" cy="342900"/>
          </a:xfrm>
          <a:prstGeom prst="rect">
            <a:avLst/>
          </a:prstGeom>
        </p:spPr>
      </p:pic>
      <p:sp>
        <p:nvSpPr>
          <p:cNvPr id="33" name="Text 26"/>
          <p:cNvSpPr txBox="1"/>
          <p:nvPr/>
        </p:nvSpPr>
        <p:spPr>
          <a:xfrm>
            <a:off x="1416667" y="5275217"/>
            <a:ext cx="4206240" cy="347472"/>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Photo finish</a:t>
            </a:r>
            <a:endParaRPr lang="en-US" sz="1600"/>
          </a:p>
        </p:txBody>
      </p:sp>
      <p:sp>
        <p:nvSpPr>
          <p:cNvPr id="34" name="Text 27"/>
          <p:cNvSpPr txBox="1"/>
          <p:nvPr/>
        </p:nvSpPr>
        <p:spPr>
          <a:xfrm>
            <a:off x="1416666" y="5640977"/>
            <a:ext cx="4206239" cy="777240"/>
          </a:xfrm>
          <a:prstGeom prst="rect">
            <a:avLst/>
          </a:prstGeom>
          <a:noFill/>
          <a:ln/>
        </p:spPr>
        <p:txBody>
          <a:bodyPr wrap="square" lIns="0" tIns="0" rIns="0" bIns="0" rtlCol="0" anchor="t"/>
          <a:lstStyle/>
          <a:p>
            <a:pPr marL="0" indent="0" algn="just">
              <a:buNone/>
            </a:pPr>
            <a:r>
              <a:rPr lang="en-US" sz="1250" dirty="0">
                <a:solidFill>
                  <a:srgbClr val="333333"/>
                </a:solidFill>
                <a:latin typeface="Arial" pitchFamily="34" charset="0"/>
                <a:ea typeface="Arial" pitchFamily="34" charset="-122"/>
                <a:cs typeface="Arial" pitchFamily="34" charset="-120"/>
              </a:rPr>
              <a:t>Synced clocks + on-device AI find the</a:t>
            </a:r>
          </a:p>
          <a:p>
            <a:pPr marL="0" indent="0" algn="just">
              <a:buNone/>
            </a:pPr>
            <a:r>
              <a:rPr lang="en-US" sz="1250" dirty="0">
                <a:solidFill>
                  <a:srgbClr val="333333"/>
                </a:solidFill>
                <a:latin typeface="Arial"/>
                <a:ea typeface="Arial" pitchFamily="34" charset="-122"/>
                <a:cs typeface="Arial"/>
              </a:rPr>
              <a:t>chest crossing: t(finish) – t(go)</a:t>
            </a:r>
          </a:p>
        </p:txBody>
      </p:sp>
      <p:pic>
        <p:nvPicPr>
          <p:cNvPr id="6" name="Picture 5">
            <a:extLst>
              <a:ext uri="{FF2B5EF4-FFF2-40B4-BE49-F238E27FC236}">
                <a16:creationId xmlns:a16="http://schemas.microsoft.com/office/drawing/2014/main" id="{B741609D-8B20-3D17-5778-7E5548B6C8E3}"/>
              </a:ext>
            </a:extLst>
          </p:cNvPr>
          <p:cNvPicPr>
            <a:picLocks noChangeAspect="1"/>
          </p:cNvPicPr>
          <p:nvPr/>
        </p:nvPicPr>
        <p:blipFill>
          <a:blip r:embed="rId13"/>
          <a:srcRect/>
          <a:stretch>
            <a:fillRect/>
          </a:stretch>
        </p:blipFill>
        <p:spPr>
          <a:xfrm>
            <a:off x="4774223" y="4516919"/>
            <a:ext cx="2862328" cy="21428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a:solidFill>
                  <a:srgbClr val="111111"/>
                </a:solidFill>
                <a:latin typeface="Arial" pitchFamily="34" charset="0"/>
                <a:ea typeface="Arial" pitchFamily="34" charset="-122"/>
                <a:cs typeface="Arial" pitchFamily="34" charset="-120"/>
              </a:rPr>
              <a:t>05</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a:solidFill>
                  <a:srgbClr val="111111"/>
                </a:solidFill>
                <a:latin typeface="Arial" pitchFamily="34" charset="0"/>
                <a:ea typeface="Arial" pitchFamily="34" charset="-122"/>
                <a:cs typeface="Arial" pitchFamily="34" charset="-120"/>
              </a:rPr>
              <a:t>USER INTERACTION</a:t>
            </a:r>
            <a:endParaRPr lang="en-US" sz="3600"/>
          </a:p>
        </p:txBody>
      </p:sp>
      <p:sp>
        <p:nvSpPr>
          <p:cNvPr id="5" name="Shape 3"/>
          <p:cNvSpPr/>
          <p:nvPr/>
        </p:nvSpPr>
        <p:spPr>
          <a:xfrm>
            <a:off x="548640" y="1371600"/>
            <a:ext cx="548640" cy="548640"/>
          </a:xfrm>
          <a:prstGeom prst="ellipse">
            <a:avLst/>
          </a:prstGeom>
          <a:solidFill>
            <a:srgbClr val="111111"/>
          </a:solidFill>
          <a:ln w="12700">
            <a:solidFill>
              <a:srgbClr val="111111"/>
            </a:solidFill>
            <a:prstDash val="solid"/>
          </a:ln>
        </p:spPr>
        <p:txBody>
          <a:bodyPr/>
          <a:lstStyle/>
          <a:p>
            <a:endParaRPr lang="en-IT"/>
          </a:p>
        </p:txBody>
      </p:sp>
      <p:sp>
        <p:nvSpPr>
          <p:cNvPr id="6" name="Text 4"/>
          <p:cNvSpPr txBox="1"/>
          <p:nvPr/>
        </p:nvSpPr>
        <p:spPr>
          <a:xfrm>
            <a:off x="548640" y="1371600"/>
            <a:ext cx="548640" cy="548640"/>
          </a:xfrm>
          <a:prstGeom prst="rect">
            <a:avLst/>
          </a:prstGeom>
          <a:noFill/>
          <a:ln/>
        </p:spPr>
        <p:txBody>
          <a:bodyPr wrap="square" lIns="0" tIns="0" rIns="0" bIns="0" rtlCol="0" anchor="ctr"/>
          <a:lstStyle/>
          <a:p>
            <a:pPr marL="0" indent="0" algn="ctr">
              <a:buNone/>
            </a:pPr>
            <a:r>
              <a:rPr lang="en-US" sz="1800" b="1" i="1">
                <a:solidFill>
                  <a:srgbClr val="B7FF00"/>
                </a:solidFill>
                <a:latin typeface="Arial"/>
                <a:ea typeface="Arial" pitchFamily="34" charset="-122"/>
                <a:cs typeface="Arial"/>
              </a:rPr>
              <a:t>1</a:t>
            </a:r>
            <a:endParaRPr lang="en-US" sz="1800">
              <a:solidFill>
                <a:srgbClr val="B7FF00"/>
              </a:solidFill>
              <a:latin typeface="Arial"/>
              <a:ea typeface="Calibri"/>
              <a:cs typeface="Arial"/>
            </a:endParaRPr>
          </a:p>
        </p:txBody>
      </p:sp>
      <p:sp>
        <p:nvSpPr>
          <p:cNvPr id="7" name="Shape 5"/>
          <p:cNvSpPr/>
          <p:nvPr/>
        </p:nvSpPr>
        <p:spPr>
          <a:xfrm>
            <a:off x="822960" y="1938528"/>
            <a:ext cx="0" cy="219456"/>
          </a:xfrm>
          <a:prstGeom prst="line">
            <a:avLst/>
          </a:prstGeom>
          <a:noFill/>
          <a:ln w="19050">
            <a:solidFill>
              <a:srgbClr val="BDBDBD"/>
            </a:solidFill>
            <a:prstDash val="solid"/>
          </a:ln>
        </p:spPr>
        <p:txBody>
          <a:bodyPr/>
          <a:lstStyle/>
          <a:p>
            <a:endParaRPr lang="en-IT"/>
          </a:p>
        </p:txBody>
      </p:sp>
      <p:sp>
        <p:nvSpPr>
          <p:cNvPr id="8" name="Text 6"/>
          <p:cNvSpPr txBox="1"/>
          <p:nvPr/>
        </p:nvSpPr>
        <p:spPr>
          <a:xfrm>
            <a:off x="1325880" y="1353312"/>
            <a:ext cx="56692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Mount</a:t>
            </a:r>
            <a:endParaRPr lang="en-US" sz="1600"/>
          </a:p>
        </p:txBody>
      </p:sp>
      <p:sp>
        <p:nvSpPr>
          <p:cNvPr id="9" name="Text 7"/>
          <p:cNvSpPr txBox="1"/>
          <p:nvPr/>
        </p:nvSpPr>
        <p:spPr>
          <a:xfrm>
            <a:off x="1325880" y="1664208"/>
            <a:ext cx="5669280" cy="274320"/>
          </a:xfrm>
          <a:prstGeom prst="rect">
            <a:avLst/>
          </a:prstGeom>
          <a:noFill/>
          <a:ln/>
        </p:spPr>
        <p:txBody>
          <a:bodyPr wrap="square" lIns="0" tIns="0" rIns="0" bIns="0" rtlCol="0" anchor="t"/>
          <a:lstStyle/>
          <a:p>
            <a:pPr marL="0" indent="0" algn="just">
              <a:buNone/>
            </a:pPr>
            <a:r>
              <a:rPr lang="en-US" sz="1250">
                <a:solidFill>
                  <a:srgbClr val="6B6B6B"/>
                </a:solidFill>
                <a:latin typeface="Arial" pitchFamily="34" charset="0"/>
                <a:ea typeface="Arial" pitchFamily="34" charset="-122"/>
                <a:cs typeface="Arial" pitchFamily="34" charset="-120"/>
              </a:rPr>
              <a:t>Clip the box on the back of any starting block</a:t>
            </a:r>
            <a:endParaRPr lang="en-US" sz="1250">
              <a:ea typeface="Calibri" panose="020F0502020204030204"/>
              <a:cs typeface="Calibri" panose="020F0502020204030204"/>
            </a:endParaRPr>
          </a:p>
        </p:txBody>
      </p:sp>
      <p:sp>
        <p:nvSpPr>
          <p:cNvPr id="10" name="Shape 8"/>
          <p:cNvSpPr/>
          <p:nvPr/>
        </p:nvSpPr>
        <p:spPr>
          <a:xfrm>
            <a:off x="548640" y="2176272"/>
            <a:ext cx="548640" cy="548640"/>
          </a:xfrm>
          <a:prstGeom prst="ellipse">
            <a:avLst/>
          </a:prstGeom>
          <a:solidFill>
            <a:srgbClr val="111111"/>
          </a:solidFill>
          <a:ln w="12700">
            <a:solidFill>
              <a:srgbClr val="111111"/>
            </a:solidFill>
            <a:prstDash val="solid"/>
          </a:ln>
        </p:spPr>
        <p:txBody>
          <a:bodyPr/>
          <a:lstStyle/>
          <a:p>
            <a:endParaRPr lang="en-IT"/>
          </a:p>
        </p:txBody>
      </p:sp>
      <p:sp>
        <p:nvSpPr>
          <p:cNvPr id="11" name="Text 9"/>
          <p:cNvSpPr txBox="1"/>
          <p:nvPr/>
        </p:nvSpPr>
        <p:spPr>
          <a:xfrm>
            <a:off x="548640" y="2176272"/>
            <a:ext cx="548640" cy="548640"/>
          </a:xfrm>
          <a:prstGeom prst="rect">
            <a:avLst/>
          </a:prstGeom>
          <a:noFill/>
          <a:ln/>
        </p:spPr>
        <p:txBody>
          <a:bodyPr wrap="square" lIns="0" tIns="0" rIns="0" bIns="0" rtlCol="0" anchor="ctr"/>
          <a:lstStyle/>
          <a:p>
            <a:pPr marL="0" indent="0" algn="ctr">
              <a:buNone/>
            </a:pPr>
            <a:r>
              <a:rPr lang="en-US" sz="1800" b="1" i="1">
                <a:solidFill>
                  <a:srgbClr val="B7FF00"/>
                </a:solidFill>
                <a:latin typeface="Arial"/>
                <a:ea typeface="Arial" pitchFamily="34" charset="-122"/>
                <a:cs typeface="Arial"/>
              </a:rPr>
              <a:t>2</a:t>
            </a:r>
            <a:endParaRPr lang="en-US" sz="1800">
              <a:solidFill>
                <a:srgbClr val="B7FF00"/>
              </a:solidFill>
              <a:latin typeface="Arial"/>
              <a:ea typeface="Calibri"/>
              <a:cs typeface="Arial"/>
            </a:endParaRPr>
          </a:p>
        </p:txBody>
      </p:sp>
      <p:sp>
        <p:nvSpPr>
          <p:cNvPr id="12" name="Shape 10"/>
          <p:cNvSpPr/>
          <p:nvPr/>
        </p:nvSpPr>
        <p:spPr>
          <a:xfrm>
            <a:off x="822960" y="2743200"/>
            <a:ext cx="0" cy="219456"/>
          </a:xfrm>
          <a:prstGeom prst="line">
            <a:avLst/>
          </a:prstGeom>
          <a:noFill/>
          <a:ln w="19050">
            <a:solidFill>
              <a:srgbClr val="BDBDBD"/>
            </a:solidFill>
            <a:prstDash val="solid"/>
          </a:ln>
        </p:spPr>
        <p:txBody>
          <a:bodyPr/>
          <a:lstStyle/>
          <a:p>
            <a:endParaRPr lang="en-IT"/>
          </a:p>
        </p:txBody>
      </p:sp>
      <p:sp>
        <p:nvSpPr>
          <p:cNvPr id="13" name="Text 11"/>
          <p:cNvSpPr txBox="1"/>
          <p:nvPr/>
        </p:nvSpPr>
        <p:spPr>
          <a:xfrm>
            <a:off x="1325880" y="2157984"/>
            <a:ext cx="56692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Press</a:t>
            </a:r>
            <a:endParaRPr lang="en-US" sz="1600"/>
          </a:p>
        </p:txBody>
      </p:sp>
      <p:sp>
        <p:nvSpPr>
          <p:cNvPr id="14" name="Text 12"/>
          <p:cNvSpPr txBox="1"/>
          <p:nvPr/>
        </p:nvSpPr>
        <p:spPr>
          <a:xfrm>
            <a:off x="1325880" y="2468880"/>
            <a:ext cx="5669280" cy="274320"/>
          </a:xfrm>
          <a:prstGeom prst="rect">
            <a:avLst/>
          </a:prstGeom>
          <a:noFill/>
          <a:ln/>
        </p:spPr>
        <p:txBody>
          <a:bodyPr wrap="square" lIns="0" tIns="0" rIns="0" bIns="0" rtlCol="0" anchor="t"/>
          <a:lstStyle/>
          <a:p>
            <a:pPr marL="0" indent="0" algn="just">
              <a:buNone/>
            </a:pPr>
            <a:r>
              <a:rPr lang="en-US" sz="1250">
                <a:solidFill>
                  <a:srgbClr val="6B6B6B"/>
                </a:solidFill>
                <a:latin typeface="Arial" pitchFamily="34" charset="0"/>
                <a:ea typeface="Arial" pitchFamily="34" charset="-122"/>
                <a:cs typeface="Arial" pitchFamily="34" charset="-120"/>
              </a:rPr>
              <a:t>One button starts the sequence</a:t>
            </a:r>
            <a:endParaRPr lang="en-US" sz="1250"/>
          </a:p>
        </p:txBody>
      </p:sp>
      <p:sp>
        <p:nvSpPr>
          <p:cNvPr id="15" name="Shape 13"/>
          <p:cNvSpPr/>
          <p:nvPr/>
        </p:nvSpPr>
        <p:spPr>
          <a:xfrm>
            <a:off x="548640" y="2980944"/>
            <a:ext cx="548640" cy="548640"/>
          </a:xfrm>
          <a:prstGeom prst="ellipse">
            <a:avLst/>
          </a:prstGeom>
          <a:solidFill>
            <a:srgbClr val="111111"/>
          </a:solidFill>
          <a:ln w="12700">
            <a:solidFill>
              <a:srgbClr val="111111"/>
            </a:solidFill>
            <a:prstDash val="solid"/>
          </a:ln>
        </p:spPr>
        <p:txBody>
          <a:bodyPr/>
          <a:lstStyle/>
          <a:p>
            <a:endParaRPr lang="en-IT"/>
          </a:p>
        </p:txBody>
      </p:sp>
      <p:sp>
        <p:nvSpPr>
          <p:cNvPr id="16" name="Text 14"/>
          <p:cNvSpPr txBox="1"/>
          <p:nvPr/>
        </p:nvSpPr>
        <p:spPr>
          <a:xfrm>
            <a:off x="548640" y="2980944"/>
            <a:ext cx="548640" cy="548640"/>
          </a:xfrm>
          <a:prstGeom prst="rect">
            <a:avLst/>
          </a:prstGeom>
          <a:noFill/>
          <a:ln/>
        </p:spPr>
        <p:txBody>
          <a:bodyPr wrap="square" lIns="0" tIns="0" rIns="0" bIns="0" rtlCol="0" anchor="ctr"/>
          <a:lstStyle/>
          <a:p>
            <a:pPr marL="0" indent="0" algn="ctr">
              <a:buNone/>
            </a:pPr>
            <a:r>
              <a:rPr lang="en-US" sz="1800" b="1" i="1">
                <a:solidFill>
                  <a:srgbClr val="B7FF00"/>
                </a:solidFill>
                <a:latin typeface="Arial"/>
                <a:ea typeface="Arial" pitchFamily="34" charset="-122"/>
                <a:cs typeface="Arial"/>
              </a:rPr>
              <a:t>3</a:t>
            </a:r>
            <a:endParaRPr lang="en-US" sz="1800">
              <a:solidFill>
                <a:srgbClr val="B7FF00"/>
              </a:solidFill>
              <a:latin typeface="Arial"/>
              <a:ea typeface="Calibri"/>
              <a:cs typeface="Arial"/>
            </a:endParaRPr>
          </a:p>
        </p:txBody>
      </p:sp>
      <p:sp>
        <p:nvSpPr>
          <p:cNvPr id="17" name="Shape 15"/>
          <p:cNvSpPr/>
          <p:nvPr/>
        </p:nvSpPr>
        <p:spPr>
          <a:xfrm>
            <a:off x="822960" y="3547872"/>
            <a:ext cx="0" cy="219456"/>
          </a:xfrm>
          <a:prstGeom prst="line">
            <a:avLst/>
          </a:prstGeom>
          <a:noFill/>
          <a:ln w="19050">
            <a:solidFill>
              <a:srgbClr val="BDBDBD"/>
            </a:solidFill>
            <a:prstDash val="solid"/>
          </a:ln>
        </p:spPr>
        <p:txBody>
          <a:bodyPr/>
          <a:lstStyle/>
          <a:p>
            <a:endParaRPr lang="en-IT"/>
          </a:p>
        </p:txBody>
      </p:sp>
      <p:sp>
        <p:nvSpPr>
          <p:cNvPr id="18" name="Text 16"/>
          <p:cNvSpPr txBox="1"/>
          <p:nvPr/>
        </p:nvSpPr>
        <p:spPr>
          <a:xfrm>
            <a:off x="1325880" y="2962656"/>
            <a:ext cx="5669280" cy="320040"/>
          </a:xfrm>
          <a:prstGeom prst="rect">
            <a:avLst/>
          </a:prstGeom>
          <a:noFill/>
          <a:ln/>
        </p:spPr>
        <p:txBody>
          <a:bodyPr wrap="square" lIns="0" tIns="0" rIns="0" bIns="0" rtlCol="0" anchor="t"/>
          <a:lstStyle/>
          <a:p>
            <a:r>
              <a:rPr lang="en-US" sz="1600" b="1">
                <a:solidFill>
                  <a:srgbClr val="111111"/>
                </a:solidFill>
                <a:latin typeface="Arial"/>
                <a:ea typeface="Arial" pitchFamily="34" charset="-122"/>
                <a:cs typeface="Arial"/>
              </a:rPr>
              <a:t>“On your marks”,  “Set”</a:t>
            </a:r>
            <a:endParaRPr lang="en-US" sz="1600">
              <a:latin typeface="Arial"/>
              <a:cs typeface="Arial"/>
            </a:endParaRPr>
          </a:p>
        </p:txBody>
      </p:sp>
      <p:sp>
        <p:nvSpPr>
          <p:cNvPr id="19" name="Text 17"/>
          <p:cNvSpPr txBox="1"/>
          <p:nvPr/>
        </p:nvSpPr>
        <p:spPr>
          <a:xfrm>
            <a:off x="1325880" y="3273552"/>
            <a:ext cx="5669280" cy="274320"/>
          </a:xfrm>
          <a:prstGeom prst="rect">
            <a:avLst/>
          </a:prstGeom>
          <a:noFill/>
          <a:ln/>
        </p:spPr>
        <p:txBody>
          <a:bodyPr wrap="square" lIns="0" tIns="0" rIns="0" bIns="0" rtlCol="0" anchor="t"/>
          <a:lstStyle/>
          <a:p>
            <a:pPr marL="0" indent="0" algn="just">
              <a:buNone/>
            </a:pPr>
            <a:r>
              <a:rPr lang="en-US" sz="1250" dirty="0">
                <a:solidFill>
                  <a:srgbClr val="6B6B6B"/>
                </a:solidFill>
                <a:latin typeface="Arial" pitchFamily="34" charset="0"/>
                <a:ea typeface="Arial" pitchFamily="34" charset="-122"/>
                <a:cs typeface="Arial" pitchFamily="34" charset="-120"/>
              </a:rPr>
              <a:t>Two beeps, like a real starter</a:t>
            </a:r>
            <a:endParaRPr lang="en-US" sz="1250" dirty="0"/>
          </a:p>
        </p:txBody>
      </p:sp>
      <p:sp>
        <p:nvSpPr>
          <p:cNvPr id="20" name="Shape 18"/>
          <p:cNvSpPr/>
          <p:nvPr/>
        </p:nvSpPr>
        <p:spPr>
          <a:xfrm>
            <a:off x="548640" y="3785616"/>
            <a:ext cx="548640" cy="548640"/>
          </a:xfrm>
          <a:prstGeom prst="ellipse">
            <a:avLst/>
          </a:prstGeom>
          <a:solidFill>
            <a:srgbClr val="111111"/>
          </a:solidFill>
          <a:ln w="12700">
            <a:solidFill>
              <a:srgbClr val="111111"/>
            </a:solidFill>
            <a:prstDash val="solid"/>
          </a:ln>
        </p:spPr>
        <p:txBody>
          <a:bodyPr/>
          <a:lstStyle/>
          <a:p>
            <a:endParaRPr lang="en-IT"/>
          </a:p>
        </p:txBody>
      </p:sp>
      <p:sp>
        <p:nvSpPr>
          <p:cNvPr id="21" name="Text 19"/>
          <p:cNvSpPr txBox="1"/>
          <p:nvPr/>
        </p:nvSpPr>
        <p:spPr>
          <a:xfrm>
            <a:off x="548640" y="3785616"/>
            <a:ext cx="548640" cy="548640"/>
          </a:xfrm>
          <a:prstGeom prst="rect">
            <a:avLst/>
          </a:prstGeom>
          <a:noFill/>
          <a:ln/>
        </p:spPr>
        <p:txBody>
          <a:bodyPr wrap="square" lIns="0" tIns="0" rIns="0" bIns="0" rtlCol="0" anchor="ctr"/>
          <a:lstStyle/>
          <a:p>
            <a:pPr marL="0" indent="0" algn="ctr">
              <a:buNone/>
            </a:pPr>
            <a:r>
              <a:rPr lang="en-US" sz="1800" b="1" i="1">
                <a:solidFill>
                  <a:srgbClr val="B7FF00"/>
                </a:solidFill>
                <a:latin typeface="Arial"/>
                <a:ea typeface="Arial" pitchFamily="34" charset="-122"/>
                <a:cs typeface="Arial"/>
              </a:rPr>
              <a:t>4</a:t>
            </a:r>
            <a:endParaRPr lang="en-US" sz="1800">
              <a:solidFill>
                <a:srgbClr val="B7FF00"/>
              </a:solidFill>
              <a:latin typeface="Arial"/>
              <a:ea typeface="Calibri"/>
              <a:cs typeface="Arial"/>
            </a:endParaRPr>
          </a:p>
        </p:txBody>
      </p:sp>
      <p:sp>
        <p:nvSpPr>
          <p:cNvPr id="22" name="Shape 20"/>
          <p:cNvSpPr/>
          <p:nvPr/>
        </p:nvSpPr>
        <p:spPr>
          <a:xfrm>
            <a:off x="822960" y="4352544"/>
            <a:ext cx="0" cy="219456"/>
          </a:xfrm>
          <a:prstGeom prst="line">
            <a:avLst/>
          </a:prstGeom>
          <a:noFill/>
          <a:ln w="19050">
            <a:solidFill>
              <a:srgbClr val="BDBDBD"/>
            </a:solidFill>
            <a:prstDash val="solid"/>
          </a:ln>
        </p:spPr>
        <p:txBody>
          <a:bodyPr/>
          <a:lstStyle/>
          <a:p>
            <a:endParaRPr lang="en-IT"/>
          </a:p>
        </p:txBody>
      </p:sp>
      <p:sp>
        <p:nvSpPr>
          <p:cNvPr id="23" name="Text 21"/>
          <p:cNvSpPr txBox="1"/>
          <p:nvPr/>
        </p:nvSpPr>
        <p:spPr>
          <a:xfrm>
            <a:off x="1325880" y="3767328"/>
            <a:ext cx="56692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“Go”</a:t>
            </a:r>
            <a:endParaRPr lang="en-US" sz="1600"/>
          </a:p>
        </p:txBody>
      </p:sp>
      <p:sp>
        <p:nvSpPr>
          <p:cNvPr id="24" name="Text 22"/>
          <p:cNvSpPr txBox="1"/>
          <p:nvPr/>
        </p:nvSpPr>
        <p:spPr>
          <a:xfrm>
            <a:off x="1325880" y="4078224"/>
            <a:ext cx="5669280" cy="274320"/>
          </a:xfrm>
          <a:prstGeom prst="rect">
            <a:avLst/>
          </a:prstGeom>
          <a:noFill/>
          <a:ln/>
        </p:spPr>
        <p:txBody>
          <a:bodyPr wrap="square" lIns="0" tIns="0" rIns="0" bIns="0" rtlCol="0" anchor="t"/>
          <a:lstStyle/>
          <a:p>
            <a:pPr marL="0" indent="0" algn="just">
              <a:buNone/>
            </a:pPr>
            <a:r>
              <a:rPr lang="en-US" sz="1250" dirty="0">
                <a:solidFill>
                  <a:srgbClr val="6B6B6B"/>
                </a:solidFill>
                <a:latin typeface="Arial" pitchFamily="34" charset="0"/>
                <a:ea typeface="Arial" pitchFamily="34" charset="-122"/>
                <a:cs typeface="Arial" pitchFamily="34" charset="-120"/>
              </a:rPr>
              <a:t>Fired at random 0.7–1.5 s after the athlete is still</a:t>
            </a:r>
            <a:endParaRPr lang="en-US" sz="1250" dirty="0"/>
          </a:p>
        </p:txBody>
      </p:sp>
      <p:sp>
        <p:nvSpPr>
          <p:cNvPr id="25" name="Shape 23"/>
          <p:cNvSpPr/>
          <p:nvPr/>
        </p:nvSpPr>
        <p:spPr>
          <a:xfrm>
            <a:off x="548640" y="4590288"/>
            <a:ext cx="548640" cy="548640"/>
          </a:xfrm>
          <a:prstGeom prst="ellipse">
            <a:avLst/>
          </a:prstGeom>
          <a:solidFill>
            <a:srgbClr val="B7FF00"/>
          </a:solidFill>
          <a:ln w="12700">
            <a:solidFill>
              <a:srgbClr val="B7FF00"/>
            </a:solidFill>
            <a:prstDash val="solid"/>
          </a:ln>
        </p:spPr>
        <p:txBody>
          <a:bodyPr/>
          <a:lstStyle/>
          <a:p>
            <a:endParaRPr lang="en-IT"/>
          </a:p>
        </p:txBody>
      </p:sp>
      <p:sp>
        <p:nvSpPr>
          <p:cNvPr id="26" name="Text 24"/>
          <p:cNvSpPr txBox="1"/>
          <p:nvPr/>
        </p:nvSpPr>
        <p:spPr>
          <a:xfrm>
            <a:off x="548640" y="4608009"/>
            <a:ext cx="548640" cy="548640"/>
          </a:xfrm>
          <a:prstGeom prst="rect">
            <a:avLst/>
          </a:prstGeom>
          <a:noFill/>
          <a:ln/>
        </p:spPr>
        <p:txBody>
          <a:bodyPr wrap="square" lIns="0" tIns="0" rIns="0" bIns="0" rtlCol="0" anchor="ctr"/>
          <a:lstStyle/>
          <a:p>
            <a:pPr marL="0" indent="0" algn="ctr">
              <a:buNone/>
            </a:pPr>
            <a:r>
              <a:rPr lang="en-US" sz="1800" b="1" i="1">
                <a:solidFill>
                  <a:srgbClr val="111111"/>
                </a:solidFill>
                <a:latin typeface="Arial" pitchFamily="34" charset="0"/>
                <a:ea typeface="Arial" pitchFamily="34" charset="-122"/>
                <a:cs typeface="Arial" pitchFamily="34" charset="-120"/>
              </a:rPr>
              <a:t>5</a:t>
            </a:r>
            <a:endParaRPr lang="en-US" sz="1800"/>
          </a:p>
        </p:txBody>
      </p:sp>
      <p:sp>
        <p:nvSpPr>
          <p:cNvPr id="27" name="Shape 25"/>
          <p:cNvSpPr/>
          <p:nvPr/>
        </p:nvSpPr>
        <p:spPr>
          <a:xfrm>
            <a:off x="822960" y="5157216"/>
            <a:ext cx="0" cy="219456"/>
          </a:xfrm>
          <a:prstGeom prst="line">
            <a:avLst/>
          </a:prstGeom>
          <a:noFill/>
          <a:ln w="19050">
            <a:solidFill>
              <a:srgbClr val="BDBDBD"/>
            </a:solidFill>
            <a:prstDash val="solid"/>
          </a:ln>
        </p:spPr>
        <p:txBody>
          <a:bodyPr/>
          <a:lstStyle/>
          <a:p>
            <a:endParaRPr lang="en-IT"/>
          </a:p>
        </p:txBody>
      </p:sp>
      <p:sp>
        <p:nvSpPr>
          <p:cNvPr id="28" name="Text 26"/>
          <p:cNvSpPr txBox="1"/>
          <p:nvPr/>
        </p:nvSpPr>
        <p:spPr>
          <a:xfrm>
            <a:off x="1325880" y="4572000"/>
            <a:ext cx="56692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Reaction time</a:t>
            </a:r>
            <a:endParaRPr lang="en-US" sz="1600"/>
          </a:p>
        </p:txBody>
      </p:sp>
      <p:sp>
        <p:nvSpPr>
          <p:cNvPr id="29" name="Text 27"/>
          <p:cNvSpPr txBox="1"/>
          <p:nvPr/>
        </p:nvSpPr>
        <p:spPr>
          <a:xfrm>
            <a:off x="1325880" y="4882896"/>
            <a:ext cx="5669280" cy="274320"/>
          </a:xfrm>
          <a:prstGeom prst="rect">
            <a:avLst/>
          </a:prstGeom>
          <a:noFill/>
          <a:ln/>
        </p:spPr>
        <p:txBody>
          <a:bodyPr wrap="square" lIns="0" tIns="0" rIns="0" bIns="0" rtlCol="0" anchor="t"/>
          <a:lstStyle/>
          <a:p>
            <a:pPr marL="0" indent="0" algn="just">
              <a:buNone/>
            </a:pPr>
            <a:r>
              <a:rPr lang="en-US" sz="1250" dirty="0">
                <a:solidFill>
                  <a:srgbClr val="6B6B6B"/>
                </a:solidFill>
                <a:latin typeface="Arial" pitchFamily="34" charset="0"/>
                <a:ea typeface="Arial" pitchFamily="34" charset="-122"/>
                <a:cs typeface="Arial" pitchFamily="34" charset="-120"/>
              </a:rPr>
              <a:t>Shown in the app. Moving within 100 </a:t>
            </a:r>
            <a:r>
              <a:rPr lang="en-US" sz="1250" dirty="0" err="1">
                <a:solidFill>
                  <a:srgbClr val="6B6B6B"/>
                </a:solidFill>
                <a:latin typeface="Arial" pitchFamily="34" charset="0"/>
                <a:ea typeface="Arial" pitchFamily="34" charset="-122"/>
                <a:cs typeface="Arial" pitchFamily="34" charset="-120"/>
              </a:rPr>
              <a:t>ms</a:t>
            </a:r>
            <a:r>
              <a:rPr lang="en-US" sz="1250" dirty="0">
                <a:solidFill>
                  <a:srgbClr val="6B6B6B"/>
                </a:solidFill>
                <a:latin typeface="Arial" pitchFamily="34" charset="0"/>
                <a:ea typeface="Arial" pitchFamily="34" charset="-122"/>
                <a:cs typeface="Arial" pitchFamily="34" charset="-120"/>
              </a:rPr>
              <a:t> of “go” is a false start</a:t>
            </a:r>
            <a:endParaRPr lang="en-US" sz="1250" dirty="0"/>
          </a:p>
        </p:txBody>
      </p:sp>
      <p:sp>
        <p:nvSpPr>
          <p:cNvPr id="30" name="Shape 28"/>
          <p:cNvSpPr/>
          <p:nvPr/>
        </p:nvSpPr>
        <p:spPr>
          <a:xfrm>
            <a:off x="548640" y="5394960"/>
            <a:ext cx="548640" cy="548640"/>
          </a:xfrm>
          <a:prstGeom prst="ellipse">
            <a:avLst/>
          </a:prstGeom>
          <a:solidFill>
            <a:srgbClr val="111111"/>
          </a:solidFill>
          <a:ln w="12700">
            <a:solidFill>
              <a:srgbClr val="111111"/>
            </a:solidFill>
            <a:prstDash val="solid"/>
          </a:ln>
        </p:spPr>
        <p:txBody>
          <a:bodyPr/>
          <a:lstStyle/>
          <a:p>
            <a:endParaRPr lang="en-IT"/>
          </a:p>
        </p:txBody>
      </p:sp>
      <p:sp>
        <p:nvSpPr>
          <p:cNvPr id="31" name="Text 29"/>
          <p:cNvSpPr txBox="1"/>
          <p:nvPr/>
        </p:nvSpPr>
        <p:spPr>
          <a:xfrm>
            <a:off x="548640" y="5394960"/>
            <a:ext cx="548640" cy="548640"/>
          </a:xfrm>
          <a:prstGeom prst="rect">
            <a:avLst/>
          </a:prstGeom>
          <a:noFill/>
          <a:ln/>
        </p:spPr>
        <p:txBody>
          <a:bodyPr wrap="square" lIns="0" tIns="0" rIns="0" bIns="0" rtlCol="0" anchor="ctr"/>
          <a:lstStyle/>
          <a:p>
            <a:pPr marL="0" indent="0" algn="ctr">
              <a:buNone/>
            </a:pPr>
            <a:r>
              <a:rPr lang="en-US" sz="1800" b="1" i="1">
                <a:solidFill>
                  <a:srgbClr val="B7FF00"/>
                </a:solidFill>
                <a:latin typeface="Arial"/>
                <a:ea typeface="Arial" pitchFamily="34" charset="-122"/>
                <a:cs typeface="Arial"/>
              </a:rPr>
              <a:t>6</a:t>
            </a:r>
            <a:endParaRPr lang="en-US" sz="1800">
              <a:solidFill>
                <a:srgbClr val="B7FF00"/>
              </a:solidFill>
              <a:latin typeface="Arial"/>
              <a:ea typeface="Calibri"/>
              <a:cs typeface="Arial"/>
            </a:endParaRPr>
          </a:p>
        </p:txBody>
      </p:sp>
      <p:sp>
        <p:nvSpPr>
          <p:cNvPr id="32" name="Text 30"/>
          <p:cNvSpPr txBox="1"/>
          <p:nvPr/>
        </p:nvSpPr>
        <p:spPr>
          <a:xfrm>
            <a:off x="1325880" y="5376672"/>
            <a:ext cx="5669280" cy="32004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Finish</a:t>
            </a:r>
            <a:endParaRPr lang="en-US" sz="1600"/>
          </a:p>
        </p:txBody>
      </p:sp>
      <p:sp>
        <p:nvSpPr>
          <p:cNvPr id="33" name="Text 31"/>
          <p:cNvSpPr txBox="1"/>
          <p:nvPr/>
        </p:nvSpPr>
        <p:spPr>
          <a:xfrm>
            <a:off x="1325880" y="5687568"/>
            <a:ext cx="5669280" cy="274320"/>
          </a:xfrm>
          <a:prstGeom prst="rect">
            <a:avLst/>
          </a:prstGeom>
          <a:noFill/>
          <a:ln/>
        </p:spPr>
        <p:txBody>
          <a:bodyPr wrap="square" lIns="0" tIns="0" rIns="0" bIns="0" rtlCol="0" anchor="t"/>
          <a:lstStyle/>
          <a:p>
            <a:pPr marL="0" indent="0" algn="just">
              <a:buNone/>
            </a:pPr>
            <a:r>
              <a:rPr lang="en-US" sz="1250">
                <a:solidFill>
                  <a:srgbClr val="6B6B6B"/>
                </a:solidFill>
                <a:latin typeface="Arial" pitchFamily="34" charset="0"/>
                <a:ea typeface="Arial" pitchFamily="34" charset="-122"/>
                <a:cs typeface="Arial" pitchFamily="34" charset="-120"/>
              </a:rPr>
              <a:t>Phone films the line, AI finds the torso crossing</a:t>
            </a:r>
            <a:endParaRPr lang="en-US" sz="1250"/>
          </a:p>
        </p:txBody>
      </p:sp>
      <p:pic>
        <p:nvPicPr>
          <p:cNvPr id="40" name="Picture 39">
            <a:extLst>
              <a:ext uri="{FF2B5EF4-FFF2-40B4-BE49-F238E27FC236}">
                <a16:creationId xmlns:a16="http://schemas.microsoft.com/office/drawing/2014/main" id="{7753E0D3-183A-0485-FC03-F40C05B62A2E}"/>
              </a:ext>
            </a:extLst>
          </p:cNvPr>
          <p:cNvPicPr>
            <a:picLocks noChangeAspect="1"/>
          </p:cNvPicPr>
          <p:nvPr/>
        </p:nvPicPr>
        <p:blipFill>
          <a:blip r:embed="rId3"/>
          <a:srcRect l="15072" r="15072"/>
          <a:stretch>
            <a:fillRect/>
          </a:stretch>
        </p:blipFill>
        <p:spPr>
          <a:xfrm>
            <a:off x="6096000" y="457200"/>
            <a:ext cx="6098779" cy="65478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a:solidFill>
                  <a:srgbClr val="111111"/>
                </a:solidFill>
                <a:latin typeface="Arial" pitchFamily="34" charset="0"/>
                <a:ea typeface="Arial" pitchFamily="34" charset="-122"/>
                <a:cs typeface="Arial" pitchFamily="34" charset="-120"/>
              </a:rPr>
              <a:t>04</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r>
              <a:rPr lang="en-US" sz="3600" b="1" i="1">
                <a:solidFill>
                  <a:srgbClr val="111111"/>
                </a:solidFill>
                <a:latin typeface="Arial"/>
                <a:ea typeface="Arial" pitchFamily="34" charset="-122"/>
                <a:cs typeface="Arial"/>
              </a:rPr>
              <a:t>HARDWARE:  FROM PROTOTYPE TO PCB</a:t>
            </a:r>
          </a:p>
        </p:txBody>
      </p:sp>
      <p:sp>
        <p:nvSpPr>
          <p:cNvPr id="6" name="Text 3"/>
          <p:cNvSpPr txBox="1"/>
          <p:nvPr/>
        </p:nvSpPr>
        <p:spPr>
          <a:xfrm>
            <a:off x="548640" y="5187461"/>
            <a:ext cx="5623560" cy="274320"/>
          </a:xfrm>
          <a:prstGeom prst="rect">
            <a:avLst/>
          </a:prstGeom>
          <a:noFill/>
          <a:ln/>
        </p:spPr>
        <p:txBody>
          <a:bodyPr wrap="square" lIns="0" tIns="0" rIns="0" bIns="0" rtlCol="0" anchor="t"/>
          <a:lstStyle/>
          <a:p>
            <a:pPr marL="0" indent="0">
              <a:buNone/>
            </a:pPr>
            <a:r>
              <a:rPr lang="en-US" sz="1100" dirty="0">
                <a:solidFill>
                  <a:srgbClr val="6B6B6B"/>
                </a:solidFill>
                <a:latin typeface="Arial" pitchFamily="34" charset="0"/>
                <a:ea typeface="Arial" pitchFamily="34" charset="-122"/>
                <a:cs typeface="Arial" pitchFamily="34" charset="-120"/>
              </a:rPr>
              <a:t>First prototype: breadboard on the back of a block</a:t>
            </a:r>
          </a:p>
        </p:txBody>
      </p:sp>
      <p:sp>
        <p:nvSpPr>
          <p:cNvPr id="7" name="Shape 4"/>
          <p:cNvSpPr/>
          <p:nvPr/>
        </p:nvSpPr>
        <p:spPr>
          <a:xfrm>
            <a:off x="6492240" y="1441939"/>
            <a:ext cx="5166360" cy="3613638"/>
          </a:xfrm>
          <a:prstGeom prst="roundRect">
            <a:avLst>
              <a:gd name="adj" fmla="val 2381"/>
            </a:avLst>
          </a:prstGeom>
          <a:solidFill>
            <a:srgbClr val="F3F3F3"/>
          </a:solidFill>
          <a:ln w="12700">
            <a:solidFill>
              <a:srgbClr val="F3F3F3"/>
            </a:solidFill>
            <a:prstDash val="solid"/>
          </a:ln>
        </p:spPr>
        <p:txBody>
          <a:bodyPr/>
          <a:lstStyle/>
          <a:p>
            <a:endParaRPr lang="en-IT"/>
          </a:p>
        </p:txBody>
      </p:sp>
      <p:pic>
        <p:nvPicPr>
          <p:cNvPr id="8" name="Image 1" descr="preencoded.png"/>
          <p:cNvPicPr>
            <a:picLocks noChangeAspect="1"/>
          </p:cNvPicPr>
          <p:nvPr/>
        </p:nvPicPr>
        <p:blipFill>
          <a:blip r:embed="rId3"/>
          <a:stretch>
            <a:fillRect/>
          </a:stretch>
        </p:blipFill>
        <p:spPr>
          <a:xfrm>
            <a:off x="6629400" y="1687316"/>
            <a:ext cx="4901184" cy="3026166"/>
          </a:xfrm>
          <a:prstGeom prst="rect">
            <a:avLst/>
          </a:prstGeom>
        </p:spPr>
      </p:pic>
      <p:sp>
        <p:nvSpPr>
          <p:cNvPr id="9" name="Text 5"/>
          <p:cNvSpPr txBox="1"/>
          <p:nvPr/>
        </p:nvSpPr>
        <p:spPr>
          <a:xfrm>
            <a:off x="6492240" y="5187461"/>
            <a:ext cx="5166360" cy="274320"/>
          </a:xfrm>
          <a:prstGeom prst="rect">
            <a:avLst/>
          </a:prstGeom>
          <a:noFill/>
          <a:ln/>
        </p:spPr>
        <p:txBody>
          <a:bodyPr wrap="square" lIns="0" tIns="0" rIns="0" bIns="0" rtlCol="0" anchor="t"/>
          <a:lstStyle/>
          <a:p>
            <a:pPr marL="0" indent="0">
              <a:buNone/>
            </a:pPr>
            <a:r>
              <a:rPr lang="en-US" sz="1100" dirty="0">
                <a:solidFill>
                  <a:srgbClr val="6B6B6B"/>
                </a:solidFill>
                <a:latin typeface="Arial" pitchFamily="34" charset="0"/>
                <a:ea typeface="Arial" pitchFamily="34" charset="-122"/>
                <a:cs typeface="Arial" pitchFamily="34" charset="-120"/>
              </a:rPr>
              <a:t>Now: two-layer PCB, 65.5 × 34 mm, one ESP32-C3</a:t>
            </a:r>
          </a:p>
        </p:txBody>
      </p:sp>
      <p:sp>
        <p:nvSpPr>
          <p:cNvPr id="10" name="Shape 6"/>
          <p:cNvSpPr/>
          <p:nvPr/>
        </p:nvSpPr>
        <p:spPr>
          <a:xfrm>
            <a:off x="548640" y="5760720"/>
            <a:ext cx="11109960" cy="594360"/>
          </a:xfrm>
          <a:prstGeom prst="roundRect">
            <a:avLst>
              <a:gd name="adj" fmla="val 15385"/>
            </a:avLst>
          </a:prstGeom>
          <a:solidFill>
            <a:srgbClr val="111111"/>
          </a:solidFill>
          <a:ln w="12700">
            <a:solidFill>
              <a:srgbClr val="111111"/>
            </a:solidFill>
            <a:prstDash val="solid"/>
          </a:ln>
        </p:spPr>
        <p:txBody>
          <a:bodyPr/>
          <a:lstStyle/>
          <a:p>
            <a:endParaRPr lang="en-IT"/>
          </a:p>
        </p:txBody>
      </p:sp>
      <p:sp>
        <p:nvSpPr>
          <p:cNvPr id="11" name="Text 7"/>
          <p:cNvSpPr txBox="1"/>
          <p:nvPr/>
        </p:nvSpPr>
        <p:spPr>
          <a:xfrm>
            <a:off x="777240" y="5760720"/>
            <a:ext cx="10698480" cy="594360"/>
          </a:xfrm>
          <a:prstGeom prst="rect">
            <a:avLst/>
          </a:prstGeom>
          <a:noFill/>
          <a:ln/>
        </p:spPr>
        <p:txBody>
          <a:bodyPr wrap="square" lIns="0" tIns="0" rIns="0" bIns="0" rtlCol="0" anchor="ctr"/>
          <a:lstStyle/>
          <a:p>
            <a:pPr marL="0" indent="0">
              <a:buNone/>
            </a:pPr>
            <a:r>
              <a:rPr lang="en-US" sz="1700" b="1" dirty="0">
                <a:solidFill>
                  <a:srgbClr val="B7FF00"/>
                </a:solidFill>
                <a:latin typeface="Arial"/>
                <a:ea typeface="Arial" pitchFamily="34" charset="-122"/>
                <a:cs typeface="Arial"/>
              </a:rPr>
              <a:t>From three microcontrollers to one: the ESP32-C3 samples, judges the start and talks to the phone.</a:t>
            </a:r>
          </a:p>
        </p:txBody>
      </p:sp>
      <p:sp>
        <p:nvSpPr>
          <p:cNvPr id="12" name="Shape 4">
            <a:extLst>
              <a:ext uri="{FF2B5EF4-FFF2-40B4-BE49-F238E27FC236}">
                <a16:creationId xmlns:a16="http://schemas.microsoft.com/office/drawing/2014/main" id="{E90FEF6D-7163-D5B3-8A58-1F145BEBA649}"/>
              </a:ext>
            </a:extLst>
          </p:cNvPr>
          <p:cNvSpPr/>
          <p:nvPr/>
        </p:nvSpPr>
        <p:spPr>
          <a:xfrm>
            <a:off x="548640" y="1441939"/>
            <a:ext cx="5166360" cy="3613638"/>
          </a:xfrm>
          <a:prstGeom prst="roundRect">
            <a:avLst>
              <a:gd name="adj" fmla="val 2381"/>
            </a:avLst>
          </a:prstGeom>
          <a:solidFill>
            <a:srgbClr val="F3F3F3"/>
          </a:solidFill>
          <a:ln w="12700">
            <a:solidFill>
              <a:srgbClr val="F3F3F3"/>
            </a:solidFill>
            <a:prstDash val="solid"/>
          </a:ln>
        </p:spPr>
        <p:txBody>
          <a:bodyPr/>
          <a:lstStyle/>
          <a:p>
            <a:endParaRPr lang="en-IT"/>
          </a:p>
        </p:txBody>
      </p:sp>
      <p:pic>
        <p:nvPicPr>
          <p:cNvPr id="5" name="Image 0" descr="preencoded.png"/>
          <p:cNvPicPr>
            <a:picLocks noChangeAspect="1"/>
          </p:cNvPicPr>
          <p:nvPr/>
        </p:nvPicPr>
        <p:blipFill>
          <a:blip r:embed="rId4"/>
          <a:stretch>
            <a:fillRect/>
          </a:stretch>
        </p:blipFill>
        <p:spPr>
          <a:xfrm>
            <a:off x="681982" y="1573823"/>
            <a:ext cx="4899675" cy="33481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a:noFill/>
          </a:ln>
        </p:spPr>
        <p:txBody>
          <a:bodyPr wrap="square" lIns="0" tIns="0" rIns="0" bIns="0" rtlCol="0" anchor="ctr"/>
          <a:lstStyle/>
          <a:p>
            <a:pPr marL="0" indent="0" algn="ctr">
              <a:buNone/>
            </a:pPr>
            <a:r>
              <a:rPr lang="en-US" sz="2200" b="1" i="1">
                <a:solidFill>
                  <a:srgbClr val="111111"/>
                </a:solidFill>
                <a:latin typeface="Arial"/>
                <a:cs typeface="Arial"/>
              </a:rPr>
              <a:t>07</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r>
              <a:rPr lang="en-US" sz="3600" b="1" i="1">
                <a:solidFill>
                  <a:srgbClr val="111111"/>
                </a:solidFill>
                <a:latin typeface="Arial"/>
                <a:ea typeface="Arial" pitchFamily="34" charset="-122"/>
                <a:cs typeface="Arial"/>
              </a:rPr>
              <a:t>RESULTS:  ONE REAL START</a:t>
            </a:r>
            <a:endParaRPr lang="en-US" sz="3600">
              <a:latin typeface="Arial"/>
              <a:cs typeface="Arial"/>
            </a:endParaRPr>
          </a:p>
        </p:txBody>
      </p:sp>
      <p:sp>
        <p:nvSpPr>
          <p:cNvPr id="5" name="Shape 3"/>
          <p:cNvSpPr/>
          <p:nvPr/>
        </p:nvSpPr>
        <p:spPr>
          <a:xfrm>
            <a:off x="548640" y="1280160"/>
            <a:ext cx="6462189" cy="4846320"/>
          </a:xfrm>
          <a:prstGeom prst="roundRect">
            <a:avLst>
              <a:gd name="adj" fmla="val 1887"/>
            </a:avLst>
          </a:prstGeom>
          <a:solidFill>
            <a:srgbClr val="F3F3F3"/>
          </a:solidFill>
          <a:ln w="12700">
            <a:solidFill>
              <a:srgbClr val="F3F3F3"/>
            </a:solidFill>
            <a:prstDash val="solid"/>
          </a:ln>
        </p:spPr>
        <p:txBody>
          <a:bodyPr/>
          <a:lstStyle/>
          <a:p>
            <a:endParaRPr lang="en-IT"/>
          </a:p>
        </p:txBody>
      </p:sp>
      <p:pic>
        <p:nvPicPr>
          <p:cNvPr id="6" name="Image 0" descr="preencoded.png"/>
          <p:cNvPicPr>
            <a:picLocks noChangeAspect="1"/>
          </p:cNvPicPr>
          <p:nvPr/>
        </p:nvPicPr>
        <p:blipFill>
          <a:blip r:embed="rId3"/>
          <a:stretch>
            <a:fillRect/>
          </a:stretch>
        </p:blipFill>
        <p:spPr>
          <a:xfrm>
            <a:off x="685799" y="1371600"/>
            <a:ext cx="6187869" cy="4663440"/>
          </a:xfrm>
          <a:prstGeom prst="rect">
            <a:avLst/>
          </a:prstGeom>
        </p:spPr>
      </p:pic>
      <p:sp>
        <p:nvSpPr>
          <p:cNvPr id="7" name="Text 4"/>
          <p:cNvSpPr txBox="1"/>
          <p:nvPr/>
        </p:nvSpPr>
        <p:spPr>
          <a:xfrm>
            <a:off x="548640" y="6217920"/>
            <a:ext cx="6462189" cy="274320"/>
          </a:xfrm>
          <a:prstGeom prst="rect">
            <a:avLst/>
          </a:prstGeom>
          <a:noFill/>
          <a:ln/>
        </p:spPr>
        <p:txBody>
          <a:bodyPr wrap="square" lIns="0" tIns="0" rIns="0" bIns="0" rtlCol="0" anchor="t"/>
          <a:lstStyle/>
          <a:p>
            <a:pPr marL="0" indent="0">
              <a:buNone/>
            </a:pPr>
            <a:r>
              <a:rPr lang="en-US" sz="1100">
                <a:solidFill>
                  <a:srgbClr val="6B6B6B"/>
                </a:solidFill>
                <a:latin typeface="Arial" pitchFamily="34" charset="0"/>
                <a:ea typeface="Arial" pitchFamily="34" charset="-122"/>
                <a:cs typeface="Arial" pitchFamily="34" charset="-120"/>
              </a:rPr>
              <a:t>First prototype · raw acceleration · horizontal magnitude · STA/LTA ratio</a:t>
            </a:r>
          </a:p>
        </p:txBody>
      </p:sp>
      <p:sp>
        <p:nvSpPr>
          <p:cNvPr id="8" name="Shape 5"/>
          <p:cNvSpPr/>
          <p:nvPr/>
        </p:nvSpPr>
        <p:spPr>
          <a:xfrm>
            <a:off x="7285149" y="1280160"/>
            <a:ext cx="4373451" cy="1463040"/>
          </a:xfrm>
          <a:prstGeom prst="roundRect">
            <a:avLst>
              <a:gd name="adj" fmla="val 6250"/>
            </a:avLst>
          </a:prstGeom>
          <a:solidFill>
            <a:srgbClr val="F3F3F3"/>
          </a:solidFill>
          <a:ln w="12700">
            <a:solidFill>
              <a:srgbClr val="F3F3F3"/>
            </a:solidFill>
            <a:prstDash val="solid"/>
          </a:ln>
        </p:spPr>
        <p:txBody>
          <a:bodyPr/>
          <a:lstStyle/>
          <a:p>
            <a:endParaRPr lang="en-IT"/>
          </a:p>
        </p:txBody>
      </p:sp>
      <p:sp>
        <p:nvSpPr>
          <p:cNvPr id="9" name="Text 6"/>
          <p:cNvSpPr txBox="1"/>
          <p:nvPr/>
        </p:nvSpPr>
        <p:spPr>
          <a:xfrm>
            <a:off x="7513749" y="1508760"/>
            <a:ext cx="3916251" cy="640080"/>
          </a:xfrm>
          <a:prstGeom prst="rect">
            <a:avLst/>
          </a:prstGeom>
          <a:noFill/>
          <a:ln/>
        </p:spPr>
        <p:txBody>
          <a:bodyPr wrap="square" lIns="0" tIns="0" rIns="0" bIns="0" rtlCol="0" anchor="t"/>
          <a:lstStyle/>
          <a:p>
            <a:pPr marL="0" indent="0">
              <a:buNone/>
            </a:pPr>
            <a:r>
              <a:rPr lang="en-US" sz="3400" b="1" i="1">
                <a:solidFill>
                  <a:srgbClr val="1FA84A"/>
                </a:solidFill>
                <a:latin typeface="Arial"/>
                <a:ea typeface="Arial" pitchFamily="34" charset="-122"/>
                <a:cs typeface="Arial"/>
              </a:rPr>
              <a:t>GO</a:t>
            </a:r>
            <a:endParaRPr lang="en-US" sz="3400">
              <a:solidFill>
                <a:srgbClr val="1FA84A"/>
              </a:solidFill>
              <a:latin typeface="Arial"/>
              <a:ea typeface="Calibri"/>
              <a:cs typeface="Calibri"/>
            </a:endParaRPr>
          </a:p>
        </p:txBody>
      </p:sp>
      <p:sp>
        <p:nvSpPr>
          <p:cNvPr id="10" name="Text 7"/>
          <p:cNvSpPr txBox="1"/>
          <p:nvPr/>
        </p:nvSpPr>
        <p:spPr>
          <a:xfrm>
            <a:off x="7513749" y="2148840"/>
            <a:ext cx="3916251" cy="594360"/>
          </a:xfrm>
          <a:prstGeom prst="rect">
            <a:avLst/>
          </a:prstGeom>
          <a:noFill/>
          <a:ln/>
        </p:spPr>
        <p:txBody>
          <a:bodyPr wrap="square" lIns="0" tIns="0" rIns="0" bIns="0" rtlCol="0" anchor="t"/>
          <a:lstStyle/>
          <a:p>
            <a:pPr marL="0" indent="0">
              <a:buNone/>
            </a:pPr>
            <a:r>
              <a:rPr lang="en-US" sz="1300">
                <a:solidFill>
                  <a:srgbClr val="111111"/>
                </a:solidFill>
                <a:latin typeface="Arial" pitchFamily="34" charset="0"/>
                <a:ea typeface="Arial" pitchFamily="34" charset="-122"/>
                <a:cs typeface="Arial" pitchFamily="34" charset="-120"/>
              </a:rPr>
              <a:t>Green line: the “go” beep, stamped by the 8 µs clock</a:t>
            </a:r>
            <a:endParaRPr lang="en-US" sz="1300"/>
          </a:p>
        </p:txBody>
      </p:sp>
      <p:sp>
        <p:nvSpPr>
          <p:cNvPr id="11" name="Shape 8"/>
          <p:cNvSpPr/>
          <p:nvPr/>
        </p:nvSpPr>
        <p:spPr>
          <a:xfrm>
            <a:off x="7285149" y="2971800"/>
            <a:ext cx="4373451" cy="1463040"/>
          </a:xfrm>
          <a:prstGeom prst="roundRect">
            <a:avLst>
              <a:gd name="adj" fmla="val 6250"/>
            </a:avLst>
          </a:prstGeom>
          <a:solidFill>
            <a:srgbClr val="111111"/>
          </a:solidFill>
          <a:ln w="12700">
            <a:solidFill>
              <a:srgbClr val="111111"/>
            </a:solidFill>
            <a:prstDash val="solid"/>
          </a:ln>
        </p:spPr>
        <p:txBody>
          <a:bodyPr/>
          <a:lstStyle/>
          <a:p>
            <a:endParaRPr lang="en-IT"/>
          </a:p>
        </p:txBody>
      </p:sp>
      <p:sp>
        <p:nvSpPr>
          <p:cNvPr id="12" name="Text 9"/>
          <p:cNvSpPr txBox="1"/>
          <p:nvPr/>
        </p:nvSpPr>
        <p:spPr>
          <a:xfrm>
            <a:off x="7513749" y="3200400"/>
            <a:ext cx="3916251" cy="640080"/>
          </a:xfrm>
          <a:prstGeom prst="rect">
            <a:avLst/>
          </a:prstGeom>
          <a:noFill/>
          <a:ln/>
        </p:spPr>
        <p:txBody>
          <a:bodyPr wrap="square" lIns="0" tIns="0" rIns="0" bIns="0" rtlCol="0" anchor="t"/>
          <a:lstStyle/>
          <a:p>
            <a:pPr marL="0" indent="0">
              <a:buNone/>
            </a:pPr>
            <a:r>
              <a:rPr lang="en-US" sz="3400" b="1" i="1">
                <a:solidFill>
                  <a:srgbClr val="B7FF00"/>
                </a:solidFill>
                <a:latin typeface="Arial"/>
                <a:ea typeface="Arial" pitchFamily="34" charset="-122"/>
                <a:cs typeface="Arial"/>
              </a:rPr>
              <a:t>138 ms</a:t>
            </a:r>
            <a:endParaRPr lang="en-US" sz="3400">
              <a:solidFill>
                <a:srgbClr val="B7FF00"/>
              </a:solidFill>
              <a:latin typeface="Arial"/>
              <a:ea typeface="Calibri"/>
              <a:cs typeface="Arial"/>
            </a:endParaRPr>
          </a:p>
        </p:txBody>
      </p:sp>
      <p:sp>
        <p:nvSpPr>
          <p:cNvPr id="13" name="Text 10"/>
          <p:cNvSpPr txBox="1"/>
          <p:nvPr/>
        </p:nvSpPr>
        <p:spPr>
          <a:xfrm>
            <a:off x="7513749" y="3840480"/>
            <a:ext cx="3916251" cy="594360"/>
          </a:xfrm>
          <a:prstGeom prst="rect">
            <a:avLst/>
          </a:prstGeom>
          <a:noFill/>
          <a:ln/>
        </p:spPr>
        <p:txBody>
          <a:bodyPr wrap="square" lIns="0" tIns="0" rIns="0" bIns="0" rtlCol="0" anchor="t"/>
          <a:lstStyle/>
          <a:p>
            <a:pPr marL="0" indent="0">
              <a:buNone/>
            </a:pPr>
            <a:r>
              <a:rPr lang="en-US" sz="1300">
                <a:solidFill>
                  <a:srgbClr val="FFFFFF"/>
                </a:solidFill>
                <a:latin typeface="Arial" pitchFamily="34" charset="0"/>
                <a:ea typeface="Arial" pitchFamily="34" charset="-122"/>
                <a:cs typeface="Arial" pitchFamily="34" charset="-120"/>
              </a:rPr>
              <a:t>Black line: AIC onset, the reaction time we report</a:t>
            </a:r>
            <a:endParaRPr lang="en-US" sz="1300"/>
          </a:p>
        </p:txBody>
      </p:sp>
      <p:sp>
        <p:nvSpPr>
          <p:cNvPr id="14" name="Shape 11"/>
          <p:cNvSpPr/>
          <p:nvPr/>
        </p:nvSpPr>
        <p:spPr>
          <a:xfrm>
            <a:off x="7285149" y="4663440"/>
            <a:ext cx="4373451" cy="1463040"/>
          </a:xfrm>
          <a:prstGeom prst="roundRect">
            <a:avLst>
              <a:gd name="adj" fmla="val 6250"/>
            </a:avLst>
          </a:prstGeom>
          <a:solidFill>
            <a:srgbClr val="F3F3F3"/>
          </a:solidFill>
          <a:ln w="12700">
            <a:solidFill>
              <a:srgbClr val="F3F3F3"/>
            </a:solidFill>
            <a:prstDash val="solid"/>
          </a:ln>
        </p:spPr>
        <p:txBody>
          <a:bodyPr/>
          <a:lstStyle/>
          <a:p>
            <a:endParaRPr lang="en-IT"/>
          </a:p>
        </p:txBody>
      </p:sp>
      <p:sp>
        <p:nvSpPr>
          <p:cNvPr id="15" name="Text 12"/>
          <p:cNvSpPr txBox="1"/>
          <p:nvPr/>
        </p:nvSpPr>
        <p:spPr>
          <a:xfrm>
            <a:off x="7513749" y="4892040"/>
            <a:ext cx="3916251" cy="640080"/>
          </a:xfrm>
          <a:prstGeom prst="rect">
            <a:avLst/>
          </a:prstGeom>
          <a:noFill/>
          <a:ln/>
        </p:spPr>
        <p:txBody>
          <a:bodyPr wrap="square" lIns="0" tIns="0" rIns="0" bIns="0" rtlCol="0" anchor="t"/>
          <a:lstStyle/>
          <a:p>
            <a:pPr marL="0" indent="0">
              <a:buNone/>
            </a:pPr>
            <a:r>
              <a:rPr lang="en-US" sz="3400" b="1" i="1">
                <a:solidFill>
                  <a:srgbClr val="111111"/>
                </a:solidFill>
                <a:latin typeface="Arial" pitchFamily="34" charset="0"/>
                <a:ea typeface="Arial" pitchFamily="34" charset="-122"/>
                <a:cs typeface="Arial" pitchFamily="34" charset="-120"/>
              </a:rPr>
              <a:t>+16.2 ms</a:t>
            </a:r>
            <a:endParaRPr lang="en-US" sz="3400"/>
          </a:p>
        </p:txBody>
      </p:sp>
      <p:sp>
        <p:nvSpPr>
          <p:cNvPr id="16" name="Text 13"/>
          <p:cNvSpPr txBox="1"/>
          <p:nvPr/>
        </p:nvSpPr>
        <p:spPr>
          <a:xfrm>
            <a:off x="7513749" y="5532120"/>
            <a:ext cx="3916251" cy="594360"/>
          </a:xfrm>
          <a:prstGeom prst="rect">
            <a:avLst/>
          </a:prstGeom>
          <a:noFill/>
          <a:ln/>
        </p:spPr>
        <p:txBody>
          <a:bodyPr wrap="square" lIns="0" tIns="0" rIns="0" bIns="0" rtlCol="0" anchor="t"/>
          <a:lstStyle/>
          <a:p>
            <a:pPr marL="0" indent="0">
              <a:buNone/>
            </a:pPr>
            <a:r>
              <a:rPr lang="en-US" sz="1300">
                <a:solidFill>
                  <a:srgbClr val="111111"/>
                </a:solidFill>
                <a:latin typeface="Arial" pitchFamily="34" charset="0"/>
                <a:ea typeface="Arial" pitchFamily="34" charset="-122"/>
                <a:cs typeface="Arial" pitchFamily="34" charset="-120"/>
              </a:rPr>
              <a:t>Dotted line: where a threshold alone would place it</a:t>
            </a:r>
            <a:endParaRPr lang="en-US" sz="1300"/>
          </a:p>
        </p:txBody>
      </p:sp>
    </p:spTree>
    <p:extLst>
      <p:ext uri="{BB962C8B-B14F-4D97-AF65-F5344CB8AC3E}">
        <p14:creationId xmlns:p14="http://schemas.microsoft.com/office/powerpoint/2010/main" val="99112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dirty="0">
                <a:solidFill>
                  <a:srgbClr val="111111"/>
                </a:solidFill>
                <a:latin typeface="Arial" pitchFamily="34" charset="0"/>
                <a:ea typeface="Arial" pitchFamily="34" charset="-122"/>
                <a:cs typeface="Arial" pitchFamily="34" charset="-120"/>
              </a:rPr>
              <a:t>07</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a:solidFill>
                  <a:srgbClr val="111111"/>
                </a:solidFill>
                <a:latin typeface="Arial" pitchFamily="34" charset="0"/>
                <a:ea typeface="Arial" pitchFamily="34" charset="-122"/>
                <a:cs typeface="Arial" pitchFamily="34" charset="-120"/>
              </a:rPr>
              <a:t>RESULTS · MEASUREMENTS</a:t>
            </a:r>
            <a:endParaRPr lang="en-US" sz="3600"/>
          </a:p>
        </p:txBody>
      </p:sp>
      <p:pic>
        <p:nvPicPr>
          <p:cNvPr id="5" name="Image 0" descr="preencoded.png"/>
          <p:cNvPicPr>
            <a:picLocks noChangeAspect="1"/>
          </p:cNvPicPr>
          <p:nvPr/>
        </p:nvPicPr>
        <p:blipFill>
          <a:blip r:embed="rId3"/>
          <a:stretch>
            <a:fillRect/>
          </a:stretch>
        </p:blipFill>
        <p:spPr>
          <a:xfrm>
            <a:off x="548640" y="1325880"/>
            <a:ext cx="6400800" cy="4329953"/>
          </a:xfrm>
          <a:prstGeom prst="rect">
            <a:avLst/>
          </a:prstGeom>
        </p:spPr>
      </p:pic>
      <p:sp>
        <p:nvSpPr>
          <p:cNvPr id="6" name="Text 3"/>
          <p:cNvSpPr txBox="1"/>
          <p:nvPr/>
        </p:nvSpPr>
        <p:spPr>
          <a:xfrm>
            <a:off x="548640" y="5747273"/>
            <a:ext cx="6400800" cy="502920"/>
          </a:xfrm>
          <a:prstGeom prst="rect">
            <a:avLst/>
          </a:prstGeom>
          <a:noFill/>
          <a:ln/>
        </p:spPr>
        <p:txBody>
          <a:bodyPr wrap="square" lIns="0" tIns="0" rIns="0" bIns="0" rtlCol="0" anchor="t"/>
          <a:lstStyle/>
          <a:p>
            <a:pPr marL="0" indent="0">
              <a:buNone/>
            </a:pPr>
            <a:r>
              <a:rPr lang="en-US" sz="1100">
                <a:solidFill>
                  <a:srgbClr val="6B6B6B"/>
                </a:solidFill>
                <a:latin typeface="Arial" pitchFamily="34" charset="0"/>
                <a:ea typeface="Arial" pitchFamily="34" charset="-122"/>
                <a:cs typeface="Arial" pitchFamily="34" charset="-120"/>
              </a:rPr>
              <a:t>Threshold sweep over 79 starts: the AIC onset stays fixed; threshold-only drifts up to 9.3 ms (median)</a:t>
            </a:r>
            <a:endParaRPr lang="en-US" sz="1100"/>
          </a:p>
        </p:txBody>
      </p:sp>
      <p:sp>
        <p:nvSpPr>
          <p:cNvPr id="7" name="Shape 4"/>
          <p:cNvSpPr/>
          <p:nvPr/>
        </p:nvSpPr>
        <p:spPr>
          <a:xfrm>
            <a:off x="7315200" y="1325880"/>
            <a:ext cx="4343400" cy="1051560"/>
          </a:xfrm>
          <a:prstGeom prst="roundRect">
            <a:avLst>
              <a:gd name="adj" fmla="val 8696"/>
            </a:avLst>
          </a:prstGeom>
          <a:solidFill>
            <a:srgbClr val="B7FF00"/>
          </a:solidFill>
          <a:ln w="12700">
            <a:noFill/>
            <a:prstDash val="solid"/>
          </a:ln>
        </p:spPr>
        <p:txBody>
          <a:bodyPr/>
          <a:lstStyle/>
          <a:p>
            <a:endParaRPr lang="en-IT"/>
          </a:p>
        </p:txBody>
      </p:sp>
      <p:sp>
        <p:nvSpPr>
          <p:cNvPr id="8" name="Text 5"/>
          <p:cNvSpPr txBox="1"/>
          <p:nvPr/>
        </p:nvSpPr>
        <p:spPr>
          <a:xfrm>
            <a:off x="7498080" y="1463040"/>
            <a:ext cx="4023360" cy="502920"/>
          </a:xfrm>
          <a:prstGeom prst="rect">
            <a:avLst/>
          </a:prstGeom>
          <a:noFill/>
          <a:ln/>
        </p:spPr>
        <p:txBody>
          <a:bodyPr wrap="square" lIns="0" tIns="0" rIns="0" bIns="0" rtlCol="0" anchor="t"/>
          <a:lstStyle/>
          <a:p>
            <a:pPr marL="0" indent="0">
              <a:buNone/>
            </a:pPr>
            <a:r>
              <a:rPr lang="en-US" sz="2800" b="1" i="1" dirty="0">
                <a:solidFill>
                  <a:srgbClr val="111111"/>
                </a:solidFill>
                <a:latin typeface="Arial" pitchFamily="34" charset="0"/>
                <a:ea typeface="Arial" pitchFamily="34" charset="-122"/>
                <a:cs typeface="Arial" pitchFamily="34" charset="-120"/>
              </a:rPr>
              <a:t>0.0 </a:t>
            </a:r>
            <a:r>
              <a:rPr lang="en-US" sz="2800" b="1" i="1" dirty="0" err="1">
                <a:solidFill>
                  <a:srgbClr val="111111"/>
                </a:solidFill>
                <a:latin typeface="Arial" pitchFamily="34" charset="0"/>
                <a:ea typeface="Arial" pitchFamily="34" charset="-122"/>
                <a:cs typeface="Arial" pitchFamily="34" charset="-120"/>
              </a:rPr>
              <a:t>ms</a:t>
            </a:r>
            <a:r>
              <a:rPr lang="en-US" sz="2800" b="1" i="1" dirty="0">
                <a:solidFill>
                  <a:srgbClr val="111111"/>
                </a:solidFill>
                <a:latin typeface="Arial" pitchFamily="34" charset="0"/>
                <a:ea typeface="Arial" pitchFamily="34" charset="-122"/>
                <a:cs typeface="Arial" pitchFamily="34" charset="-120"/>
              </a:rPr>
              <a:t> vs 9.3 </a:t>
            </a:r>
            <a:r>
              <a:rPr lang="en-US" sz="2800" b="1" i="1" dirty="0" err="1">
                <a:solidFill>
                  <a:srgbClr val="111111"/>
                </a:solidFill>
                <a:latin typeface="Arial" pitchFamily="34" charset="0"/>
                <a:ea typeface="Arial" pitchFamily="34" charset="-122"/>
                <a:cs typeface="Arial" pitchFamily="34" charset="-120"/>
              </a:rPr>
              <a:t>ms</a:t>
            </a:r>
            <a:endParaRPr lang="en-US" sz="2800" dirty="0"/>
          </a:p>
        </p:txBody>
      </p:sp>
      <p:sp>
        <p:nvSpPr>
          <p:cNvPr id="9" name="Text 6"/>
          <p:cNvSpPr txBox="1"/>
          <p:nvPr/>
        </p:nvSpPr>
        <p:spPr>
          <a:xfrm>
            <a:off x="7498080" y="1965960"/>
            <a:ext cx="4023360" cy="411480"/>
          </a:xfrm>
          <a:prstGeom prst="rect">
            <a:avLst/>
          </a:prstGeom>
          <a:noFill/>
          <a:ln/>
        </p:spPr>
        <p:txBody>
          <a:bodyPr wrap="square" lIns="0" tIns="0" rIns="0" bIns="0" rtlCol="0" anchor="t"/>
          <a:lstStyle/>
          <a:p>
            <a:pPr marL="0" indent="0">
              <a:buNone/>
            </a:pPr>
            <a:r>
              <a:rPr lang="en-US" sz="1200" dirty="0">
                <a:solidFill>
                  <a:srgbClr val="333333"/>
                </a:solidFill>
                <a:latin typeface="Arial" pitchFamily="34" charset="0"/>
                <a:ea typeface="Arial" pitchFamily="34" charset="-122"/>
                <a:cs typeface="Arial" pitchFamily="34" charset="-120"/>
              </a:rPr>
              <a:t>median shift: our detector vs threshold only (10 → 50 mg)</a:t>
            </a:r>
            <a:endParaRPr lang="en-US" sz="1200" dirty="0"/>
          </a:p>
        </p:txBody>
      </p:sp>
      <p:sp>
        <p:nvSpPr>
          <p:cNvPr id="10" name="Shape 7"/>
          <p:cNvSpPr/>
          <p:nvPr/>
        </p:nvSpPr>
        <p:spPr>
          <a:xfrm>
            <a:off x="7315200" y="2514600"/>
            <a:ext cx="4343400" cy="1051560"/>
          </a:xfrm>
          <a:prstGeom prst="roundRect">
            <a:avLst>
              <a:gd name="adj" fmla="val 8696"/>
            </a:avLst>
          </a:prstGeom>
          <a:solidFill>
            <a:srgbClr val="F3F3F3"/>
          </a:solidFill>
          <a:ln w="12700">
            <a:solidFill>
              <a:srgbClr val="F3F3F3"/>
            </a:solidFill>
            <a:prstDash val="solid"/>
          </a:ln>
        </p:spPr>
        <p:txBody>
          <a:bodyPr/>
          <a:lstStyle/>
          <a:p>
            <a:endParaRPr lang="en-IT"/>
          </a:p>
        </p:txBody>
      </p:sp>
      <p:sp>
        <p:nvSpPr>
          <p:cNvPr id="11" name="Text 8"/>
          <p:cNvSpPr txBox="1"/>
          <p:nvPr/>
        </p:nvSpPr>
        <p:spPr>
          <a:xfrm>
            <a:off x="7498080" y="2651760"/>
            <a:ext cx="4023360" cy="502920"/>
          </a:xfrm>
          <a:prstGeom prst="rect">
            <a:avLst/>
          </a:prstGeom>
          <a:noFill/>
          <a:ln/>
        </p:spPr>
        <p:txBody>
          <a:bodyPr wrap="square" lIns="0" tIns="0" rIns="0" bIns="0" rtlCol="0" anchor="t"/>
          <a:lstStyle/>
          <a:p>
            <a:pPr marL="0" indent="0">
              <a:buNone/>
            </a:pPr>
            <a:r>
              <a:rPr lang="en-US" sz="2800" b="1" i="1">
                <a:solidFill>
                  <a:srgbClr val="111111"/>
                </a:solidFill>
                <a:latin typeface="Arial" pitchFamily="34" charset="0"/>
                <a:ea typeface="Arial" pitchFamily="34" charset="-122"/>
                <a:cs typeface="Arial" pitchFamily="34" charset="-120"/>
              </a:rPr>
              <a:t>70 / 79</a:t>
            </a:r>
            <a:endParaRPr lang="en-US" sz="2800"/>
          </a:p>
        </p:txBody>
      </p:sp>
      <p:sp>
        <p:nvSpPr>
          <p:cNvPr id="12" name="Text 9"/>
          <p:cNvSpPr txBox="1"/>
          <p:nvPr/>
        </p:nvSpPr>
        <p:spPr>
          <a:xfrm>
            <a:off x="7498080" y="3154680"/>
            <a:ext cx="4023360" cy="411480"/>
          </a:xfrm>
          <a:prstGeom prst="rect">
            <a:avLst/>
          </a:prstGeom>
          <a:noFill/>
          <a:ln/>
        </p:spPr>
        <p:txBody>
          <a:bodyPr wrap="square" lIns="0" tIns="0" rIns="0" bIns="0" rtlCol="0" anchor="t"/>
          <a:lstStyle/>
          <a:p>
            <a:pPr marL="0" indent="0">
              <a:buNone/>
            </a:pPr>
            <a:r>
              <a:rPr lang="en-US" sz="1200">
                <a:solidFill>
                  <a:srgbClr val="333333"/>
                </a:solidFill>
                <a:latin typeface="Arial" pitchFamily="34" charset="0"/>
                <a:ea typeface="Arial" pitchFamily="34" charset="-122"/>
                <a:cs typeface="Arial" pitchFamily="34" charset="-120"/>
              </a:rPr>
              <a:t>starts with identical AIC onset (74 within 1 sample)</a:t>
            </a:r>
            <a:endParaRPr lang="en-US" sz="1200"/>
          </a:p>
        </p:txBody>
      </p:sp>
      <p:sp>
        <p:nvSpPr>
          <p:cNvPr id="13" name="Shape 10"/>
          <p:cNvSpPr/>
          <p:nvPr/>
        </p:nvSpPr>
        <p:spPr>
          <a:xfrm>
            <a:off x="7315200" y="3703320"/>
            <a:ext cx="4343400" cy="1051560"/>
          </a:xfrm>
          <a:prstGeom prst="roundRect">
            <a:avLst>
              <a:gd name="adj" fmla="val 8696"/>
            </a:avLst>
          </a:prstGeom>
          <a:solidFill>
            <a:srgbClr val="F3F3F3"/>
          </a:solidFill>
          <a:ln w="12700">
            <a:solidFill>
              <a:srgbClr val="F3F3F3"/>
            </a:solidFill>
            <a:prstDash val="solid"/>
          </a:ln>
        </p:spPr>
        <p:txBody>
          <a:bodyPr/>
          <a:lstStyle/>
          <a:p>
            <a:endParaRPr lang="en-IT"/>
          </a:p>
        </p:txBody>
      </p:sp>
      <p:sp>
        <p:nvSpPr>
          <p:cNvPr id="14" name="Text 11"/>
          <p:cNvSpPr txBox="1"/>
          <p:nvPr/>
        </p:nvSpPr>
        <p:spPr>
          <a:xfrm>
            <a:off x="7498080" y="3840480"/>
            <a:ext cx="4023360" cy="502920"/>
          </a:xfrm>
          <a:prstGeom prst="rect">
            <a:avLst/>
          </a:prstGeom>
          <a:noFill/>
          <a:ln/>
        </p:spPr>
        <p:txBody>
          <a:bodyPr wrap="square" lIns="0" tIns="0" rIns="0" bIns="0" rtlCol="0" anchor="t"/>
          <a:lstStyle/>
          <a:p>
            <a:pPr marL="0" indent="0">
              <a:buNone/>
            </a:pPr>
            <a:r>
              <a:rPr lang="en-US" sz="2800" b="1" i="1" dirty="0">
                <a:solidFill>
                  <a:srgbClr val="111111"/>
                </a:solidFill>
                <a:latin typeface="Arial" pitchFamily="34" charset="0"/>
                <a:ea typeface="Arial" pitchFamily="34" charset="-122"/>
                <a:cs typeface="Arial" pitchFamily="34" charset="-120"/>
              </a:rPr>
              <a:t>72 + 7</a:t>
            </a:r>
            <a:endParaRPr lang="en-US" sz="2800" dirty="0"/>
          </a:p>
        </p:txBody>
      </p:sp>
      <p:sp>
        <p:nvSpPr>
          <p:cNvPr id="15" name="Text 12"/>
          <p:cNvSpPr txBox="1"/>
          <p:nvPr/>
        </p:nvSpPr>
        <p:spPr>
          <a:xfrm>
            <a:off x="7498080" y="4343400"/>
            <a:ext cx="4023360" cy="411480"/>
          </a:xfrm>
          <a:prstGeom prst="rect">
            <a:avLst/>
          </a:prstGeom>
          <a:noFill/>
          <a:ln/>
        </p:spPr>
        <p:txBody>
          <a:bodyPr wrap="square" lIns="0" tIns="0" rIns="0" bIns="0" rtlCol="0" anchor="t"/>
          <a:lstStyle/>
          <a:p>
            <a:pPr marL="0" indent="0">
              <a:buNone/>
            </a:pPr>
            <a:r>
              <a:rPr lang="en-US" sz="1200" dirty="0">
                <a:solidFill>
                  <a:srgbClr val="333333"/>
                </a:solidFill>
                <a:latin typeface="Arial" pitchFamily="34" charset="0"/>
                <a:ea typeface="Arial" pitchFamily="34" charset="-122"/>
                <a:cs typeface="Arial" pitchFamily="34" charset="-120"/>
              </a:rPr>
              <a:t>valid starts + false starts (5 sprinters, 4 sessions)</a:t>
            </a:r>
            <a:endParaRPr lang="en-US" sz="1200" dirty="0"/>
          </a:p>
        </p:txBody>
      </p:sp>
      <p:sp>
        <p:nvSpPr>
          <p:cNvPr id="16" name="Shape 13"/>
          <p:cNvSpPr/>
          <p:nvPr/>
        </p:nvSpPr>
        <p:spPr>
          <a:xfrm>
            <a:off x="7315200" y="4892040"/>
            <a:ext cx="4343400" cy="1051560"/>
          </a:xfrm>
          <a:prstGeom prst="roundRect">
            <a:avLst>
              <a:gd name="adj" fmla="val 8696"/>
            </a:avLst>
          </a:prstGeom>
          <a:solidFill>
            <a:srgbClr val="F3F3F3"/>
          </a:solidFill>
          <a:ln w="12700">
            <a:solidFill>
              <a:srgbClr val="F3F3F3"/>
            </a:solidFill>
            <a:prstDash val="solid"/>
          </a:ln>
        </p:spPr>
        <p:txBody>
          <a:bodyPr/>
          <a:lstStyle/>
          <a:p>
            <a:endParaRPr lang="en-IT"/>
          </a:p>
        </p:txBody>
      </p:sp>
      <p:sp>
        <p:nvSpPr>
          <p:cNvPr id="17" name="Text 14"/>
          <p:cNvSpPr txBox="1"/>
          <p:nvPr/>
        </p:nvSpPr>
        <p:spPr>
          <a:xfrm>
            <a:off x="7498080" y="5029200"/>
            <a:ext cx="4023360" cy="502920"/>
          </a:xfrm>
          <a:prstGeom prst="rect">
            <a:avLst/>
          </a:prstGeom>
          <a:noFill/>
          <a:ln/>
        </p:spPr>
        <p:txBody>
          <a:bodyPr wrap="square" lIns="0" tIns="0" rIns="0" bIns="0" rtlCol="0" anchor="t"/>
          <a:lstStyle/>
          <a:p>
            <a:pPr marL="0" indent="0">
              <a:buNone/>
            </a:pPr>
            <a:r>
              <a:rPr lang="en-US" sz="2800" b="1" i="1">
                <a:solidFill>
                  <a:srgbClr val="111111"/>
                </a:solidFill>
                <a:latin typeface="Arial" pitchFamily="34" charset="0"/>
                <a:ea typeface="Arial" pitchFamily="34" charset="-122"/>
                <a:cs typeface="Arial" pitchFamily="34" charset="-120"/>
              </a:rPr>
              <a:t>154.0 ms</a:t>
            </a:r>
            <a:endParaRPr lang="en-US" sz="2800"/>
          </a:p>
        </p:txBody>
      </p:sp>
      <p:sp>
        <p:nvSpPr>
          <p:cNvPr id="18" name="Text 15"/>
          <p:cNvSpPr txBox="1"/>
          <p:nvPr/>
        </p:nvSpPr>
        <p:spPr>
          <a:xfrm>
            <a:off x="7498080" y="5532120"/>
            <a:ext cx="4023360" cy="411480"/>
          </a:xfrm>
          <a:prstGeom prst="rect">
            <a:avLst/>
          </a:prstGeom>
          <a:noFill/>
          <a:ln/>
        </p:spPr>
        <p:txBody>
          <a:bodyPr wrap="square" lIns="0" tIns="0" rIns="0" bIns="0" rtlCol="0" anchor="t"/>
          <a:lstStyle/>
          <a:p>
            <a:pPr marL="0" indent="0">
              <a:buNone/>
            </a:pPr>
            <a:r>
              <a:rPr lang="en-US" sz="1200" dirty="0">
                <a:solidFill>
                  <a:srgbClr val="333333"/>
                </a:solidFill>
                <a:latin typeface="Arial" pitchFamily="34" charset="0"/>
                <a:ea typeface="Arial" pitchFamily="34" charset="-122"/>
                <a:cs typeface="Arial" pitchFamily="34" charset="-120"/>
              </a:rPr>
              <a:t>median reaction time (range 111.3 – 476.5 </a:t>
            </a:r>
            <a:r>
              <a:rPr lang="en-US" sz="1200" dirty="0" err="1">
                <a:solidFill>
                  <a:srgbClr val="333333"/>
                </a:solidFill>
                <a:latin typeface="Arial" pitchFamily="34" charset="0"/>
                <a:ea typeface="Arial" pitchFamily="34" charset="-122"/>
                <a:cs typeface="Arial" pitchFamily="34" charset="-120"/>
              </a:rPr>
              <a:t>ms</a:t>
            </a:r>
            <a:r>
              <a:rPr lang="en-US" sz="1200" dirty="0">
                <a:solidFill>
                  <a:srgbClr val="333333"/>
                </a:solidFill>
                <a:latin typeface="Arial" pitchFamily="34" charset="0"/>
                <a:ea typeface="Arial" pitchFamily="34" charset="-122"/>
                <a:cs typeface="Arial"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dirty="0"/>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dirty="0">
                <a:solidFill>
                  <a:srgbClr val="111111"/>
                </a:solidFill>
                <a:latin typeface="Arial" pitchFamily="34" charset="0"/>
                <a:ea typeface="Arial" pitchFamily="34" charset="-122"/>
                <a:cs typeface="Arial" pitchFamily="34" charset="-120"/>
              </a:rPr>
              <a:t>08</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dirty="0">
                <a:solidFill>
                  <a:srgbClr val="111111"/>
                </a:solidFill>
                <a:latin typeface="Arial" pitchFamily="34" charset="0"/>
                <a:ea typeface="Arial" pitchFamily="34" charset="-122"/>
                <a:cs typeface="Arial" pitchFamily="34" charset="-120"/>
              </a:rPr>
              <a:t>FUTURE WORK</a:t>
            </a:r>
            <a:endParaRPr lang="en-US" sz="3600" dirty="0"/>
          </a:p>
        </p:txBody>
      </p:sp>
      <p:sp>
        <p:nvSpPr>
          <p:cNvPr id="5" name="Text 3"/>
          <p:cNvSpPr txBox="1"/>
          <p:nvPr/>
        </p:nvSpPr>
        <p:spPr>
          <a:xfrm>
            <a:off x="548640" y="1234440"/>
            <a:ext cx="11064240" cy="457200"/>
          </a:xfrm>
          <a:prstGeom prst="rect">
            <a:avLst/>
          </a:prstGeom>
          <a:noFill/>
          <a:ln/>
        </p:spPr>
        <p:txBody>
          <a:bodyPr wrap="square" lIns="0" tIns="0" rIns="0" bIns="0" rtlCol="0" anchor="t"/>
          <a:lstStyle/>
          <a:p>
            <a:pPr marL="0" indent="0">
              <a:buNone/>
            </a:pPr>
            <a:r>
              <a:rPr lang="en-US" sz="1800" dirty="0">
                <a:solidFill>
                  <a:srgbClr val="111111"/>
                </a:solidFill>
                <a:latin typeface="Arial" pitchFamily="34" charset="0"/>
                <a:ea typeface="Arial" pitchFamily="34" charset="-122"/>
                <a:cs typeface="Arial" pitchFamily="34" charset="-120"/>
              </a:rPr>
              <a:t>Reaction time and photo finish are validated. Next, we prove the 1.2 ms and reach 100 m.</a:t>
            </a:r>
          </a:p>
        </p:txBody>
      </p:sp>
      <p:sp>
        <p:nvSpPr>
          <p:cNvPr id="6" name="Shape 4"/>
          <p:cNvSpPr/>
          <p:nvPr/>
        </p:nvSpPr>
        <p:spPr>
          <a:xfrm>
            <a:off x="960120" y="2514600"/>
            <a:ext cx="8503920" cy="0"/>
          </a:xfrm>
          <a:prstGeom prst="line">
            <a:avLst/>
          </a:prstGeom>
          <a:noFill/>
          <a:ln w="25400">
            <a:solidFill>
              <a:srgbClr val="BDBDBD"/>
            </a:solidFill>
            <a:prstDash val="dash"/>
          </a:ln>
        </p:spPr>
        <p:txBody>
          <a:bodyPr/>
          <a:lstStyle/>
          <a:p>
            <a:endParaRPr lang="en-IT"/>
          </a:p>
        </p:txBody>
      </p:sp>
      <p:sp>
        <p:nvSpPr>
          <p:cNvPr id="7" name="Shape 5"/>
          <p:cNvSpPr/>
          <p:nvPr/>
        </p:nvSpPr>
        <p:spPr>
          <a:xfrm>
            <a:off x="548640" y="2103120"/>
            <a:ext cx="822960" cy="822960"/>
          </a:xfrm>
          <a:prstGeom prst="ellipse">
            <a:avLst/>
          </a:prstGeom>
          <a:solidFill>
            <a:srgbClr val="B7FF00"/>
          </a:solidFill>
          <a:ln w="12700">
            <a:solidFill>
              <a:srgbClr val="B7FF00"/>
            </a:solidFill>
            <a:prstDash val="solid"/>
          </a:ln>
        </p:spPr>
        <p:txBody>
          <a:bodyPr/>
          <a:lstStyle/>
          <a:p>
            <a:endParaRPr lang="en-IT"/>
          </a:p>
        </p:txBody>
      </p:sp>
      <p:sp>
        <p:nvSpPr>
          <p:cNvPr id="9" name="Shape 6"/>
          <p:cNvSpPr/>
          <p:nvPr/>
        </p:nvSpPr>
        <p:spPr>
          <a:xfrm>
            <a:off x="548640" y="3429000"/>
            <a:ext cx="2606040" cy="2331720"/>
          </a:xfrm>
          <a:prstGeom prst="roundRect">
            <a:avLst>
              <a:gd name="adj" fmla="val 3922"/>
            </a:avLst>
          </a:prstGeom>
          <a:solidFill>
            <a:srgbClr val="B7FF00"/>
          </a:solidFill>
          <a:ln w="12700">
            <a:solidFill>
              <a:srgbClr val="B7FF00"/>
            </a:solidFill>
            <a:prstDash val="solid"/>
          </a:ln>
        </p:spPr>
        <p:txBody>
          <a:bodyPr/>
          <a:lstStyle/>
          <a:p>
            <a:endParaRPr lang="en-IT" dirty="0"/>
          </a:p>
        </p:txBody>
      </p:sp>
      <p:sp>
        <p:nvSpPr>
          <p:cNvPr id="10" name="Text 7"/>
          <p:cNvSpPr txBox="1"/>
          <p:nvPr/>
        </p:nvSpPr>
        <p:spPr>
          <a:xfrm>
            <a:off x="754380" y="3749040"/>
            <a:ext cx="2148840" cy="274320"/>
          </a:xfrm>
          <a:prstGeom prst="rect">
            <a:avLst/>
          </a:prstGeom>
          <a:noFill/>
          <a:ln/>
        </p:spPr>
        <p:txBody>
          <a:bodyPr wrap="square" lIns="0" tIns="0" rIns="0" bIns="0" rtlCol="0" anchor="t"/>
          <a:lstStyle/>
          <a:p>
            <a:pPr marL="0" indent="0">
              <a:buNone/>
            </a:pPr>
            <a:r>
              <a:rPr lang="en-US" sz="1100" b="1" kern="0" spc="200" dirty="0">
                <a:solidFill>
                  <a:srgbClr val="111111"/>
                </a:solidFill>
                <a:latin typeface="Arial" pitchFamily="34" charset="0"/>
                <a:ea typeface="Arial" pitchFamily="34" charset="-122"/>
                <a:cs typeface="Arial" pitchFamily="34" charset="-120"/>
              </a:rPr>
              <a:t>STEP 1 · START UNIT</a:t>
            </a:r>
          </a:p>
        </p:txBody>
      </p:sp>
      <p:sp>
        <p:nvSpPr>
          <p:cNvPr id="11" name="Text 8"/>
          <p:cNvSpPr txBox="1"/>
          <p:nvPr/>
        </p:nvSpPr>
        <p:spPr>
          <a:xfrm>
            <a:off x="75438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Confirm the 1.2 ms</a:t>
            </a:r>
          </a:p>
        </p:txBody>
      </p:sp>
      <p:sp>
        <p:nvSpPr>
          <p:cNvPr id="12" name="Text 9"/>
          <p:cNvSpPr txBox="1"/>
          <p:nvPr/>
        </p:nvSpPr>
        <p:spPr>
          <a:xfrm>
            <a:off x="754380" y="4847217"/>
            <a:ext cx="2148840" cy="777688"/>
          </a:xfrm>
          <a:prstGeom prst="rect">
            <a:avLst/>
          </a:prstGeom>
          <a:noFill/>
          <a:ln/>
        </p:spPr>
        <p:txBody>
          <a:bodyPr wrap="square" lIns="0" tIns="0" rIns="0" bIns="0" rtlCol="0" anchor="t"/>
          <a:lstStyle/>
          <a:p>
            <a:r>
              <a:rPr lang="en-US" sz="1300" dirty="0">
                <a:solidFill>
                  <a:srgbClr val="333333"/>
                </a:solidFill>
                <a:latin typeface="Arial"/>
                <a:ea typeface="Arial" pitchFamily="34" charset="-122"/>
                <a:cs typeface="Arial"/>
              </a:rPr>
              <a:t>A 1000 fps camera checks one-sample accuracy directly</a:t>
            </a:r>
          </a:p>
        </p:txBody>
      </p:sp>
      <p:sp>
        <p:nvSpPr>
          <p:cNvPr id="13" name="Shape 10"/>
          <p:cNvSpPr/>
          <p:nvPr/>
        </p:nvSpPr>
        <p:spPr>
          <a:xfrm>
            <a:off x="3383280" y="2103120"/>
            <a:ext cx="822960" cy="822960"/>
          </a:xfrm>
          <a:prstGeom prst="ellipse">
            <a:avLst/>
          </a:prstGeom>
          <a:solidFill>
            <a:srgbClr val="111111"/>
          </a:solidFill>
          <a:ln w="12700">
            <a:solidFill>
              <a:srgbClr val="111111"/>
            </a:solidFill>
            <a:prstDash val="solid"/>
          </a:ln>
        </p:spPr>
        <p:txBody>
          <a:bodyPr/>
          <a:lstStyle/>
          <a:p>
            <a:endParaRPr lang="en-IT"/>
          </a:p>
        </p:txBody>
      </p:sp>
      <p:sp>
        <p:nvSpPr>
          <p:cNvPr id="15" name="Shape 11"/>
          <p:cNvSpPr/>
          <p:nvPr/>
        </p:nvSpPr>
        <p:spPr>
          <a:xfrm>
            <a:off x="3383280" y="3429000"/>
            <a:ext cx="2606040" cy="2331720"/>
          </a:xfrm>
          <a:prstGeom prst="roundRect">
            <a:avLst>
              <a:gd name="adj" fmla="val 3922"/>
            </a:avLst>
          </a:prstGeom>
          <a:solidFill>
            <a:srgbClr val="F3F3F3"/>
          </a:solidFill>
          <a:ln w="12700">
            <a:solidFill>
              <a:srgbClr val="F3F3F3"/>
            </a:solidFill>
            <a:prstDash val="solid"/>
          </a:ln>
        </p:spPr>
        <p:txBody>
          <a:bodyPr/>
          <a:lstStyle/>
          <a:p>
            <a:endParaRPr lang="en-IT"/>
          </a:p>
        </p:txBody>
      </p:sp>
      <p:sp>
        <p:nvSpPr>
          <p:cNvPr id="16" name="Text 12"/>
          <p:cNvSpPr txBox="1"/>
          <p:nvPr/>
        </p:nvSpPr>
        <p:spPr>
          <a:xfrm>
            <a:off x="3589020" y="3749040"/>
            <a:ext cx="2148840" cy="274320"/>
          </a:xfrm>
          <a:prstGeom prst="rect">
            <a:avLst/>
          </a:prstGeom>
          <a:noFill/>
          <a:ln/>
        </p:spPr>
        <p:txBody>
          <a:bodyPr wrap="square" lIns="0" tIns="0" rIns="0" bIns="0" rtlCol="0" anchor="t"/>
          <a:lstStyle/>
          <a:p>
            <a:pPr marL="0" indent="0">
              <a:buNone/>
            </a:pPr>
            <a:r>
              <a:rPr lang="en-US" sz="1100" b="1" kern="0" spc="200" dirty="0">
                <a:solidFill>
                  <a:srgbClr val="6B6B6B"/>
                </a:solidFill>
                <a:latin typeface="Arial" pitchFamily="34" charset="0"/>
                <a:ea typeface="Arial" pitchFamily="34" charset="-122"/>
                <a:cs typeface="Arial" pitchFamily="34" charset="-120"/>
              </a:rPr>
              <a:t>STEP 2 · START UNIT</a:t>
            </a:r>
          </a:p>
        </p:txBody>
      </p:sp>
      <p:sp>
        <p:nvSpPr>
          <p:cNvPr id="17" name="Text 13"/>
          <p:cNvSpPr txBox="1"/>
          <p:nvPr/>
        </p:nvSpPr>
        <p:spPr>
          <a:xfrm>
            <a:off x="358902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Measure fixed delays</a:t>
            </a:r>
          </a:p>
        </p:txBody>
      </p:sp>
      <p:sp>
        <p:nvSpPr>
          <p:cNvPr id="18" name="Text 14"/>
          <p:cNvSpPr txBox="1"/>
          <p:nvPr/>
        </p:nvSpPr>
        <p:spPr>
          <a:xfrm>
            <a:off x="3589020" y="4892040"/>
            <a:ext cx="2148840" cy="1371600"/>
          </a:xfrm>
          <a:prstGeom prst="rect">
            <a:avLst/>
          </a:prstGeom>
          <a:noFill/>
          <a:ln/>
        </p:spPr>
        <p:txBody>
          <a:bodyPr wrap="square" lIns="0" tIns="0" rIns="0" bIns="0" rtlCol="0" anchor="t"/>
          <a:lstStyle/>
          <a:p>
            <a:pPr marL="0" indent="0">
              <a:buNone/>
            </a:pPr>
            <a:r>
              <a:rPr lang="en-US" sz="1300" dirty="0">
                <a:solidFill>
                  <a:srgbClr val="333333"/>
                </a:solidFill>
                <a:latin typeface="Arial" pitchFamily="34" charset="0"/>
                <a:ea typeface="Arial" pitchFamily="34" charset="-122"/>
                <a:cs typeface="Arial" pitchFamily="34" charset="-120"/>
              </a:rPr>
              <a:t>The sensor's filter and the sound's travel to the athlete (2.9 ms per metre)</a:t>
            </a:r>
          </a:p>
        </p:txBody>
      </p:sp>
      <p:sp>
        <p:nvSpPr>
          <p:cNvPr id="19" name="Shape 15"/>
          <p:cNvSpPr/>
          <p:nvPr/>
        </p:nvSpPr>
        <p:spPr>
          <a:xfrm>
            <a:off x="6217920" y="2103120"/>
            <a:ext cx="822960" cy="822960"/>
          </a:xfrm>
          <a:prstGeom prst="ellipse">
            <a:avLst/>
          </a:prstGeom>
          <a:solidFill>
            <a:srgbClr val="111111"/>
          </a:solidFill>
          <a:ln w="12700">
            <a:solidFill>
              <a:srgbClr val="111111"/>
            </a:solidFill>
            <a:prstDash val="solid"/>
          </a:ln>
        </p:spPr>
        <p:txBody>
          <a:bodyPr/>
          <a:lstStyle/>
          <a:p>
            <a:endParaRPr lang="en-IT"/>
          </a:p>
        </p:txBody>
      </p:sp>
      <p:sp>
        <p:nvSpPr>
          <p:cNvPr id="21" name="Shape 16"/>
          <p:cNvSpPr/>
          <p:nvPr/>
        </p:nvSpPr>
        <p:spPr>
          <a:xfrm>
            <a:off x="6217920" y="3429000"/>
            <a:ext cx="2606040" cy="2331720"/>
          </a:xfrm>
          <a:prstGeom prst="roundRect">
            <a:avLst>
              <a:gd name="adj" fmla="val 3922"/>
            </a:avLst>
          </a:prstGeom>
          <a:solidFill>
            <a:srgbClr val="F3F3F3"/>
          </a:solidFill>
          <a:ln w="12700">
            <a:solidFill>
              <a:srgbClr val="F3F3F3"/>
            </a:solidFill>
            <a:prstDash val="solid"/>
          </a:ln>
        </p:spPr>
        <p:txBody>
          <a:bodyPr/>
          <a:lstStyle/>
          <a:p>
            <a:endParaRPr lang="en-IT"/>
          </a:p>
        </p:txBody>
      </p:sp>
      <p:sp>
        <p:nvSpPr>
          <p:cNvPr id="22" name="Text 17"/>
          <p:cNvSpPr txBox="1"/>
          <p:nvPr/>
        </p:nvSpPr>
        <p:spPr>
          <a:xfrm>
            <a:off x="6423660" y="3749040"/>
            <a:ext cx="2148840" cy="274320"/>
          </a:xfrm>
          <a:prstGeom prst="rect">
            <a:avLst/>
          </a:prstGeom>
          <a:noFill/>
          <a:ln/>
        </p:spPr>
        <p:txBody>
          <a:bodyPr wrap="square" lIns="0" tIns="0" rIns="0" bIns="0" rtlCol="0" anchor="t"/>
          <a:lstStyle/>
          <a:p>
            <a:pPr marL="0" indent="0">
              <a:buNone/>
            </a:pPr>
            <a:r>
              <a:rPr lang="en-US" sz="1100" b="1" kern="0" spc="200" dirty="0">
                <a:solidFill>
                  <a:srgbClr val="6B6B6B"/>
                </a:solidFill>
                <a:latin typeface="Arial" pitchFamily="34" charset="0"/>
                <a:ea typeface="Arial" pitchFamily="34" charset="-122"/>
                <a:cs typeface="Arial" pitchFamily="34" charset="-120"/>
              </a:rPr>
              <a:t>STEP 3 · LINK</a:t>
            </a:r>
          </a:p>
        </p:txBody>
      </p:sp>
      <p:sp>
        <p:nvSpPr>
          <p:cNvPr id="23" name="Text 18"/>
          <p:cNvSpPr txBox="1"/>
          <p:nvPr/>
        </p:nvSpPr>
        <p:spPr>
          <a:xfrm>
            <a:off x="642366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Reach 100 m</a:t>
            </a:r>
          </a:p>
        </p:txBody>
      </p:sp>
      <p:sp>
        <p:nvSpPr>
          <p:cNvPr id="24" name="Text 19"/>
          <p:cNvSpPr txBox="1"/>
          <p:nvPr/>
        </p:nvSpPr>
        <p:spPr>
          <a:xfrm>
            <a:off x="6423660" y="4892040"/>
            <a:ext cx="2148840" cy="1371600"/>
          </a:xfrm>
          <a:prstGeom prst="rect">
            <a:avLst/>
          </a:prstGeom>
          <a:noFill/>
          <a:ln/>
        </p:spPr>
        <p:txBody>
          <a:bodyPr wrap="square" lIns="0" tIns="0" rIns="0" bIns="0" rtlCol="0" anchor="t"/>
          <a:lstStyle/>
          <a:p>
            <a:pPr marL="0" indent="0">
              <a:buNone/>
            </a:pPr>
            <a:r>
              <a:rPr lang="en-US" sz="1300" dirty="0">
                <a:solidFill>
                  <a:srgbClr val="333333"/>
                </a:solidFill>
                <a:latin typeface="Arial" pitchFamily="34" charset="0"/>
                <a:ea typeface="Arial" pitchFamily="34" charset="-122"/>
                <a:cs typeface="Arial" pitchFamily="34" charset="-120"/>
              </a:rPr>
              <a:t>A second ESP32-C3 at the finish: long-range ESP-NOW, then BLE to the phone</a:t>
            </a:r>
          </a:p>
        </p:txBody>
      </p:sp>
      <p:sp>
        <p:nvSpPr>
          <p:cNvPr id="25" name="Shape 20"/>
          <p:cNvSpPr/>
          <p:nvPr/>
        </p:nvSpPr>
        <p:spPr>
          <a:xfrm>
            <a:off x="9052560" y="2103120"/>
            <a:ext cx="822960" cy="822960"/>
          </a:xfrm>
          <a:prstGeom prst="ellipse">
            <a:avLst/>
          </a:prstGeom>
          <a:solidFill>
            <a:srgbClr val="111111"/>
          </a:solidFill>
          <a:ln w="12700">
            <a:solidFill>
              <a:srgbClr val="111111"/>
            </a:solidFill>
            <a:prstDash val="solid"/>
          </a:ln>
        </p:spPr>
        <p:txBody>
          <a:bodyPr/>
          <a:lstStyle/>
          <a:p>
            <a:endParaRPr lang="en-IT"/>
          </a:p>
        </p:txBody>
      </p:sp>
      <p:sp>
        <p:nvSpPr>
          <p:cNvPr id="27" name="Shape 21"/>
          <p:cNvSpPr/>
          <p:nvPr/>
        </p:nvSpPr>
        <p:spPr>
          <a:xfrm>
            <a:off x="9052560" y="3429000"/>
            <a:ext cx="2606040" cy="2331720"/>
          </a:xfrm>
          <a:prstGeom prst="roundRect">
            <a:avLst>
              <a:gd name="adj" fmla="val 3922"/>
            </a:avLst>
          </a:prstGeom>
          <a:solidFill>
            <a:srgbClr val="F3F3F3"/>
          </a:solidFill>
          <a:ln w="12700">
            <a:solidFill>
              <a:srgbClr val="F3F3F3"/>
            </a:solidFill>
            <a:prstDash val="solid"/>
          </a:ln>
        </p:spPr>
        <p:txBody>
          <a:bodyPr/>
          <a:lstStyle/>
          <a:p>
            <a:endParaRPr lang="en-IT"/>
          </a:p>
        </p:txBody>
      </p:sp>
      <p:sp>
        <p:nvSpPr>
          <p:cNvPr id="28" name="Text 22"/>
          <p:cNvSpPr txBox="1"/>
          <p:nvPr/>
        </p:nvSpPr>
        <p:spPr>
          <a:xfrm>
            <a:off x="9258300" y="3749040"/>
            <a:ext cx="2148840" cy="274320"/>
          </a:xfrm>
          <a:prstGeom prst="rect">
            <a:avLst/>
          </a:prstGeom>
          <a:noFill/>
          <a:ln/>
        </p:spPr>
        <p:txBody>
          <a:bodyPr wrap="square" lIns="0" tIns="0" rIns="0" bIns="0" rtlCol="0" anchor="t"/>
          <a:lstStyle/>
          <a:p>
            <a:pPr marL="0" indent="0">
              <a:buNone/>
            </a:pPr>
            <a:r>
              <a:rPr lang="en-US" sz="1100" b="1" kern="0" spc="200" dirty="0">
                <a:solidFill>
                  <a:srgbClr val="6B6B6B"/>
                </a:solidFill>
                <a:latin typeface="Arial" pitchFamily="34" charset="0"/>
                <a:ea typeface="Arial" pitchFamily="34" charset="-122"/>
                <a:cs typeface="Arial" pitchFamily="34" charset="-120"/>
              </a:rPr>
              <a:t>STEP 4 · APP</a:t>
            </a:r>
          </a:p>
        </p:txBody>
      </p:sp>
      <p:sp>
        <p:nvSpPr>
          <p:cNvPr id="29" name="Text 23"/>
          <p:cNvSpPr txBox="1"/>
          <p:nvPr/>
        </p:nvSpPr>
        <p:spPr>
          <a:xfrm>
            <a:off x="925830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Photo finish on Android</a:t>
            </a:r>
          </a:p>
        </p:txBody>
      </p:sp>
      <p:sp>
        <p:nvSpPr>
          <p:cNvPr id="30" name="Text 24"/>
          <p:cNvSpPr txBox="1"/>
          <p:nvPr/>
        </p:nvSpPr>
        <p:spPr>
          <a:xfrm>
            <a:off x="9258300" y="4892040"/>
            <a:ext cx="2148840" cy="1371600"/>
          </a:xfrm>
          <a:prstGeom prst="rect">
            <a:avLst/>
          </a:prstGeom>
          <a:noFill/>
          <a:ln/>
        </p:spPr>
        <p:txBody>
          <a:bodyPr wrap="square" lIns="0" tIns="0" rIns="0" bIns="0" rtlCol="0" anchor="t"/>
          <a:lstStyle/>
          <a:p>
            <a:pPr marL="0" indent="0">
              <a:buNone/>
            </a:pPr>
            <a:r>
              <a:rPr lang="en-US" sz="1300" dirty="0">
                <a:solidFill>
                  <a:srgbClr val="333333"/>
                </a:solidFill>
                <a:latin typeface="Arial" pitchFamily="34" charset="0"/>
                <a:ea typeface="Arial" pitchFamily="34" charset="-122"/>
                <a:cs typeface="Arial" pitchFamily="34" charset="-120"/>
              </a:rPr>
              <a:t>Same detector on Android's camera; iOS works today</a:t>
            </a:r>
          </a:p>
        </p:txBody>
      </p:sp>
      <p:pic>
        <p:nvPicPr>
          <p:cNvPr id="32" name="Graphic 31" descr="Wireless with solid fill">
            <a:extLst>
              <a:ext uri="{FF2B5EF4-FFF2-40B4-BE49-F238E27FC236}">
                <a16:creationId xmlns:a16="http://schemas.microsoft.com/office/drawing/2014/main" id="{005396E7-8F17-014A-6B9E-AA4DA9F69B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41070" y="2260910"/>
            <a:ext cx="507380" cy="507380"/>
          </a:xfrm>
          <a:prstGeom prst="rect">
            <a:avLst/>
          </a:prstGeom>
        </p:spPr>
      </p:pic>
      <p:pic>
        <p:nvPicPr>
          <p:cNvPr id="34" name="Graphic 33" descr="Smart Phone with solid fill">
            <a:extLst>
              <a:ext uri="{FF2B5EF4-FFF2-40B4-BE49-F238E27FC236}">
                <a16:creationId xmlns:a16="http://schemas.microsoft.com/office/drawing/2014/main" id="{D01E46BE-9789-690A-EF85-CCDAC4E9E6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0634" y="2270759"/>
            <a:ext cx="497531" cy="497531"/>
          </a:xfrm>
          <a:prstGeom prst="rect">
            <a:avLst/>
          </a:prstGeom>
        </p:spPr>
      </p:pic>
      <p:pic>
        <p:nvPicPr>
          <p:cNvPr id="38" name="Graphic 37" descr="Stopwatch 75% with solid fill">
            <a:extLst>
              <a:ext uri="{FF2B5EF4-FFF2-40B4-BE49-F238E27FC236}">
                <a16:creationId xmlns:a16="http://schemas.microsoft.com/office/drawing/2014/main" id="{082FBF6E-3FF7-C6C9-AA40-295A529ADF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7975" y="2218535"/>
            <a:ext cx="592130" cy="592130"/>
          </a:xfrm>
          <a:prstGeom prst="rect">
            <a:avLst/>
          </a:prstGeom>
        </p:spPr>
      </p:pic>
      <p:pic>
        <p:nvPicPr>
          <p:cNvPr id="40" name="Graphic 39" descr="Completed with solid fill">
            <a:extLst>
              <a:ext uri="{FF2B5EF4-FFF2-40B4-BE49-F238E27FC236}">
                <a16:creationId xmlns:a16="http://schemas.microsoft.com/office/drawing/2014/main" id="{3EF23C2D-DED1-58FB-870E-BDD2854262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0080" y="2194560"/>
            <a:ext cx="640080" cy="640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solidFill>
              <a:srgbClr val="B7FF00"/>
            </a:solidFill>
            <a:prstDash val="solid"/>
          </a:ln>
        </p:spPr>
        <p:txBody>
          <a:bodyPr/>
          <a:lstStyle/>
          <a:p>
            <a:endParaRPr lang="en-IT"/>
          </a:p>
        </p:txBody>
      </p:sp>
      <p:sp>
        <p:nvSpPr>
          <p:cNvPr id="3" name="Text 1"/>
          <p:cNvSpPr txBox="1"/>
          <p:nvPr/>
        </p:nvSpPr>
        <p:spPr>
          <a:xfrm>
            <a:off x="548640" y="483782"/>
            <a:ext cx="777240" cy="502920"/>
          </a:xfrm>
          <a:prstGeom prst="rect">
            <a:avLst/>
          </a:prstGeom>
          <a:noFill/>
          <a:ln/>
        </p:spPr>
        <p:txBody>
          <a:bodyPr wrap="square" lIns="0" tIns="0" rIns="0" bIns="0" rtlCol="0" anchor="ctr"/>
          <a:lstStyle/>
          <a:p>
            <a:pPr marL="0" indent="0" algn="ctr">
              <a:buNone/>
            </a:pPr>
            <a:r>
              <a:rPr lang="en-US" sz="2200" b="1" i="1">
                <a:solidFill>
                  <a:srgbClr val="111111"/>
                </a:solidFill>
                <a:latin typeface="Arial" pitchFamily="34" charset="0"/>
                <a:ea typeface="Arial" pitchFamily="34" charset="-122"/>
                <a:cs typeface="Arial" pitchFamily="34" charset="-120"/>
              </a:rPr>
              <a:t>09</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a:solidFill>
                  <a:srgbClr val="111111"/>
                </a:solidFill>
                <a:latin typeface="Arial" pitchFamily="34" charset="0"/>
                <a:ea typeface="Arial" pitchFamily="34" charset="-122"/>
                <a:cs typeface="Arial" pitchFamily="34" charset="-120"/>
              </a:rPr>
              <a:t>HOW WE WORKED</a:t>
            </a:r>
          </a:p>
        </p:txBody>
      </p:sp>
      <p:sp>
        <p:nvSpPr>
          <p:cNvPr id="5" name="Shape 3"/>
          <p:cNvSpPr/>
          <p:nvPr/>
        </p:nvSpPr>
        <p:spPr>
          <a:xfrm>
            <a:off x="548640" y="1325880"/>
            <a:ext cx="5394960" cy="5029200"/>
          </a:xfrm>
          <a:prstGeom prst="roundRect">
            <a:avLst>
              <a:gd name="adj" fmla="val 1818"/>
            </a:avLst>
          </a:prstGeom>
          <a:solidFill>
            <a:srgbClr val="111111"/>
          </a:solidFill>
          <a:ln w="12700">
            <a:solidFill>
              <a:srgbClr val="111111"/>
            </a:solidFill>
            <a:prstDash val="solid"/>
          </a:ln>
        </p:spPr>
        <p:txBody>
          <a:bodyPr/>
          <a:lstStyle/>
          <a:p>
            <a:endParaRPr lang="en-IT"/>
          </a:p>
        </p:txBody>
      </p:sp>
      <p:sp>
        <p:nvSpPr>
          <p:cNvPr id="6" name="Shape 4"/>
          <p:cNvSpPr/>
          <p:nvPr/>
        </p:nvSpPr>
        <p:spPr>
          <a:xfrm>
            <a:off x="868680" y="1554480"/>
            <a:ext cx="640080" cy="640080"/>
          </a:xfrm>
          <a:prstGeom prst="ellipse">
            <a:avLst/>
          </a:prstGeom>
          <a:solidFill>
            <a:srgbClr val="B7FF00"/>
          </a:solidFill>
          <a:ln w="12700">
            <a:solidFill>
              <a:srgbClr val="B7FF00"/>
            </a:solidFill>
            <a:prstDash val="solid"/>
          </a:ln>
        </p:spPr>
        <p:txBody>
          <a:bodyPr/>
          <a:lstStyle/>
          <a:p>
            <a:endParaRPr lang="en-IT"/>
          </a:p>
        </p:txBody>
      </p:sp>
      <p:pic>
        <p:nvPicPr>
          <p:cNvPr id="7" name="Image 0" descr="preencoded.png"/>
          <p:cNvPicPr>
            <a:picLocks noChangeAspect="1"/>
          </p:cNvPicPr>
          <p:nvPr/>
        </p:nvPicPr>
        <p:blipFill>
          <a:blip r:embed="rId3"/>
          <a:stretch>
            <a:fillRect/>
          </a:stretch>
        </p:blipFill>
        <p:spPr>
          <a:xfrm>
            <a:off x="1028700" y="1714500"/>
            <a:ext cx="320040" cy="320040"/>
          </a:xfrm>
          <a:prstGeom prst="rect">
            <a:avLst/>
          </a:prstGeom>
        </p:spPr>
      </p:pic>
      <p:sp>
        <p:nvSpPr>
          <p:cNvPr id="8" name="Text 5"/>
          <p:cNvSpPr txBox="1"/>
          <p:nvPr/>
        </p:nvSpPr>
        <p:spPr>
          <a:xfrm>
            <a:off x="1691640" y="1554480"/>
            <a:ext cx="4023360" cy="640080"/>
          </a:xfrm>
          <a:prstGeom prst="rect">
            <a:avLst/>
          </a:prstGeom>
          <a:noFill/>
          <a:ln/>
        </p:spPr>
        <p:txBody>
          <a:bodyPr wrap="square" lIns="0" tIns="0" rIns="0" bIns="0" rtlCol="0" anchor="ctr"/>
          <a:lstStyle/>
          <a:p>
            <a:pPr marL="0" indent="0">
              <a:buNone/>
            </a:pPr>
            <a:r>
              <a:rPr lang="en-US" sz="2000" b="1" i="1">
                <a:solidFill>
                  <a:srgbClr val="B7FF00"/>
                </a:solidFill>
                <a:latin typeface="Arial"/>
                <a:ea typeface="Arial" pitchFamily="34" charset="-122"/>
                <a:cs typeface="Arial"/>
              </a:rPr>
              <a:t>WHAT WENT WELL</a:t>
            </a:r>
            <a:endParaRPr lang="en-US" sz="2000">
              <a:solidFill>
                <a:srgbClr val="B7FF00"/>
              </a:solidFill>
              <a:latin typeface="Arial"/>
              <a:ea typeface="Calibri"/>
              <a:cs typeface="Arial"/>
            </a:endParaRPr>
          </a:p>
        </p:txBody>
      </p:sp>
      <p:sp>
        <p:nvSpPr>
          <p:cNvPr id="9" name="Text 6"/>
          <p:cNvSpPr txBox="1"/>
          <p:nvPr/>
        </p:nvSpPr>
        <p:spPr>
          <a:xfrm>
            <a:off x="868680" y="2514600"/>
            <a:ext cx="4754880" cy="365760"/>
          </a:xfrm>
          <a:prstGeom prst="rect">
            <a:avLst/>
          </a:prstGeom>
          <a:noFill/>
          <a:ln/>
        </p:spPr>
        <p:txBody>
          <a:bodyPr wrap="square" lIns="0" tIns="0" rIns="0" bIns="0" rtlCol="0" anchor="t"/>
          <a:lstStyle/>
          <a:p>
            <a:pPr marL="0" indent="0">
              <a:buNone/>
            </a:pPr>
            <a:r>
              <a:rPr lang="en-US" sz="1600" b="1">
                <a:solidFill>
                  <a:srgbClr val="B7FF00"/>
                </a:solidFill>
                <a:latin typeface="Arial"/>
                <a:ea typeface="Arial" pitchFamily="34" charset="-122"/>
                <a:cs typeface="Arial"/>
              </a:rPr>
              <a:t>Test with real sprinters</a:t>
            </a:r>
            <a:endParaRPr lang="en-US" sz="1600">
              <a:solidFill>
                <a:srgbClr val="B7FF00"/>
              </a:solidFill>
              <a:latin typeface="Arial"/>
              <a:ea typeface="Calibri"/>
              <a:cs typeface="Arial"/>
            </a:endParaRPr>
          </a:p>
        </p:txBody>
      </p:sp>
      <p:sp>
        <p:nvSpPr>
          <p:cNvPr id="10" name="Text 7"/>
          <p:cNvSpPr txBox="1"/>
          <p:nvPr/>
        </p:nvSpPr>
        <p:spPr>
          <a:xfrm>
            <a:off x="868680" y="2898648"/>
            <a:ext cx="4754880" cy="640080"/>
          </a:xfrm>
          <a:prstGeom prst="rect">
            <a:avLst/>
          </a:prstGeom>
          <a:noFill/>
          <a:ln/>
        </p:spPr>
        <p:txBody>
          <a:bodyPr wrap="square" lIns="0" tIns="0" rIns="0" bIns="0" rtlCol="0" anchor="t"/>
          <a:lstStyle/>
          <a:p>
            <a:pPr marL="0" indent="0">
              <a:buNone/>
            </a:pPr>
            <a:r>
              <a:rPr lang="en-US" sz="1300">
                <a:solidFill>
                  <a:srgbClr val="DDDDDD"/>
                </a:solidFill>
                <a:latin typeface="Arial" pitchFamily="34" charset="0"/>
                <a:ea typeface="Arial" pitchFamily="34" charset="-122"/>
                <a:cs typeface="Arial" pitchFamily="34" charset="-120"/>
              </a:rPr>
              <a:t>Real blocks and athletes, then 240 fps video as ground truth</a:t>
            </a:r>
          </a:p>
        </p:txBody>
      </p:sp>
      <p:sp>
        <p:nvSpPr>
          <p:cNvPr id="11" name="Text 8"/>
          <p:cNvSpPr txBox="1"/>
          <p:nvPr/>
        </p:nvSpPr>
        <p:spPr>
          <a:xfrm>
            <a:off x="868680" y="3749040"/>
            <a:ext cx="4754880" cy="365760"/>
          </a:xfrm>
          <a:prstGeom prst="rect">
            <a:avLst/>
          </a:prstGeom>
          <a:noFill/>
          <a:ln/>
        </p:spPr>
        <p:txBody>
          <a:bodyPr wrap="square" lIns="0" tIns="0" rIns="0" bIns="0" rtlCol="0" anchor="t"/>
          <a:lstStyle/>
          <a:p>
            <a:pPr marL="0" indent="0">
              <a:buNone/>
            </a:pPr>
            <a:r>
              <a:rPr lang="en-US" sz="1600" b="1">
                <a:solidFill>
                  <a:srgbClr val="B7FF00"/>
                </a:solidFill>
                <a:latin typeface="Arial"/>
                <a:ea typeface="Arial" pitchFamily="34" charset="-122"/>
                <a:cs typeface="Arial"/>
              </a:rPr>
              <a:t>Measure before trusting</a:t>
            </a:r>
            <a:endParaRPr lang="en-US" sz="1600">
              <a:solidFill>
                <a:srgbClr val="B7FF00"/>
              </a:solidFill>
              <a:latin typeface="Arial"/>
              <a:ea typeface="Calibri"/>
              <a:cs typeface="Arial"/>
            </a:endParaRPr>
          </a:p>
        </p:txBody>
      </p:sp>
      <p:sp>
        <p:nvSpPr>
          <p:cNvPr id="12" name="Text 9"/>
          <p:cNvSpPr txBox="1"/>
          <p:nvPr/>
        </p:nvSpPr>
        <p:spPr>
          <a:xfrm>
            <a:off x="868680" y="4133088"/>
            <a:ext cx="4754880" cy="640080"/>
          </a:xfrm>
          <a:prstGeom prst="rect">
            <a:avLst/>
          </a:prstGeom>
          <a:noFill/>
          <a:ln/>
        </p:spPr>
        <p:txBody>
          <a:bodyPr wrap="square" lIns="0" tIns="0" rIns="0" bIns="0" rtlCol="0" anchor="t"/>
          <a:lstStyle/>
          <a:p>
            <a:pPr marL="0" indent="0">
              <a:buNone/>
            </a:pPr>
            <a:r>
              <a:rPr lang="en-US" sz="1300">
                <a:solidFill>
                  <a:srgbClr val="DDDDDD"/>
                </a:solidFill>
                <a:latin typeface="Arial" pitchFamily="34" charset="0"/>
                <a:ea typeface="Arial" pitchFamily="34" charset="-122"/>
                <a:cs typeface="Arial" pitchFamily="34" charset="-120"/>
              </a:rPr>
              <a:t>Serial link capped us at 232 Hz → on-board buffer, 865 Hz without gaps</a:t>
            </a:r>
            <a:endParaRPr lang="en-US" sz="1300"/>
          </a:p>
        </p:txBody>
      </p:sp>
      <p:sp>
        <p:nvSpPr>
          <p:cNvPr id="13" name="Text 10"/>
          <p:cNvSpPr txBox="1"/>
          <p:nvPr/>
        </p:nvSpPr>
        <p:spPr>
          <a:xfrm>
            <a:off x="868680" y="4983480"/>
            <a:ext cx="4754880" cy="365760"/>
          </a:xfrm>
          <a:prstGeom prst="rect">
            <a:avLst/>
          </a:prstGeom>
          <a:noFill/>
          <a:ln/>
        </p:spPr>
        <p:txBody>
          <a:bodyPr wrap="square" lIns="0" tIns="0" rIns="0" bIns="0" rtlCol="0" anchor="t"/>
          <a:lstStyle/>
          <a:p>
            <a:pPr marL="0" indent="0">
              <a:buNone/>
            </a:pPr>
            <a:r>
              <a:rPr lang="en-US" sz="1600" b="1">
                <a:solidFill>
                  <a:srgbClr val="B7FF00"/>
                </a:solidFill>
                <a:latin typeface="Arial"/>
                <a:ea typeface="Arial" pitchFamily="34" charset="-122"/>
                <a:cs typeface="Arial"/>
              </a:rPr>
              <a:t>Let data drive the design</a:t>
            </a:r>
            <a:endParaRPr lang="en-US" sz="1600">
              <a:solidFill>
                <a:srgbClr val="B7FF00"/>
              </a:solidFill>
              <a:latin typeface="Arial"/>
              <a:ea typeface="Calibri"/>
              <a:cs typeface="Arial"/>
            </a:endParaRPr>
          </a:p>
        </p:txBody>
      </p:sp>
      <p:sp>
        <p:nvSpPr>
          <p:cNvPr id="14" name="Text 11"/>
          <p:cNvSpPr txBox="1"/>
          <p:nvPr/>
        </p:nvSpPr>
        <p:spPr>
          <a:xfrm>
            <a:off x="868680" y="5367528"/>
            <a:ext cx="4754880" cy="640080"/>
          </a:xfrm>
          <a:prstGeom prst="rect">
            <a:avLst/>
          </a:prstGeom>
          <a:noFill/>
          <a:ln/>
        </p:spPr>
        <p:txBody>
          <a:bodyPr wrap="square" lIns="0" tIns="0" rIns="0" bIns="0" rtlCol="0" anchor="t"/>
          <a:lstStyle/>
          <a:p>
            <a:pPr marL="0" indent="0">
              <a:buNone/>
            </a:pPr>
            <a:r>
              <a:rPr lang="en-US" sz="1300">
                <a:solidFill>
                  <a:srgbClr val="DDDDDD"/>
                </a:solidFill>
                <a:latin typeface="Arial" pitchFamily="34" charset="0"/>
                <a:ea typeface="Arial" pitchFamily="34" charset="-122"/>
                <a:cs typeface="Arial" pitchFamily="34" charset="-120"/>
              </a:rPr>
              <a:t>Threshold sweep showed drift → added the AIC step</a:t>
            </a:r>
            <a:endParaRPr lang="en-US" sz="1300"/>
          </a:p>
        </p:txBody>
      </p:sp>
      <p:sp>
        <p:nvSpPr>
          <p:cNvPr id="15" name="Shape 12"/>
          <p:cNvSpPr/>
          <p:nvPr/>
        </p:nvSpPr>
        <p:spPr>
          <a:xfrm>
            <a:off x="6263640" y="1325880"/>
            <a:ext cx="5394960" cy="5029200"/>
          </a:xfrm>
          <a:prstGeom prst="roundRect">
            <a:avLst>
              <a:gd name="adj" fmla="val 1818"/>
            </a:avLst>
          </a:prstGeom>
          <a:solidFill>
            <a:srgbClr val="B7FF00"/>
          </a:solidFill>
          <a:ln w="12700">
            <a:solidFill>
              <a:srgbClr val="B7FF00"/>
            </a:solidFill>
            <a:prstDash val="solid"/>
          </a:ln>
        </p:spPr>
        <p:txBody>
          <a:bodyPr/>
          <a:lstStyle/>
          <a:p>
            <a:endParaRPr lang="en-IT"/>
          </a:p>
        </p:txBody>
      </p:sp>
      <p:sp>
        <p:nvSpPr>
          <p:cNvPr id="16" name="Shape 13"/>
          <p:cNvSpPr/>
          <p:nvPr/>
        </p:nvSpPr>
        <p:spPr>
          <a:xfrm>
            <a:off x="6583680" y="1554480"/>
            <a:ext cx="640080" cy="640080"/>
          </a:xfrm>
          <a:prstGeom prst="ellipse">
            <a:avLst/>
          </a:prstGeom>
          <a:solidFill>
            <a:srgbClr val="111111"/>
          </a:solidFill>
          <a:ln w="12700">
            <a:solidFill>
              <a:srgbClr val="111111"/>
            </a:solidFill>
            <a:prstDash val="solid"/>
          </a:ln>
        </p:spPr>
        <p:txBody>
          <a:bodyPr/>
          <a:lstStyle/>
          <a:p>
            <a:endParaRPr lang="en-IT"/>
          </a:p>
        </p:txBody>
      </p:sp>
      <p:pic>
        <p:nvPicPr>
          <p:cNvPr id="17" name="Image 1" descr="Close with solid fill"/>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43700" y="1714500"/>
            <a:ext cx="320040" cy="320040"/>
          </a:xfrm>
          <a:prstGeom prst="rect">
            <a:avLst/>
          </a:prstGeom>
        </p:spPr>
      </p:pic>
      <p:sp>
        <p:nvSpPr>
          <p:cNvPr id="18" name="Text 14"/>
          <p:cNvSpPr txBox="1"/>
          <p:nvPr/>
        </p:nvSpPr>
        <p:spPr>
          <a:xfrm>
            <a:off x="7406640" y="1554480"/>
            <a:ext cx="4023360" cy="640080"/>
          </a:xfrm>
          <a:prstGeom prst="rect">
            <a:avLst/>
          </a:prstGeom>
          <a:noFill/>
          <a:ln/>
        </p:spPr>
        <p:txBody>
          <a:bodyPr wrap="square" lIns="0" tIns="0" rIns="0" bIns="0" rtlCol="0" anchor="ctr"/>
          <a:lstStyle/>
          <a:p>
            <a:pPr marL="0" indent="0">
              <a:buNone/>
            </a:pPr>
            <a:r>
              <a:rPr lang="en-US" sz="2000" b="1" i="1">
                <a:solidFill>
                  <a:srgbClr val="111111"/>
                </a:solidFill>
                <a:latin typeface="Arial" pitchFamily="34" charset="0"/>
                <a:ea typeface="Arial" pitchFamily="34" charset="-122"/>
                <a:cs typeface="Arial" pitchFamily="34" charset="-120"/>
              </a:rPr>
              <a:t>WHAT WE WOULD CHANGE</a:t>
            </a:r>
            <a:endParaRPr lang="en-US" sz="2000"/>
          </a:p>
        </p:txBody>
      </p:sp>
      <p:sp>
        <p:nvSpPr>
          <p:cNvPr id="19" name="Text 15"/>
          <p:cNvSpPr txBox="1"/>
          <p:nvPr/>
        </p:nvSpPr>
        <p:spPr>
          <a:xfrm>
            <a:off x="6583680" y="2514600"/>
            <a:ext cx="4754880" cy="36576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Test radio range earlier</a:t>
            </a:r>
            <a:endParaRPr lang="en-US" sz="1600"/>
          </a:p>
        </p:txBody>
      </p:sp>
      <p:sp>
        <p:nvSpPr>
          <p:cNvPr id="20" name="Text 16"/>
          <p:cNvSpPr txBox="1"/>
          <p:nvPr/>
        </p:nvSpPr>
        <p:spPr>
          <a:xfrm>
            <a:off x="6583680" y="2898648"/>
            <a:ext cx="4754880" cy="640080"/>
          </a:xfrm>
          <a:prstGeom prst="rect">
            <a:avLst/>
          </a:prstGeom>
          <a:noFill/>
          <a:ln/>
        </p:spPr>
        <p:txBody>
          <a:bodyPr wrap="square" lIns="0" tIns="0" rIns="0" bIns="0" rtlCol="0" anchor="t"/>
          <a:lstStyle/>
          <a:p>
            <a:pPr marL="0" indent="0">
              <a:buNone/>
            </a:pPr>
            <a:r>
              <a:rPr lang="en-US" sz="1300">
                <a:solidFill>
                  <a:srgbClr val="333333"/>
                </a:solidFill>
                <a:latin typeface="Arial" pitchFamily="34" charset="0"/>
                <a:ea typeface="Arial" pitchFamily="34" charset="-122"/>
                <a:cs typeface="Arial" pitchFamily="34" charset="-120"/>
              </a:rPr>
              <a:t>ESP32-C3 Wi-Fi reached 60–70 m; a track needs 150–200 m</a:t>
            </a:r>
            <a:endParaRPr lang="en-US" sz="1300"/>
          </a:p>
        </p:txBody>
      </p:sp>
      <p:sp>
        <p:nvSpPr>
          <p:cNvPr id="21" name="Text 17"/>
          <p:cNvSpPr txBox="1"/>
          <p:nvPr/>
        </p:nvSpPr>
        <p:spPr>
          <a:xfrm>
            <a:off x="6583680" y="3749040"/>
            <a:ext cx="4754880" cy="36576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Plan ground truth from day one</a:t>
            </a:r>
            <a:endParaRPr lang="en-US" sz="1600"/>
          </a:p>
        </p:txBody>
      </p:sp>
      <p:sp>
        <p:nvSpPr>
          <p:cNvPr id="22" name="Text 18"/>
          <p:cNvSpPr txBox="1"/>
          <p:nvPr/>
        </p:nvSpPr>
        <p:spPr>
          <a:xfrm>
            <a:off x="6583680" y="4133088"/>
            <a:ext cx="4754880" cy="640080"/>
          </a:xfrm>
          <a:prstGeom prst="rect">
            <a:avLst/>
          </a:prstGeom>
          <a:noFill/>
          <a:ln/>
        </p:spPr>
        <p:txBody>
          <a:bodyPr wrap="square" lIns="0" tIns="0" rIns="0" bIns="0" rtlCol="0" anchor="t"/>
          <a:lstStyle/>
          <a:p>
            <a:pPr marL="0" indent="0">
              <a:buNone/>
            </a:pPr>
            <a:r>
              <a:rPr lang="en-US" sz="1300">
                <a:solidFill>
                  <a:srgbClr val="333333"/>
                </a:solidFill>
                <a:latin typeface="Arial" pitchFamily="34" charset="0"/>
                <a:ea typeface="Arial" pitchFamily="34" charset="-122"/>
                <a:cs typeface="Arial" pitchFamily="34" charset="-120"/>
              </a:rPr>
              <a:t>The LED + 240 fps check came at the end; it should come first</a:t>
            </a:r>
          </a:p>
        </p:txBody>
      </p:sp>
      <p:sp>
        <p:nvSpPr>
          <p:cNvPr id="23" name="Text 19"/>
          <p:cNvSpPr txBox="1"/>
          <p:nvPr/>
        </p:nvSpPr>
        <p:spPr>
          <a:xfrm>
            <a:off x="6583680" y="4983480"/>
            <a:ext cx="4754880" cy="365760"/>
          </a:xfrm>
          <a:prstGeom prst="rect">
            <a:avLst/>
          </a:prstGeom>
          <a:noFill/>
          <a:ln/>
        </p:spPr>
        <p:txBody>
          <a:bodyPr wrap="square" lIns="0" tIns="0" rIns="0" bIns="0" rtlCol="0" anchor="t"/>
          <a:lstStyle/>
          <a:p>
            <a:pPr marL="0" indent="0">
              <a:buNone/>
            </a:pPr>
            <a:r>
              <a:rPr lang="en-US" sz="1600" b="1">
                <a:solidFill>
                  <a:srgbClr val="111111"/>
                </a:solidFill>
                <a:latin typeface="Arial" pitchFamily="34" charset="0"/>
                <a:ea typeface="Arial" pitchFamily="34" charset="-122"/>
                <a:cs typeface="Arial" pitchFamily="34" charset="-120"/>
              </a:rPr>
              <a:t>Choose the final microcontroller early</a:t>
            </a:r>
          </a:p>
        </p:txBody>
      </p:sp>
      <p:sp>
        <p:nvSpPr>
          <p:cNvPr id="24" name="Text 20"/>
          <p:cNvSpPr txBox="1"/>
          <p:nvPr/>
        </p:nvSpPr>
        <p:spPr>
          <a:xfrm>
            <a:off x="6583680" y="5367528"/>
            <a:ext cx="4754880" cy="640080"/>
          </a:xfrm>
          <a:prstGeom prst="rect">
            <a:avLst/>
          </a:prstGeom>
          <a:noFill/>
          <a:ln/>
        </p:spPr>
        <p:txBody>
          <a:bodyPr wrap="square" lIns="0" tIns="0" rIns="0" bIns="0" rtlCol="0" anchor="t"/>
          <a:lstStyle/>
          <a:p>
            <a:pPr marL="0" indent="0">
              <a:buNone/>
            </a:pPr>
            <a:r>
              <a:rPr lang="en-US" sz="1300">
                <a:solidFill>
                  <a:srgbClr val="333333"/>
                </a:solidFill>
                <a:latin typeface="Arial" pitchFamily="34" charset="0"/>
                <a:ea typeface="Arial" pitchFamily="34" charset="-122"/>
                <a:cs typeface="Arial" pitchFamily="34" charset="-120"/>
              </a:rPr>
              <a:t>Bluetooth on the first board cost timing → one ESP32-C3 for everything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tretch>
            <a:fillRect/>
          </a:stretch>
        </p:blipFill>
        <p:spPr>
          <a:xfrm>
            <a:off x="708660" y="1348740"/>
            <a:ext cx="320040" cy="320040"/>
          </a:xfrm>
          <a:prstGeom prst="rect">
            <a:avLst/>
          </a:prstGeom>
        </p:spPr>
      </p:pic>
      <p:pic>
        <p:nvPicPr>
          <p:cNvPr id="10" name="Image 2" descr="preencoded.png"/>
          <p:cNvPicPr>
            <a:picLocks noChangeAspect="1"/>
          </p:cNvPicPr>
          <p:nvPr/>
        </p:nvPicPr>
        <p:blipFill>
          <a:blip r:embed="rId4"/>
          <a:stretch>
            <a:fillRect/>
          </a:stretch>
        </p:blipFill>
        <p:spPr>
          <a:xfrm>
            <a:off x="708660" y="3177540"/>
            <a:ext cx="320040" cy="320040"/>
          </a:xfrm>
          <a:prstGeom prst="rect">
            <a:avLst/>
          </a:prstGeom>
        </p:spPr>
      </p:pic>
      <p:sp>
        <p:nvSpPr>
          <p:cNvPr id="12" name="Text 7"/>
          <p:cNvSpPr txBox="1"/>
          <p:nvPr/>
        </p:nvSpPr>
        <p:spPr>
          <a:xfrm>
            <a:off x="687073" y="1010913"/>
            <a:ext cx="7315200" cy="1097280"/>
          </a:xfrm>
          <a:prstGeom prst="rect">
            <a:avLst/>
          </a:prstGeom>
          <a:noFill/>
          <a:ln/>
        </p:spPr>
        <p:txBody>
          <a:bodyPr wrap="square" lIns="0" tIns="0" rIns="0" bIns="0" rtlCol="0" anchor="t"/>
          <a:lstStyle/>
          <a:p>
            <a:pPr marL="0" indent="0">
              <a:buNone/>
            </a:pPr>
            <a:r>
              <a:rPr lang="en-US" sz="6600" b="1" i="1" dirty="0">
                <a:solidFill>
                  <a:srgbClr val="B7FF00"/>
                </a:solidFill>
                <a:latin typeface="Arial"/>
                <a:ea typeface="Arial" pitchFamily="34" charset="-122"/>
                <a:cs typeface="Arial"/>
              </a:rPr>
              <a:t>THANK YOU</a:t>
            </a:r>
            <a:endParaRPr lang="en-US" sz="6600" dirty="0">
              <a:solidFill>
                <a:srgbClr val="B7FF00"/>
              </a:solidFill>
              <a:latin typeface="Arial"/>
              <a:ea typeface="Calibri"/>
              <a:cs typeface="Arial"/>
            </a:endParaRPr>
          </a:p>
        </p:txBody>
      </p:sp>
      <p:sp>
        <p:nvSpPr>
          <p:cNvPr id="13" name="Text 8"/>
          <p:cNvSpPr txBox="1"/>
          <p:nvPr/>
        </p:nvSpPr>
        <p:spPr>
          <a:xfrm>
            <a:off x="708660" y="2263140"/>
            <a:ext cx="7315200" cy="548640"/>
          </a:xfrm>
          <a:prstGeom prst="rect">
            <a:avLst/>
          </a:prstGeom>
          <a:noFill/>
          <a:ln/>
        </p:spPr>
        <p:txBody>
          <a:bodyPr wrap="square" lIns="0" tIns="0" rIns="0" bIns="0" rtlCol="0" anchor="t"/>
          <a:lstStyle/>
          <a:p>
            <a:pPr marL="0" indent="0">
              <a:buNone/>
            </a:pPr>
            <a:r>
              <a:rPr lang="en-US" sz="2400" dirty="0">
                <a:solidFill>
                  <a:srgbClr val="FFFFFF"/>
                </a:solidFill>
                <a:latin typeface="Arial" pitchFamily="34" charset="0"/>
                <a:ea typeface="Arial" pitchFamily="34" charset="-122"/>
                <a:cs typeface="Arial" pitchFamily="34" charset="-120"/>
              </a:rPr>
              <a:t>Questions?</a:t>
            </a:r>
            <a:endParaRPr lang="en-US" sz="2400" dirty="0"/>
          </a:p>
        </p:txBody>
      </p:sp>
      <p:sp>
        <p:nvSpPr>
          <p:cNvPr id="15" name="Text 10"/>
          <p:cNvSpPr txBox="1"/>
          <p:nvPr/>
        </p:nvSpPr>
        <p:spPr>
          <a:xfrm>
            <a:off x="8138160" y="5394960"/>
            <a:ext cx="3520440" cy="548640"/>
          </a:xfrm>
          <a:prstGeom prst="rect">
            <a:avLst/>
          </a:prstGeom>
          <a:noFill/>
          <a:ln/>
        </p:spPr>
        <p:txBody>
          <a:bodyPr wrap="square" lIns="0" tIns="0" rIns="0" bIns="0" rtlCol="0" anchor="t"/>
          <a:lstStyle/>
          <a:p>
            <a:pPr marL="0" indent="0" algn="ctr">
              <a:buNone/>
            </a:pPr>
            <a:r>
              <a:rPr lang="en-US" sz="2800" b="1" i="1" dirty="0">
                <a:solidFill>
                  <a:srgbClr val="111111"/>
                </a:solidFill>
                <a:latin typeface="Arial" pitchFamily="34" charset="0"/>
                <a:ea typeface="Arial" pitchFamily="34" charset="-122"/>
                <a:cs typeface="Arial" pitchFamily="34" charset="-120"/>
              </a:rPr>
              <a:t>PROSTART</a:t>
            </a:r>
            <a:endParaRPr lang="en-US" sz="2800" dirty="0"/>
          </a:p>
        </p:txBody>
      </p:sp>
      <p:pic>
        <p:nvPicPr>
          <p:cNvPr id="16" name="Image 3" descr="preencoded.png"/>
          <p:cNvPicPr>
            <a:picLocks noChangeAspect="1"/>
          </p:cNvPicPr>
          <p:nvPr/>
        </p:nvPicPr>
        <p:blipFill>
          <a:blip r:embed="rId5"/>
          <a:stretch>
            <a:fillRect/>
          </a:stretch>
        </p:blipFill>
        <p:spPr>
          <a:xfrm>
            <a:off x="9098280" y="2011680"/>
            <a:ext cx="1600200" cy="1600200"/>
          </a:xfrm>
          <a:prstGeom prst="rect">
            <a:avLst/>
          </a:prstGeom>
        </p:spPr>
      </p:pic>
      <p:pic>
        <p:nvPicPr>
          <p:cNvPr id="18" name="Picture 17">
            <a:extLst>
              <a:ext uri="{FF2B5EF4-FFF2-40B4-BE49-F238E27FC236}">
                <a16:creationId xmlns:a16="http://schemas.microsoft.com/office/drawing/2014/main" id="{0E878275-16E5-38CB-BDDE-2DBBEDBFFF70}"/>
              </a:ext>
            </a:extLst>
          </p:cNvPr>
          <p:cNvPicPr>
            <a:picLocks noChangeAspect="1"/>
          </p:cNvPicPr>
          <p:nvPr/>
        </p:nvPicPr>
        <p:blipFill>
          <a:blip r:embed="rId6">
            <a:biLevel thresh="50000"/>
            <a:alphaModFix amt="5000"/>
          </a:blip>
          <a:stretch>
            <a:fillRect/>
          </a:stretch>
        </p:blipFill>
        <p:spPr>
          <a:xfrm>
            <a:off x="7010694" y="1010913"/>
            <a:ext cx="4910350" cy="5077915"/>
          </a:xfrm>
          <a:prstGeom prst="rect">
            <a:avLst/>
          </a:prstGeom>
        </p:spPr>
      </p:pic>
      <p:pic>
        <p:nvPicPr>
          <p:cNvPr id="20" name="Picture 19">
            <a:extLst>
              <a:ext uri="{FF2B5EF4-FFF2-40B4-BE49-F238E27FC236}">
                <a16:creationId xmlns:a16="http://schemas.microsoft.com/office/drawing/2014/main" id="{8A6F66CB-67E6-9C0D-4D94-A3F5E5401CCB}"/>
              </a:ext>
            </a:extLst>
          </p:cNvPr>
          <p:cNvPicPr>
            <a:picLocks noChangeAspect="1"/>
          </p:cNvPicPr>
          <p:nvPr/>
        </p:nvPicPr>
        <p:blipFill>
          <a:blip r:embed="rId7"/>
          <a:srcRect/>
          <a:stretch>
            <a:fillRect/>
          </a:stretch>
        </p:blipFill>
        <p:spPr>
          <a:xfrm>
            <a:off x="1902394" y="2811780"/>
            <a:ext cx="3746546" cy="2804746"/>
          </a:xfrm>
          <a:prstGeom prst="rect">
            <a:avLst/>
          </a:prstGeom>
        </p:spPr>
      </p:pic>
      <p:sp>
        <p:nvSpPr>
          <p:cNvPr id="23" name="TextBox 22">
            <a:extLst>
              <a:ext uri="{FF2B5EF4-FFF2-40B4-BE49-F238E27FC236}">
                <a16:creationId xmlns:a16="http://schemas.microsoft.com/office/drawing/2014/main" id="{F415E178-304B-C5F4-65DA-E31B790C05B5}"/>
              </a:ext>
            </a:extLst>
          </p:cNvPr>
          <p:cNvSpPr txBox="1"/>
          <p:nvPr/>
        </p:nvSpPr>
        <p:spPr>
          <a:xfrm>
            <a:off x="687073" y="5915667"/>
            <a:ext cx="6455387" cy="276999"/>
          </a:xfrm>
          <a:prstGeom prst="rect">
            <a:avLst/>
          </a:prstGeom>
          <a:noFill/>
        </p:spPr>
        <p:txBody>
          <a:bodyPr wrap="square">
            <a:spAutoFit/>
          </a:bodyPr>
          <a:lstStyle/>
          <a:p>
            <a:pPr marL="0" indent="0">
              <a:buNone/>
            </a:pPr>
            <a:r>
              <a:rPr lang="en-US" sz="1200" dirty="0">
                <a:solidFill>
                  <a:srgbClr val="BDBDBD"/>
                </a:solidFill>
                <a:latin typeface="Arial" pitchFamily="34" charset="0"/>
                <a:ea typeface="Arial" pitchFamily="34" charset="-122"/>
                <a:cs typeface="Arial" pitchFamily="34" charset="-120"/>
              </a:rPr>
              <a:t>Arianna Bartocci · Duarte </a:t>
            </a:r>
            <a:r>
              <a:rPr lang="en-US" sz="1200" dirty="0" err="1">
                <a:solidFill>
                  <a:srgbClr val="BDBDBD"/>
                </a:solidFill>
                <a:latin typeface="Arial" pitchFamily="34" charset="0"/>
                <a:ea typeface="Arial" pitchFamily="34" charset="-122"/>
                <a:cs typeface="Arial" pitchFamily="34" charset="-120"/>
              </a:rPr>
              <a:t>Chambel</a:t>
            </a:r>
            <a:r>
              <a:rPr lang="en-US" sz="1200" dirty="0">
                <a:solidFill>
                  <a:srgbClr val="BDBDBD"/>
                </a:solidFill>
                <a:latin typeface="Arial" pitchFamily="34" charset="0"/>
                <a:ea typeface="Arial" pitchFamily="34" charset="-122"/>
                <a:cs typeface="Arial" pitchFamily="34" charset="-120"/>
              </a:rPr>
              <a:t> · Lorenzo Galli · Loke Enlund </a:t>
            </a:r>
            <a:r>
              <a:rPr lang="en-US" sz="1200" dirty="0" err="1">
                <a:solidFill>
                  <a:srgbClr val="BDBDBD"/>
                </a:solidFill>
                <a:latin typeface="Arial" pitchFamily="34" charset="0"/>
                <a:ea typeface="Arial" pitchFamily="34" charset="-122"/>
                <a:cs typeface="Arial" pitchFamily="34" charset="-120"/>
              </a:rPr>
              <a:t>Östangård</a:t>
            </a:r>
            <a:r>
              <a:rPr lang="en-US" sz="1200" dirty="0">
                <a:solidFill>
                  <a:srgbClr val="BDBDBD"/>
                </a:solidFill>
                <a:latin typeface="Arial" pitchFamily="34" charset="0"/>
                <a:ea typeface="Arial" pitchFamily="34" charset="-122"/>
                <a:cs typeface="Arial" pitchFamily="34" charset="-120"/>
              </a:rPr>
              <a:t> · Ninad </a:t>
            </a:r>
            <a:r>
              <a:rPr lang="en-US" sz="1200" dirty="0" err="1">
                <a:solidFill>
                  <a:srgbClr val="BDBDBD"/>
                </a:solidFill>
                <a:latin typeface="Arial" pitchFamily="34" charset="0"/>
                <a:ea typeface="Arial" pitchFamily="34" charset="-122"/>
                <a:cs typeface="Arial" pitchFamily="34" charset="-120"/>
              </a:rPr>
              <a:t>Purekar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a:solidFill>
                  <a:srgbClr val="111111"/>
                </a:solidFill>
                <a:latin typeface="Arial" pitchFamily="34" charset="0"/>
                <a:ea typeface="Arial" pitchFamily="34" charset="-122"/>
                <a:cs typeface="Arial" pitchFamily="34" charset="-120"/>
              </a:rPr>
              <a:t>04</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r>
              <a:rPr lang="en-US" sz="3600" b="1" i="1">
                <a:solidFill>
                  <a:srgbClr val="111111"/>
                </a:solidFill>
                <a:latin typeface="Arial"/>
                <a:ea typeface="Arial" pitchFamily="34" charset="-122"/>
                <a:cs typeface="Arial"/>
              </a:rPr>
              <a:t>HARDWARE:  THE BOX</a:t>
            </a:r>
          </a:p>
        </p:txBody>
      </p:sp>
      <p:sp>
        <p:nvSpPr>
          <p:cNvPr id="6" name="Text 3"/>
          <p:cNvSpPr txBox="1"/>
          <p:nvPr/>
        </p:nvSpPr>
        <p:spPr>
          <a:xfrm>
            <a:off x="548640" y="5187461"/>
            <a:ext cx="5623560" cy="274320"/>
          </a:xfrm>
          <a:prstGeom prst="rect">
            <a:avLst/>
          </a:prstGeom>
          <a:noFill/>
          <a:ln/>
        </p:spPr>
        <p:txBody>
          <a:bodyPr wrap="square" lIns="0" tIns="0" rIns="0" bIns="0" rtlCol="0" anchor="t"/>
          <a:lstStyle/>
          <a:p>
            <a:pPr marL="0" indent="0">
              <a:buNone/>
            </a:pPr>
            <a:r>
              <a:rPr lang="en-US" sz="1100" dirty="0">
                <a:solidFill>
                  <a:srgbClr val="6B6B6B"/>
                </a:solidFill>
                <a:latin typeface="Arial" pitchFamily="34" charset="0"/>
                <a:ea typeface="Arial" pitchFamily="34" charset="-122"/>
                <a:cs typeface="Arial" pitchFamily="34" charset="-120"/>
              </a:rPr>
              <a:t>3D-printed box, 75 × 99.5 × 25 mm: box, lid and button cap</a:t>
            </a:r>
          </a:p>
        </p:txBody>
      </p:sp>
      <p:sp>
        <p:nvSpPr>
          <p:cNvPr id="7" name="Shape 4"/>
          <p:cNvSpPr/>
          <p:nvPr/>
        </p:nvSpPr>
        <p:spPr>
          <a:xfrm>
            <a:off x="6492240" y="1441939"/>
            <a:ext cx="5166360" cy="3613638"/>
          </a:xfrm>
          <a:prstGeom prst="roundRect">
            <a:avLst>
              <a:gd name="adj" fmla="val 2381"/>
            </a:avLst>
          </a:prstGeom>
          <a:solidFill>
            <a:srgbClr val="F3F3F3"/>
          </a:solidFill>
          <a:ln w="12700">
            <a:solidFill>
              <a:srgbClr val="F3F3F3"/>
            </a:solidFill>
            <a:prstDash val="solid"/>
          </a:ln>
        </p:spPr>
        <p:txBody>
          <a:bodyPr/>
          <a:lstStyle/>
          <a:p>
            <a:endParaRPr lang="en-IT"/>
          </a:p>
        </p:txBody>
      </p:sp>
      <p:pic>
        <p:nvPicPr>
          <p:cNvPr id="8" name="Image 1" descr="preencoded.png"/>
          <p:cNvPicPr>
            <a:picLocks noChangeAspect="1"/>
          </p:cNvPicPr>
          <p:nvPr/>
        </p:nvPicPr>
        <p:blipFill>
          <a:blip r:embed="rId3"/>
          <a:stretch>
            <a:fillRect/>
          </a:stretch>
        </p:blipFill>
        <p:spPr>
          <a:xfrm>
            <a:off x="6638544" y="1572768"/>
            <a:ext cx="4882896" cy="3255264"/>
          </a:xfrm>
          <a:prstGeom prst="rect">
            <a:avLst/>
          </a:prstGeom>
        </p:spPr>
      </p:pic>
      <p:sp>
        <p:nvSpPr>
          <p:cNvPr id="9" name="Text 5"/>
          <p:cNvSpPr txBox="1"/>
          <p:nvPr/>
        </p:nvSpPr>
        <p:spPr>
          <a:xfrm>
            <a:off x="6492240" y="5187461"/>
            <a:ext cx="5166360" cy="274320"/>
          </a:xfrm>
          <a:prstGeom prst="rect">
            <a:avLst/>
          </a:prstGeom>
          <a:noFill/>
          <a:ln/>
        </p:spPr>
        <p:txBody>
          <a:bodyPr wrap="square" lIns="0" tIns="0" rIns="0" bIns="0" rtlCol="0" anchor="t"/>
          <a:lstStyle/>
          <a:p>
            <a:pPr marL="0" indent="0">
              <a:buNone/>
            </a:pPr>
            <a:r>
              <a:rPr lang="en-US" sz="1100" dirty="0">
                <a:solidFill>
                  <a:srgbClr val="6B6B6B"/>
                </a:solidFill>
                <a:latin typeface="Arial" pitchFamily="34" charset="0"/>
                <a:ea typeface="Arial" pitchFamily="34" charset="-122"/>
                <a:cs typeface="Arial" pitchFamily="34" charset="-120"/>
              </a:rPr>
              <a:t>The finished unit on the block</a:t>
            </a:r>
          </a:p>
        </p:txBody>
      </p:sp>
      <p:sp>
        <p:nvSpPr>
          <p:cNvPr id="10" name="Shape 6"/>
          <p:cNvSpPr/>
          <p:nvPr/>
        </p:nvSpPr>
        <p:spPr>
          <a:xfrm>
            <a:off x="548640" y="5760720"/>
            <a:ext cx="11109960" cy="594360"/>
          </a:xfrm>
          <a:prstGeom prst="roundRect">
            <a:avLst>
              <a:gd name="adj" fmla="val 15385"/>
            </a:avLst>
          </a:prstGeom>
          <a:solidFill>
            <a:srgbClr val="111111"/>
          </a:solidFill>
          <a:ln w="12700">
            <a:solidFill>
              <a:srgbClr val="111111"/>
            </a:solidFill>
            <a:prstDash val="solid"/>
          </a:ln>
        </p:spPr>
        <p:txBody>
          <a:bodyPr/>
          <a:lstStyle/>
          <a:p>
            <a:endParaRPr lang="en-IT"/>
          </a:p>
        </p:txBody>
      </p:sp>
      <p:sp>
        <p:nvSpPr>
          <p:cNvPr id="11" name="Text 7"/>
          <p:cNvSpPr txBox="1"/>
          <p:nvPr/>
        </p:nvSpPr>
        <p:spPr>
          <a:xfrm>
            <a:off x="777240" y="5760720"/>
            <a:ext cx="10698480" cy="594360"/>
          </a:xfrm>
          <a:prstGeom prst="rect">
            <a:avLst/>
          </a:prstGeom>
          <a:noFill/>
          <a:ln/>
        </p:spPr>
        <p:txBody>
          <a:bodyPr wrap="square" lIns="0" tIns="0" rIns="0" bIns="0" rtlCol="0" anchor="ctr"/>
          <a:lstStyle/>
          <a:p>
            <a:pPr marL="0" indent="0">
              <a:buNone/>
            </a:pPr>
            <a:r>
              <a:rPr lang="en-US" sz="1700" b="1" dirty="0">
                <a:solidFill>
                  <a:srgbClr val="B7FF00"/>
                </a:solidFill>
                <a:latin typeface="Arial"/>
                <a:ea typeface="Arial" pitchFamily="34" charset="-122"/>
                <a:cs typeface="Arial"/>
              </a:rPr>
              <a:t>Designed around the PCB: display window, buzzer opening and button on the lid.</a:t>
            </a:r>
          </a:p>
        </p:txBody>
      </p:sp>
      <p:sp>
        <p:nvSpPr>
          <p:cNvPr id="12" name="Shape 4">
            <a:extLst>
              <a:ext uri="{FF2B5EF4-FFF2-40B4-BE49-F238E27FC236}">
                <a16:creationId xmlns:a16="http://schemas.microsoft.com/office/drawing/2014/main" id="{E90FEF6D-7163-D5B3-8A58-1F145BEBA649}"/>
              </a:ext>
            </a:extLst>
          </p:cNvPr>
          <p:cNvSpPr/>
          <p:nvPr/>
        </p:nvSpPr>
        <p:spPr>
          <a:xfrm>
            <a:off x="548640" y="1441939"/>
            <a:ext cx="5166360" cy="3613638"/>
          </a:xfrm>
          <a:prstGeom prst="roundRect">
            <a:avLst>
              <a:gd name="adj" fmla="val 2381"/>
            </a:avLst>
          </a:prstGeom>
          <a:solidFill>
            <a:srgbClr val="F3F3F3"/>
          </a:solidFill>
          <a:ln w="12700">
            <a:solidFill>
              <a:srgbClr val="F3F3F3"/>
            </a:solidFill>
            <a:prstDash val="solid"/>
          </a:ln>
        </p:spPr>
        <p:txBody>
          <a:bodyPr/>
          <a:lstStyle/>
          <a:p>
            <a:endParaRPr lang="en-IT"/>
          </a:p>
        </p:txBody>
      </p:sp>
      <p:pic>
        <p:nvPicPr>
          <p:cNvPr id="5" name="Image 0" descr="preencoded.png"/>
          <p:cNvPicPr>
            <a:picLocks noChangeAspect="1"/>
          </p:cNvPicPr>
          <p:nvPr/>
        </p:nvPicPr>
        <p:blipFill>
          <a:blip r:embed="rId4"/>
          <a:stretch>
            <a:fillRect/>
          </a:stretch>
        </p:blipFill>
        <p:spPr>
          <a:xfrm>
            <a:off x="1207473" y="1572768"/>
            <a:ext cx="3857836" cy="334670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dirty="0"/>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dirty="0">
                <a:solidFill>
                  <a:srgbClr val="111111"/>
                </a:solidFill>
                <a:latin typeface="Arial" pitchFamily="34" charset="0"/>
                <a:ea typeface="Arial" pitchFamily="34" charset="-122"/>
                <a:cs typeface="Arial" pitchFamily="34" charset="-120"/>
              </a:rPr>
              <a:t>06</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dirty="0">
                <a:solidFill>
                  <a:srgbClr val="111111"/>
                </a:solidFill>
                <a:latin typeface="Arial" pitchFamily="34" charset="0"/>
                <a:ea typeface="Arial" pitchFamily="34" charset="-122"/>
                <a:cs typeface="Arial" pitchFamily="34" charset="-120"/>
              </a:rPr>
              <a:t>PHOTO FINISH:  HOW IT WORKS</a:t>
            </a:r>
          </a:p>
        </p:txBody>
      </p:sp>
      <p:sp>
        <p:nvSpPr>
          <p:cNvPr id="5" name="Text 3"/>
          <p:cNvSpPr txBox="1"/>
          <p:nvPr/>
        </p:nvSpPr>
        <p:spPr>
          <a:xfrm>
            <a:off x="548640" y="1234440"/>
            <a:ext cx="11064240" cy="457200"/>
          </a:xfrm>
          <a:prstGeom prst="rect">
            <a:avLst/>
          </a:prstGeom>
          <a:noFill/>
          <a:ln/>
        </p:spPr>
        <p:txBody>
          <a:bodyPr wrap="square" lIns="0" tIns="0" rIns="0" bIns="0" rtlCol="0" anchor="t"/>
          <a:lstStyle/>
          <a:p>
            <a:pPr marL="0" indent="0">
              <a:buNone/>
            </a:pPr>
            <a:r>
              <a:rPr lang="en-US" sz="1800" dirty="0">
                <a:solidFill>
                  <a:srgbClr val="111111"/>
                </a:solidFill>
                <a:latin typeface="Arial" pitchFamily="34" charset="0"/>
                <a:ea typeface="Arial" pitchFamily="34" charset="-122"/>
                <a:cs typeface="Arial" pitchFamily="34" charset="-120"/>
              </a:rPr>
              <a:t>The board knows when “go” was, the phone knows when the chest crossed: four steps put both on one clock.</a:t>
            </a:r>
          </a:p>
        </p:txBody>
      </p:sp>
      <p:sp>
        <p:nvSpPr>
          <p:cNvPr id="6" name="Shape 4"/>
          <p:cNvSpPr/>
          <p:nvPr/>
        </p:nvSpPr>
        <p:spPr>
          <a:xfrm>
            <a:off x="960120" y="2514600"/>
            <a:ext cx="8503920" cy="0"/>
          </a:xfrm>
          <a:prstGeom prst="line">
            <a:avLst/>
          </a:prstGeom>
          <a:noFill/>
          <a:ln w="25400">
            <a:solidFill>
              <a:srgbClr val="BDBDBD"/>
            </a:solidFill>
            <a:prstDash val="dash"/>
          </a:ln>
        </p:spPr>
        <p:txBody>
          <a:bodyPr/>
          <a:lstStyle/>
          <a:p>
            <a:endParaRPr lang="en-IT"/>
          </a:p>
        </p:txBody>
      </p:sp>
      <p:sp>
        <p:nvSpPr>
          <p:cNvPr id="7" name="Shape 5"/>
          <p:cNvSpPr/>
          <p:nvPr/>
        </p:nvSpPr>
        <p:spPr>
          <a:xfrm>
            <a:off x="548640" y="2103120"/>
            <a:ext cx="822960" cy="822960"/>
          </a:xfrm>
          <a:prstGeom prst="ellipse">
            <a:avLst/>
          </a:prstGeom>
          <a:solidFill>
            <a:srgbClr val="B7FF00"/>
          </a:solidFill>
          <a:ln w="12700">
            <a:solidFill>
              <a:srgbClr val="B7FF00"/>
            </a:solidFill>
            <a:prstDash val="solid"/>
          </a:ln>
        </p:spPr>
        <p:txBody>
          <a:bodyPr/>
          <a:lstStyle/>
          <a:p>
            <a:endParaRPr lang="en-IT"/>
          </a:p>
        </p:txBody>
      </p:sp>
      <p:sp>
        <p:nvSpPr>
          <p:cNvPr id="9" name="Shape 6"/>
          <p:cNvSpPr/>
          <p:nvPr/>
        </p:nvSpPr>
        <p:spPr>
          <a:xfrm>
            <a:off x="548640" y="3429000"/>
            <a:ext cx="2606040" cy="2331720"/>
          </a:xfrm>
          <a:prstGeom prst="roundRect">
            <a:avLst>
              <a:gd name="adj" fmla="val 3922"/>
            </a:avLst>
          </a:prstGeom>
          <a:solidFill>
            <a:srgbClr val="B7FF00"/>
          </a:solidFill>
          <a:ln w="12700">
            <a:solidFill>
              <a:srgbClr val="B7FF00"/>
            </a:solidFill>
            <a:prstDash val="solid"/>
          </a:ln>
        </p:spPr>
        <p:txBody>
          <a:bodyPr/>
          <a:lstStyle/>
          <a:p>
            <a:endParaRPr lang="en-IT" dirty="0"/>
          </a:p>
        </p:txBody>
      </p:sp>
      <p:sp>
        <p:nvSpPr>
          <p:cNvPr id="10" name="Text 7"/>
          <p:cNvSpPr txBox="1"/>
          <p:nvPr/>
        </p:nvSpPr>
        <p:spPr>
          <a:xfrm>
            <a:off x="754380" y="3749040"/>
            <a:ext cx="2148840" cy="274320"/>
          </a:xfrm>
          <a:prstGeom prst="rect">
            <a:avLst/>
          </a:prstGeom>
          <a:noFill/>
          <a:ln/>
        </p:spPr>
        <p:txBody>
          <a:bodyPr wrap="square" lIns="0" tIns="0" rIns="0" bIns="0" rtlCol="0" anchor="t"/>
          <a:lstStyle/>
          <a:p>
            <a:pPr marL="0" indent="0">
              <a:buNone/>
            </a:pPr>
            <a:r>
              <a:rPr lang="en-US" sz="1100" b="1" kern="0" spc="200" dirty="0">
                <a:solidFill>
                  <a:srgbClr val="111111"/>
                </a:solidFill>
                <a:latin typeface="Arial" pitchFamily="34" charset="0"/>
                <a:ea typeface="Arial" pitchFamily="34" charset="-122"/>
                <a:cs typeface="Arial" pitchFamily="34" charset="-120"/>
              </a:rPr>
              <a:t>STEP 1 · SYNC</a:t>
            </a:r>
          </a:p>
        </p:txBody>
      </p:sp>
      <p:sp>
        <p:nvSpPr>
          <p:cNvPr id="11" name="Text 8"/>
          <p:cNvSpPr txBox="1"/>
          <p:nvPr/>
        </p:nvSpPr>
        <p:spPr>
          <a:xfrm>
            <a:off x="75438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Sync the clocks</a:t>
            </a:r>
          </a:p>
        </p:txBody>
      </p:sp>
      <p:sp>
        <p:nvSpPr>
          <p:cNvPr id="12" name="Text 9"/>
          <p:cNvSpPr txBox="1"/>
          <p:nvPr/>
        </p:nvSpPr>
        <p:spPr>
          <a:xfrm>
            <a:off x="754380" y="4847217"/>
            <a:ext cx="2148840" cy="777688"/>
          </a:xfrm>
          <a:prstGeom prst="rect">
            <a:avLst/>
          </a:prstGeom>
          <a:noFill/>
          <a:ln/>
        </p:spPr>
        <p:txBody>
          <a:bodyPr wrap="square" lIns="0" tIns="0" rIns="0" bIns="0" rtlCol="0" anchor="t"/>
          <a:lstStyle/>
          <a:p>
            <a:r>
              <a:rPr lang="en-US" sz="1300" dirty="0">
                <a:solidFill>
                  <a:srgbClr val="333333"/>
                </a:solidFill>
                <a:latin typeface="Arial"/>
                <a:ea typeface="Arial" pitchFamily="34" charset="-122"/>
                <a:cs typeface="Arial"/>
              </a:rPr>
              <a:t>Before “set”, the phone pings the board and keeps the fastest message each way</a:t>
            </a:r>
          </a:p>
        </p:txBody>
      </p:sp>
      <p:sp>
        <p:nvSpPr>
          <p:cNvPr id="13" name="Shape 10"/>
          <p:cNvSpPr/>
          <p:nvPr/>
        </p:nvSpPr>
        <p:spPr>
          <a:xfrm>
            <a:off x="3383280" y="2103120"/>
            <a:ext cx="822960" cy="822960"/>
          </a:xfrm>
          <a:prstGeom prst="ellipse">
            <a:avLst/>
          </a:prstGeom>
          <a:solidFill>
            <a:srgbClr val="111111"/>
          </a:solidFill>
          <a:ln w="12700">
            <a:solidFill>
              <a:srgbClr val="111111"/>
            </a:solidFill>
            <a:prstDash val="solid"/>
          </a:ln>
        </p:spPr>
        <p:txBody>
          <a:bodyPr/>
          <a:lstStyle/>
          <a:p>
            <a:endParaRPr lang="en-IT"/>
          </a:p>
        </p:txBody>
      </p:sp>
      <p:sp>
        <p:nvSpPr>
          <p:cNvPr id="15" name="Shape 11"/>
          <p:cNvSpPr/>
          <p:nvPr/>
        </p:nvSpPr>
        <p:spPr>
          <a:xfrm>
            <a:off x="3383280" y="3429000"/>
            <a:ext cx="2606040" cy="2331720"/>
          </a:xfrm>
          <a:prstGeom prst="roundRect">
            <a:avLst>
              <a:gd name="adj" fmla="val 3922"/>
            </a:avLst>
          </a:prstGeom>
          <a:solidFill>
            <a:srgbClr val="F3F3F3"/>
          </a:solidFill>
          <a:ln w="12700">
            <a:solidFill>
              <a:srgbClr val="F3F3F3"/>
            </a:solidFill>
            <a:prstDash val="solid"/>
          </a:ln>
        </p:spPr>
        <p:txBody>
          <a:bodyPr/>
          <a:lstStyle/>
          <a:p>
            <a:endParaRPr lang="en-IT"/>
          </a:p>
        </p:txBody>
      </p:sp>
      <p:sp>
        <p:nvSpPr>
          <p:cNvPr id="16" name="Text 12"/>
          <p:cNvSpPr txBox="1"/>
          <p:nvPr/>
        </p:nvSpPr>
        <p:spPr>
          <a:xfrm>
            <a:off x="3589020" y="3749040"/>
            <a:ext cx="2148840" cy="274320"/>
          </a:xfrm>
          <a:prstGeom prst="rect">
            <a:avLst/>
          </a:prstGeom>
          <a:noFill/>
          <a:ln/>
        </p:spPr>
        <p:txBody>
          <a:bodyPr wrap="square" lIns="0" tIns="0" rIns="0" bIns="0" rtlCol="0" anchor="t"/>
          <a:lstStyle/>
          <a:p>
            <a:pPr marL="0" indent="0">
              <a:buNone/>
            </a:pPr>
            <a:r>
              <a:rPr lang="en-US" sz="1100" b="1" kern="0" spc="200" dirty="0">
                <a:solidFill>
                  <a:srgbClr val="6B6B6B"/>
                </a:solidFill>
                <a:latin typeface="Arial" pitchFamily="34" charset="0"/>
                <a:ea typeface="Arial" pitchFamily="34" charset="-122"/>
                <a:cs typeface="Arial" pitchFamily="34" charset="-120"/>
              </a:rPr>
              <a:t>STEP 2 · FILM</a:t>
            </a:r>
          </a:p>
        </p:txBody>
      </p:sp>
      <p:sp>
        <p:nvSpPr>
          <p:cNvPr id="17" name="Text 13"/>
          <p:cNvSpPr txBox="1"/>
          <p:nvPr/>
        </p:nvSpPr>
        <p:spPr>
          <a:xfrm>
            <a:off x="358902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Film the line</a:t>
            </a:r>
          </a:p>
        </p:txBody>
      </p:sp>
      <p:sp>
        <p:nvSpPr>
          <p:cNvPr id="18" name="Text 14"/>
          <p:cNvSpPr txBox="1"/>
          <p:nvPr/>
        </p:nvSpPr>
        <p:spPr>
          <a:xfrm>
            <a:off x="3589020" y="4892040"/>
            <a:ext cx="2148840" cy="1371600"/>
          </a:xfrm>
          <a:prstGeom prst="rect">
            <a:avLst/>
          </a:prstGeom>
          <a:noFill/>
          <a:ln/>
        </p:spPr>
        <p:txBody>
          <a:bodyPr wrap="square" lIns="0" tIns="0" rIns="0" bIns="0" rtlCol="0" anchor="t"/>
          <a:lstStyle/>
          <a:p>
            <a:pPr marL="0" indent="0">
              <a:buNone/>
            </a:pPr>
            <a:r>
              <a:rPr lang="en-US" sz="1300" dirty="0">
                <a:solidFill>
                  <a:srgbClr val="333333"/>
                </a:solidFill>
                <a:latin typeface="Arial" pitchFamily="34" charset="0"/>
                <a:ea typeface="Arial" pitchFamily="34" charset="-122"/>
                <a:cs typeface="Arial" pitchFamily="34" charset="-120"/>
              </a:rPr>
              <a:t>240 fps, 1/1000 s exposure, every frame stamped on the synced clock</a:t>
            </a:r>
          </a:p>
        </p:txBody>
      </p:sp>
      <p:sp>
        <p:nvSpPr>
          <p:cNvPr id="19" name="Shape 15"/>
          <p:cNvSpPr/>
          <p:nvPr/>
        </p:nvSpPr>
        <p:spPr>
          <a:xfrm>
            <a:off x="6217920" y="2103120"/>
            <a:ext cx="822960" cy="822960"/>
          </a:xfrm>
          <a:prstGeom prst="ellipse">
            <a:avLst/>
          </a:prstGeom>
          <a:solidFill>
            <a:srgbClr val="111111"/>
          </a:solidFill>
          <a:ln w="12700">
            <a:solidFill>
              <a:srgbClr val="111111"/>
            </a:solidFill>
            <a:prstDash val="solid"/>
          </a:ln>
        </p:spPr>
        <p:txBody>
          <a:bodyPr/>
          <a:lstStyle/>
          <a:p>
            <a:endParaRPr lang="en-IT"/>
          </a:p>
        </p:txBody>
      </p:sp>
      <p:sp>
        <p:nvSpPr>
          <p:cNvPr id="21" name="Shape 16"/>
          <p:cNvSpPr/>
          <p:nvPr/>
        </p:nvSpPr>
        <p:spPr>
          <a:xfrm>
            <a:off x="6217920" y="3429000"/>
            <a:ext cx="2606040" cy="2331720"/>
          </a:xfrm>
          <a:prstGeom prst="roundRect">
            <a:avLst>
              <a:gd name="adj" fmla="val 3922"/>
            </a:avLst>
          </a:prstGeom>
          <a:solidFill>
            <a:srgbClr val="F3F3F3"/>
          </a:solidFill>
          <a:ln w="12700">
            <a:solidFill>
              <a:srgbClr val="F3F3F3"/>
            </a:solidFill>
            <a:prstDash val="solid"/>
          </a:ln>
        </p:spPr>
        <p:txBody>
          <a:bodyPr/>
          <a:lstStyle/>
          <a:p>
            <a:endParaRPr lang="en-IT"/>
          </a:p>
        </p:txBody>
      </p:sp>
      <p:sp>
        <p:nvSpPr>
          <p:cNvPr id="22" name="Text 17"/>
          <p:cNvSpPr txBox="1"/>
          <p:nvPr/>
        </p:nvSpPr>
        <p:spPr>
          <a:xfrm>
            <a:off x="6423660" y="3749040"/>
            <a:ext cx="2148840" cy="274320"/>
          </a:xfrm>
          <a:prstGeom prst="rect">
            <a:avLst/>
          </a:prstGeom>
          <a:noFill/>
          <a:ln/>
        </p:spPr>
        <p:txBody>
          <a:bodyPr wrap="square" lIns="0" tIns="0" rIns="0" bIns="0" rtlCol="0" anchor="t"/>
          <a:lstStyle/>
          <a:p>
            <a:pPr marL="0" indent="0">
              <a:buNone/>
            </a:pPr>
            <a:r>
              <a:rPr lang="en-US" sz="1100" b="1" kern="0" spc="200" dirty="0">
                <a:solidFill>
                  <a:srgbClr val="6B6B6B"/>
                </a:solidFill>
                <a:latin typeface="Arial" pitchFamily="34" charset="0"/>
                <a:ea typeface="Arial" pitchFamily="34" charset="-122"/>
                <a:cs typeface="Arial" pitchFamily="34" charset="-120"/>
              </a:rPr>
              <a:t>STEP 3 · FIND</a:t>
            </a:r>
          </a:p>
        </p:txBody>
      </p:sp>
      <p:sp>
        <p:nvSpPr>
          <p:cNvPr id="23" name="Text 18"/>
          <p:cNvSpPr txBox="1"/>
          <p:nvPr/>
        </p:nvSpPr>
        <p:spPr>
          <a:xfrm>
            <a:off x="642366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Find the chest</a:t>
            </a:r>
          </a:p>
        </p:txBody>
      </p:sp>
      <p:sp>
        <p:nvSpPr>
          <p:cNvPr id="24" name="Text 19"/>
          <p:cNvSpPr txBox="1"/>
          <p:nvPr/>
        </p:nvSpPr>
        <p:spPr>
          <a:xfrm>
            <a:off x="6423660" y="4892040"/>
            <a:ext cx="2148840" cy="1371600"/>
          </a:xfrm>
          <a:prstGeom prst="rect">
            <a:avLst/>
          </a:prstGeom>
          <a:noFill/>
          <a:ln/>
        </p:spPr>
        <p:txBody>
          <a:bodyPr wrap="square" lIns="0" tIns="0" rIns="0" bIns="0" rtlCol="0" anchor="t"/>
          <a:lstStyle/>
          <a:p>
            <a:pPr marL="0" indent="0">
              <a:buNone/>
            </a:pPr>
            <a:r>
              <a:rPr lang="en-US" sz="1300" dirty="0">
                <a:solidFill>
                  <a:srgbClr val="333333"/>
                </a:solidFill>
                <a:latin typeface="Arial" pitchFamily="34" charset="0"/>
                <a:ea typeface="Arial" pitchFamily="34" charset="-122"/>
                <a:cs typeface="Arial" pitchFamily="34" charset="-120"/>
              </a:rPr>
              <a:t>On-device AI: body silhouette, arms removed, chest front</a:t>
            </a:r>
          </a:p>
        </p:txBody>
      </p:sp>
      <p:sp>
        <p:nvSpPr>
          <p:cNvPr id="25" name="Shape 20"/>
          <p:cNvSpPr/>
          <p:nvPr/>
        </p:nvSpPr>
        <p:spPr>
          <a:xfrm>
            <a:off x="9052560" y="2103120"/>
            <a:ext cx="822960" cy="822960"/>
          </a:xfrm>
          <a:prstGeom prst="ellipse">
            <a:avLst/>
          </a:prstGeom>
          <a:solidFill>
            <a:srgbClr val="111111"/>
          </a:solidFill>
          <a:ln w="12700">
            <a:solidFill>
              <a:srgbClr val="111111"/>
            </a:solidFill>
            <a:prstDash val="solid"/>
          </a:ln>
        </p:spPr>
        <p:txBody>
          <a:bodyPr/>
          <a:lstStyle/>
          <a:p>
            <a:endParaRPr lang="en-IT"/>
          </a:p>
        </p:txBody>
      </p:sp>
      <p:sp>
        <p:nvSpPr>
          <p:cNvPr id="27" name="Shape 21"/>
          <p:cNvSpPr/>
          <p:nvPr/>
        </p:nvSpPr>
        <p:spPr>
          <a:xfrm>
            <a:off x="9052560" y="3429000"/>
            <a:ext cx="2606040" cy="2331720"/>
          </a:xfrm>
          <a:prstGeom prst="roundRect">
            <a:avLst>
              <a:gd name="adj" fmla="val 3922"/>
            </a:avLst>
          </a:prstGeom>
          <a:solidFill>
            <a:srgbClr val="F3F3F3"/>
          </a:solidFill>
          <a:ln w="12700">
            <a:solidFill>
              <a:srgbClr val="F3F3F3"/>
            </a:solidFill>
            <a:prstDash val="solid"/>
          </a:ln>
        </p:spPr>
        <p:txBody>
          <a:bodyPr/>
          <a:lstStyle/>
          <a:p>
            <a:endParaRPr lang="en-IT"/>
          </a:p>
        </p:txBody>
      </p:sp>
      <p:sp>
        <p:nvSpPr>
          <p:cNvPr id="28" name="Text 22"/>
          <p:cNvSpPr txBox="1"/>
          <p:nvPr/>
        </p:nvSpPr>
        <p:spPr>
          <a:xfrm>
            <a:off x="9258300" y="3749040"/>
            <a:ext cx="2148840" cy="274320"/>
          </a:xfrm>
          <a:prstGeom prst="rect">
            <a:avLst/>
          </a:prstGeom>
          <a:noFill/>
          <a:ln/>
        </p:spPr>
        <p:txBody>
          <a:bodyPr wrap="square" lIns="0" tIns="0" rIns="0" bIns="0" rtlCol="0" anchor="t"/>
          <a:lstStyle/>
          <a:p>
            <a:pPr marL="0" indent="0">
              <a:buNone/>
            </a:pPr>
            <a:r>
              <a:rPr lang="en-US" sz="1100" b="1" kern="0" spc="200" dirty="0">
                <a:solidFill>
                  <a:srgbClr val="6B6B6B"/>
                </a:solidFill>
                <a:latin typeface="Arial" pitchFamily="34" charset="0"/>
                <a:ea typeface="Arial" pitchFamily="34" charset="-122"/>
                <a:cs typeface="Arial" pitchFamily="34" charset="-120"/>
              </a:rPr>
              <a:t>STEP 4 · TIME</a:t>
            </a:r>
          </a:p>
        </p:txBody>
      </p:sp>
      <p:sp>
        <p:nvSpPr>
          <p:cNvPr id="29" name="Text 23"/>
          <p:cNvSpPr txBox="1"/>
          <p:nvPr/>
        </p:nvSpPr>
        <p:spPr>
          <a:xfrm>
            <a:off x="9258300" y="4069080"/>
            <a:ext cx="2148840" cy="777240"/>
          </a:xfrm>
          <a:prstGeom prst="rect">
            <a:avLst/>
          </a:prstGeom>
          <a:noFill/>
          <a:ln/>
        </p:spPr>
        <p:txBody>
          <a:bodyPr wrap="square" lIns="0" tIns="0" rIns="0" bIns="0" rtlCol="0" anchor="t"/>
          <a:lstStyle/>
          <a:p>
            <a:pPr marL="0" indent="0">
              <a:buNone/>
            </a:pPr>
            <a:r>
              <a:rPr lang="en-US" sz="2000" b="1" i="1" dirty="0">
                <a:solidFill>
                  <a:srgbClr val="111111"/>
                </a:solidFill>
                <a:latin typeface="Arial" pitchFamily="34" charset="0"/>
                <a:ea typeface="Arial" pitchFamily="34" charset="-122"/>
                <a:cs typeface="Arial" pitchFamily="34" charset="-120"/>
              </a:rPr>
              <a:t>Time the crossing</a:t>
            </a:r>
          </a:p>
        </p:txBody>
      </p:sp>
      <p:sp>
        <p:nvSpPr>
          <p:cNvPr id="30" name="Text 24"/>
          <p:cNvSpPr txBox="1"/>
          <p:nvPr/>
        </p:nvSpPr>
        <p:spPr>
          <a:xfrm>
            <a:off x="9258300" y="4892040"/>
            <a:ext cx="2148840" cy="1371600"/>
          </a:xfrm>
          <a:prstGeom prst="rect">
            <a:avLst/>
          </a:prstGeom>
          <a:noFill/>
          <a:ln/>
        </p:spPr>
        <p:txBody>
          <a:bodyPr wrap="square" lIns="0" tIns="0" rIns="0" bIns="0" rtlCol="0" anchor="t"/>
          <a:lstStyle/>
          <a:p>
            <a:pPr marL="0" indent="0">
              <a:buNone/>
            </a:pPr>
            <a:r>
              <a:rPr lang="en-US" sz="1300" dirty="0">
                <a:solidFill>
                  <a:srgbClr val="333333"/>
                </a:solidFill>
                <a:latin typeface="Arial" pitchFamily="34" charset="0"/>
                <a:ea typeface="Arial" pitchFamily="34" charset="-122"/>
                <a:cs typeface="Arial" pitchFamily="34" charset="-120"/>
              </a:rPr>
              <a:t>Interpolate between the two frames around the line: t(finish) – t(go)</a:t>
            </a:r>
          </a:p>
        </p:txBody>
      </p:sp>
      <p:pic>
        <p:nvPicPr>
          <p:cNvPr id="32" name="Graphic 31" descr="Wireless with solid fill">
            <a:extLst>
              <a:ext uri="{FF2B5EF4-FFF2-40B4-BE49-F238E27FC236}">
                <a16:creationId xmlns:a16="http://schemas.microsoft.com/office/drawing/2014/main" id="{005396E7-8F17-014A-6B9E-AA4DA9F69B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41070" y="2260910"/>
            <a:ext cx="507380" cy="507380"/>
          </a:xfrm>
          <a:prstGeom prst="rect">
            <a:avLst/>
          </a:prstGeom>
        </p:spPr>
      </p:pic>
      <p:pic>
        <p:nvPicPr>
          <p:cNvPr id="34" name="Graphic 33" descr="Smart Phone with solid fill">
            <a:extLst>
              <a:ext uri="{FF2B5EF4-FFF2-40B4-BE49-F238E27FC236}">
                <a16:creationId xmlns:a16="http://schemas.microsoft.com/office/drawing/2014/main" id="{D01E46BE-9789-690A-EF85-CCDAC4E9E6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0634" y="2270759"/>
            <a:ext cx="497531" cy="497531"/>
          </a:xfrm>
          <a:prstGeom prst="rect">
            <a:avLst/>
          </a:prstGeom>
        </p:spPr>
      </p:pic>
      <p:pic>
        <p:nvPicPr>
          <p:cNvPr id="38" name="Graphic 37" descr="Stopwatch 75% with solid fill">
            <a:extLst>
              <a:ext uri="{FF2B5EF4-FFF2-40B4-BE49-F238E27FC236}">
                <a16:creationId xmlns:a16="http://schemas.microsoft.com/office/drawing/2014/main" id="{082FBF6E-3FF7-C6C9-AA40-295A529ADF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7975" y="2218535"/>
            <a:ext cx="592130" cy="592130"/>
          </a:xfrm>
          <a:prstGeom prst="rect">
            <a:avLst/>
          </a:prstGeom>
        </p:spPr>
      </p:pic>
      <p:pic>
        <p:nvPicPr>
          <p:cNvPr id="40" name="Graphic 39" descr="Completed with solid fill">
            <a:extLst>
              <a:ext uri="{FF2B5EF4-FFF2-40B4-BE49-F238E27FC236}">
                <a16:creationId xmlns:a16="http://schemas.microsoft.com/office/drawing/2014/main" id="{3EF23C2D-DED1-58FB-870E-BDD2854262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0080" y="2194560"/>
            <a:ext cx="640080" cy="640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77240" cy="502920"/>
          </a:xfrm>
          <a:prstGeom prst="roundRect">
            <a:avLst>
              <a:gd name="adj" fmla="val 21818"/>
            </a:avLst>
          </a:prstGeom>
          <a:solidFill>
            <a:srgbClr val="B7FF00"/>
          </a:solidFill>
          <a:ln w="12700">
            <a:noFill/>
            <a:prstDash val="solid"/>
          </a:ln>
        </p:spPr>
        <p:txBody>
          <a:bodyPr/>
          <a:lstStyle/>
          <a:p>
            <a:endParaRPr lang="en-IT"/>
          </a:p>
        </p:txBody>
      </p:sp>
      <p:sp>
        <p:nvSpPr>
          <p:cNvPr id="3" name="Text 1"/>
          <p:cNvSpPr txBox="1"/>
          <p:nvPr/>
        </p:nvSpPr>
        <p:spPr>
          <a:xfrm>
            <a:off x="548640" y="457200"/>
            <a:ext cx="777240" cy="502920"/>
          </a:xfrm>
          <a:prstGeom prst="rect">
            <a:avLst/>
          </a:prstGeom>
          <a:noFill/>
          <a:ln/>
        </p:spPr>
        <p:txBody>
          <a:bodyPr wrap="square" lIns="0" tIns="0" rIns="0" bIns="0" rtlCol="0" anchor="ctr"/>
          <a:lstStyle/>
          <a:p>
            <a:pPr marL="0" indent="0" algn="ctr">
              <a:buNone/>
            </a:pPr>
            <a:r>
              <a:rPr lang="en-US" sz="2200" b="1" i="1" dirty="0">
                <a:solidFill>
                  <a:srgbClr val="111111"/>
                </a:solidFill>
                <a:latin typeface="Arial" pitchFamily="34" charset="0"/>
                <a:ea typeface="Arial" pitchFamily="34" charset="-122"/>
                <a:cs typeface="Arial" pitchFamily="34" charset="-120"/>
              </a:rPr>
              <a:t>07</a:t>
            </a:r>
          </a:p>
        </p:txBody>
      </p:sp>
      <p:sp>
        <p:nvSpPr>
          <p:cNvPr id="4" name="Text 2"/>
          <p:cNvSpPr txBox="1"/>
          <p:nvPr/>
        </p:nvSpPr>
        <p:spPr>
          <a:xfrm>
            <a:off x="1554480" y="411480"/>
            <a:ext cx="9966960" cy="640080"/>
          </a:xfrm>
          <a:prstGeom prst="rect">
            <a:avLst/>
          </a:prstGeom>
          <a:noFill/>
          <a:ln/>
        </p:spPr>
        <p:txBody>
          <a:bodyPr wrap="square" lIns="0" tIns="0" rIns="0" bIns="0" rtlCol="0" anchor="ctr"/>
          <a:lstStyle/>
          <a:p>
            <a:pPr marL="0" indent="0">
              <a:buNone/>
            </a:pPr>
            <a:r>
              <a:rPr lang="en-US" sz="3600" b="1" i="1">
                <a:solidFill>
                  <a:srgbClr val="111111"/>
                </a:solidFill>
                <a:latin typeface="Arial" pitchFamily="34" charset="0"/>
                <a:ea typeface="Arial" pitchFamily="34" charset="-122"/>
                <a:cs typeface="Arial" pitchFamily="34" charset="-120"/>
              </a:rPr>
              <a:t>RESULTS · VALIDATION</a:t>
            </a:r>
          </a:p>
        </p:txBody>
      </p:sp>
      <p:pic>
        <p:nvPicPr>
          <p:cNvPr id="5" name="Image 0" descr="preencoded.png"/>
          <p:cNvPicPr>
            <a:picLocks noChangeAspect="1"/>
          </p:cNvPicPr>
          <p:nvPr/>
        </p:nvPicPr>
        <p:blipFill>
          <a:blip r:embed="rId3"/>
          <a:stretch>
            <a:fillRect/>
          </a:stretch>
        </p:blipFill>
        <p:spPr>
          <a:xfrm>
            <a:off x="548640" y="1950402"/>
            <a:ext cx="6400800" cy="3085210"/>
          </a:xfrm>
          <a:prstGeom prst="rect">
            <a:avLst/>
          </a:prstGeom>
        </p:spPr>
      </p:pic>
      <p:sp>
        <p:nvSpPr>
          <p:cNvPr id="6" name="Text 3"/>
          <p:cNvSpPr txBox="1"/>
          <p:nvPr/>
        </p:nvSpPr>
        <p:spPr>
          <a:xfrm>
            <a:off x="548640" y="5747273"/>
            <a:ext cx="6400800" cy="502920"/>
          </a:xfrm>
          <a:prstGeom prst="rect">
            <a:avLst/>
          </a:prstGeom>
          <a:noFill/>
          <a:ln/>
        </p:spPr>
        <p:txBody>
          <a:bodyPr wrap="square" lIns="0" tIns="0" rIns="0" bIns="0" rtlCol="0" anchor="t"/>
          <a:lstStyle/>
          <a:p>
            <a:pPr marL="0" indent="0">
              <a:buNone/>
            </a:pPr>
            <a:r>
              <a:rPr lang="en-US" sz="1100">
                <a:solidFill>
                  <a:srgbClr val="6B6B6B"/>
                </a:solidFill>
                <a:latin typeface="Arial" pitchFamily="34" charset="0"/>
                <a:ea typeface="Arial" pitchFamily="34" charset="-122"/>
                <a:cs typeface="Arial" pitchFamily="34" charset="-120"/>
              </a:rPr>
              <a:t>Every timing error on one log scale: what we measured, against frame intervals and hand timing</a:t>
            </a:r>
          </a:p>
        </p:txBody>
      </p:sp>
      <p:sp>
        <p:nvSpPr>
          <p:cNvPr id="7" name="Shape 4"/>
          <p:cNvSpPr/>
          <p:nvPr/>
        </p:nvSpPr>
        <p:spPr>
          <a:xfrm>
            <a:off x="7315200" y="1325880"/>
            <a:ext cx="4343400" cy="1051560"/>
          </a:xfrm>
          <a:prstGeom prst="roundRect">
            <a:avLst>
              <a:gd name="adj" fmla="val 8696"/>
            </a:avLst>
          </a:prstGeom>
          <a:solidFill>
            <a:srgbClr val="B7FF00"/>
          </a:solidFill>
          <a:ln w="12700">
            <a:noFill/>
            <a:prstDash val="solid"/>
          </a:ln>
        </p:spPr>
        <p:txBody>
          <a:bodyPr/>
          <a:lstStyle/>
          <a:p>
            <a:endParaRPr lang="en-IT"/>
          </a:p>
        </p:txBody>
      </p:sp>
      <p:sp>
        <p:nvSpPr>
          <p:cNvPr id="8" name="Text 5"/>
          <p:cNvSpPr txBox="1"/>
          <p:nvPr/>
        </p:nvSpPr>
        <p:spPr>
          <a:xfrm>
            <a:off x="7498080" y="1463040"/>
            <a:ext cx="4023360" cy="502920"/>
          </a:xfrm>
          <a:prstGeom prst="rect">
            <a:avLst/>
          </a:prstGeom>
          <a:noFill/>
          <a:ln/>
        </p:spPr>
        <p:txBody>
          <a:bodyPr wrap="square" lIns="0" tIns="0" rIns="0" bIns="0" rtlCol="0" anchor="t"/>
          <a:lstStyle/>
          <a:p>
            <a:pPr marL="0" indent="0">
              <a:buNone/>
            </a:pPr>
            <a:r>
              <a:rPr lang="en-US" sz="2800" b="1" i="1" dirty="0">
                <a:solidFill>
                  <a:srgbClr val="111111"/>
                </a:solidFill>
                <a:latin typeface="Arial" pitchFamily="34" charset="0"/>
                <a:ea typeface="Arial" pitchFamily="34" charset="-122"/>
                <a:cs typeface="Arial" pitchFamily="34" charset="-120"/>
              </a:rPr>
              <a:t>≈ 8 ms</a:t>
            </a:r>
          </a:p>
        </p:txBody>
      </p:sp>
      <p:sp>
        <p:nvSpPr>
          <p:cNvPr id="9" name="Text 6"/>
          <p:cNvSpPr txBox="1"/>
          <p:nvPr/>
        </p:nvSpPr>
        <p:spPr>
          <a:xfrm>
            <a:off x="7498080" y="1965960"/>
            <a:ext cx="4023360" cy="411480"/>
          </a:xfrm>
          <a:prstGeom prst="rect">
            <a:avLst/>
          </a:prstGeom>
          <a:noFill/>
          <a:ln/>
        </p:spPr>
        <p:txBody>
          <a:bodyPr wrap="square" lIns="0" tIns="0" rIns="0" bIns="0" rtlCol="0" anchor="t"/>
          <a:lstStyle/>
          <a:p>
            <a:pPr marL="0" indent="0">
              <a:buNone/>
            </a:pPr>
            <a:r>
              <a:rPr lang="en-US" sz="1200" dirty="0">
                <a:solidFill>
                  <a:srgbClr val="333333"/>
                </a:solidFill>
                <a:latin typeface="Arial" pitchFamily="34" charset="0"/>
                <a:ea typeface="Arial" pitchFamily="34" charset="-122"/>
                <a:cs typeface="Arial" pitchFamily="34" charset="-120"/>
              </a:rPr>
              <a:t>reaction time vs 240 fps video, LED marking “go”</a:t>
            </a:r>
          </a:p>
        </p:txBody>
      </p:sp>
      <p:sp>
        <p:nvSpPr>
          <p:cNvPr id="10" name="Shape 7"/>
          <p:cNvSpPr/>
          <p:nvPr/>
        </p:nvSpPr>
        <p:spPr>
          <a:xfrm>
            <a:off x="7315200" y="2514600"/>
            <a:ext cx="4343400" cy="1051560"/>
          </a:xfrm>
          <a:prstGeom prst="roundRect">
            <a:avLst>
              <a:gd name="adj" fmla="val 8696"/>
            </a:avLst>
          </a:prstGeom>
          <a:solidFill>
            <a:srgbClr val="F3F3F3"/>
          </a:solidFill>
          <a:ln w="12700">
            <a:solidFill>
              <a:srgbClr val="F3F3F3"/>
            </a:solidFill>
            <a:prstDash val="solid"/>
          </a:ln>
        </p:spPr>
        <p:txBody>
          <a:bodyPr/>
          <a:lstStyle/>
          <a:p>
            <a:endParaRPr lang="en-IT"/>
          </a:p>
        </p:txBody>
      </p:sp>
      <p:sp>
        <p:nvSpPr>
          <p:cNvPr id="11" name="Text 8"/>
          <p:cNvSpPr txBox="1"/>
          <p:nvPr/>
        </p:nvSpPr>
        <p:spPr>
          <a:xfrm>
            <a:off x="7498080" y="2651760"/>
            <a:ext cx="4023360" cy="502920"/>
          </a:xfrm>
          <a:prstGeom prst="rect">
            <a:avLst/>
          </a:prstGeom>
          <a:noFill/>
          <a:ln/>
        </p:spPr>
        <p:txBody>
          <a:bodyPr wrap="square" lIns="0" tIns="0" rIns="0" bIns="0" rtlCol="0" anchor="t"/>
          <a:lstStyle/>
          <a:p>
            <a:pPr marL="0" indent="0">
              <a:buNone/>
            </a:pPr>
            <a:r>
              <a:rPr lang="en-US" sz="2800" b="1" i="1">
                <a:solidFill>
                  <a:srgbClr val="111111"/>
                </a:solidFill>
                <a:latin typeface="Arial" pitchFamily="34" charset="0"/>
                <a:ea typeface="Arial" pitchFamily="34" charset="-122"/>
                <a:cs typeface="Arial" pitchFamily="34" charset="-120"/>
              </a:rPr>
              <a:t>10 ms</a:t>
            </a:r>
          </a:p>
        </p:txBody>
      </p:sp>
      <p:sp>
        <p:nvSpPr>
          <p:cNvPr id="12" name="Text 9"/>
          <p:cNvSpPr txBox="1"/>
          <p:nvPr/>
        </p:nvSpPr>
        <p:spPr>
          <a:xfrm>
            <a:off x="7498080" y="3154680"/>
            <a:ext cx="4023360" cy="411480"/>
          </a:xfrm>
          <a:prstGeom prst="rect">
            <a:avLst/>
          </a:prstGeom>
          <a:noFill/>
          <a:ln/>
        </p:spPr>
        <p:txBody>
          <a:bodyPr wrap="square" lIns="0" tIns="0" rIns="0" bIns="0" rtlCol="0" anchor="t"/>
          <a:lstStyle/>
          <a:p>
            <a:pPr marL="0" indent="0">
              <a:buNone/>
            </a:pPr>
            <a:r>
              <a:rPr lang="en-US" sz="1200">
                <a:solidFill>
                  <a:srgbClr val="333333"/>
                </a:solidFill>
                <a:latin typeface="Arial" pitchFamily="34" charset="0"/>
                <a:ea typeface="Arial" pitchFamily="34" charset="-122"/>
                <a:cs typeface="Arial" pitchFamily="34" charset="-120"/>
              </a:rPr>
              <a:t>photo finish vs 60 fps video (1 frame = 16.7 ms)</a:t>
            </a:r>
          </a:p>
        </p:txBody>
      </p:sp>
      <p:sp>
        <p:nvSpPr>
          <p:cNvPr id="13" name="Shape 10"/>
          <p:cNvSpPr/>
          <p:nvPr/>
        </p:nvSpPr>
        <p:spPr>
          <a:xfrm>
            <a:off x="7315200" y="3703320"/>
            <a:ext cx="4343400" cy="1051560"/>
          </a:xfrm>
          <a:prstGeom prst="roundRect">
            <a:avLst>
              <a:gd name="adj" fmla="val 8696"/>
            </a:avLst>
          </a:prstGeom>
          <a:solidFill>
            <a:srgbClr val="F3F3F3"/>
          </a:solidFill>
          <a:ln w="12700">
            <a:solidFill>
              <a:srgbClr val="F3F3F3"/>
            </a:solidFill>
            <a:prstDash val="solid"/>
          </a:ln>
        </p:spPr>
        <p:txBody>
          <a:bodyPr/>
          <a:lstStyle/>
          <a:p>
            <a:endParaRPr lang="en-IT"/>
          </a:p>
        </p:txBody>
      </p:sp>
      <p:sp>
        <p:nvSpPr>
          <p:cNvPr id="14" name="Text 11"/>
          <p:cNvSpPr txBox="1"/>
          <p:nvPr/>
        </p:nvSpPr>
        <p:spPr>
          <a:xfrm>
            <a:off x="7498080" y="3840480"/>
            <a:ext cx="4023360" cy="502920"/>
          </a:xfrm>
          <a:prstGeom prst="rect">
            <a:avLst/>
          </a:prstGeom>
          <a:noFill/>
          <a:ln/>
        </p:spPr>
        <p:txBody>
          <a:bodyPr wrap="square" lIns="0" tIns="0" rIns="0" bIns="0" rtlCol="0" anchor="t"/>
          <a:lstStyle/>
          <a:p>
            <a:pPr marL="0" indent="0">
              <a:buNone/>
            </a:pPr>
            <a:r>
              <a:rPr lang="en-US" sz="2800" b="1" i="1" dirty="0">
                <a:solidFill>
                  <a:srgbClr val="111111"/>
                </a:solidFill>
                <a:latin typeface="Arial" pitchFamily="34" charset="0"/>
                <a:ea typeface="Arial" pitchFamily="34" charset="-122"/>
                <a:cs typeface="Arial" pitchFamily="34" charset="-120"/>
              </a:rPr>
              <a:t>33 ms</a:t>
            </a:r>
          </a:p>
        </p:txBody>
      </p:sp>
      <p:sp>
        <p:nvSpPr>
          <p:cNvPr id="15" name="Text 12"/>
          <p:cNvSpPr txBox="1"/>
          <p:nvPr/>
        </p:nvSpPr>
        <p:spPr>
          <a:xfrm>
            <a:off x="7498080" y="4343400"/>
            <a:ext cx="4023360" cy="411480"/>
          </a:xfrm>
          <a:prstGeom prst="rect">
            <a:avLst/>
          </a:prstGeom>
          <a:noFill/>
          <a:ln/>
        </p:spPr>
        <p:txBody>
          <a:bodyPr wrap="square" lIns="0" tIns="0" rIns="0" bIns="0" rtlCol="0" anchor="t"/>
          <a:lstStyle/>
          <a:p>
            <a:pPr marL="0" indent="0">
              <a:buNone/>
            </a:pPr>
            <a:r>
              <a:rPr lang="en-US" sz="1200" dirty="0">
                <a:solidFill>
                  <a:srgbClr val="333333"/>
                </a:solidFill>
                <a:latin typeface="Arial" pitchFamily="34" charset="0"/>
                <a:ea typeface="Arial" pitchFamily="34" charset="-122"/>
                <a:cs typeface="Arial" pitchFamily="34" charset="-120"/>
              </a:rPr>
              <a:t>our target at half-time: one frame at 30 fps</a:t>
            </a:r>
          </a:p>
        </p:txBody>
      </p:sp>
      <p:sp>
        <p:nvSpPr>
          <p:cNvPr id="16" name="Shape 13"/>
          <p:cNvSpPr/>
          <p:nvPr/>
        </p:nvSpPr>
        <p:spPr>
          <a:xfrm>
            <a:off x="7315200" y="4892040"/>
            <a:ext cx="4343400" cy="1051560"/>
          </a:xfrm>
          <a:prstGeom prst="roundRect">
            <a:avLst>
              <a:gd name="adj" fmla="val 8696"/>
            </a:avLst>
          </a:prstGeom>
          <a:solidFill>
            <a:srgbClr val="F3F3F3"/>
          </a:solidFill>
          <a:ln w="12700">
            <a:solidFill>
              <a:srgbClr val="F3F3F3"/>
            </a:solidFill>
            <a:prstDash val="solid"/>
          </a:ln>
        </p:spPr>
        <p:txBody>
          <a:bodyPr/>
          <a:lstStyle/>
          <a:p>
            <a:endParaRPr lang="en-IT"/>
          </a:p>
        </p:txBody>
      </p:sp>
      <p:sp>
        <p:nvSpPr>
          <p:cNvPr id="17" name="Text 14"/>
          <p:cNvSpPr txBox="1"/>
          <p:nvPr/>
        </p:nvSpPr>
        <p:spPr>
          <a:xfrm>
            <a:off x="7498080" y="5029200"/>
            <a:ext cx="4023360" cy="502920"/>
          </a:xfrm>
          <a:prstGeom prst="rect">
            <a:avLst/>
          </a:prstGeom>
          <a:noFill/>
          <a:ln/>
        </p:spPr>
        <p:txBody>
          <a:bodyPr wrap="square" lIns="0" tIns="0" rIns="0" bIns="0" rtlCol="0" anchor="t"/>
          <a:lstStyle/>
          <a:p>
            <a:pPr marL="0" indent="0">
              <a:buNone/>
            </a:pPr>
            <a:r>
              <a:rPr lang="en-US" sz="2800" b="1" i="1">
                <a:solidFill>
                  <a:srgbClr val="111111"/>
                </a:solidFill>
                <a:latin typeface="Arial" pitchFamily="34" charset="0"/>
                <a:ea typeface="Arial" pitchFamily="34" charset="-122"/>
                <a:cs typeface="Arial" pitchFamily="34" charset="-120"/>
              </a:rPr>
              <a:t>0.24 s</a:t>
            </a:r>
          </a:p>
        </p:txBody>
      </p:sp>
      <p:sp>
        <p:nvSpPr>
          <p:cNvPr id="18" name="Text 15"/>
          <p:cNvSpPr txBox="1"/>
          <p:nvPr/>
        </p:nvSpPr>
        <p:spPr>
          <a:xfrm>
            <a:off x="7498080" y="5532120"/>
            <a:ext cx="4023360" cy="411480"/>
          </a:xfrm>
          <a:prstGeom prst="rect">
            <a:avLst/>
          </a:prstGeom>
          <a:noFill/>
          <a:ln/>
        </p:spPr>
        <p:txBody>
          <a:bodyPr wrap="square" lIns="0" tIns="0" rIns="0" bIns="0" rtlCol="0" anchor="t"/>
          <a:lstStyle/>
          <a:p>
            <a:pPr marL="0" indent="0">
              <a:buNone/>
            </a:pPr>
            <a:r>
              <a:rPr lang="en-US" sz="1200" dirty="0">
                <a:solidFill>
                  <a:srgbClr val="333333"/>
                </a:solidFill>
                <a:latin typeface="Arial" pitchFamily="34" charset="0"/>
                <a:ea typeface="Arial" pitchFamily="34" charset="-122"/>
                <a:cs typeface="Arial" pitchFamily="34" charset="-120"/>
              </a:rPr>
              <a:t>hand timing reads fast, as the literature reports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12" name="Text 7"/>
          <p:cNvSpPr txBox="1"/>
          <p:nvPr/>
        </p:nvSpPr>
        <p:spPr>
          <a:xfrm>
            <a:off x="687073" y="1010913"/>
            <a:ext cx="7315200" cy="1097280"/>
          </a:xfrm>
          <a:prstGeom prst="rect">
            <a:avLst/>
          </a:prstGeom>
          <a:noFill/>
          <a:ln/>
        </p:spPr>
        <p:txBody>
          <a:bodyPr wrap="square" lIns="0" tIns="0" rIns="0" bIns="0" rtlCol="0" anchor="t"/>
          <a:lstStyle/>
          <a:p>
            <a:pPr marL="0" indent="0">
              <a:buNone/>
            </a:pPr>
            <a:r>
              <a:rPr lang="en-US" sz="6600" b="1" i="1" dirty="0">
                <a:solidFill>
                  <a:srgbClr val="B7FF00"/>
                </a:solidFill>
                <a:latin typeface="Arial"/>
                <a:ea typeface="Arial" pitchFamily="34" charset="-122"/>
                <a:cs typeface="Arial"/>
              </a:rPr>
              <a:t>LIVE DEMO</a:t>
            </a:r>
          </a:p>
        </p:txBody>
      </p:sp>
      <p:sp>
        <p:nvSpPr>
          <p:cNvPr id="13" name="Text 8"/>
          <p:cNvSpPr txBox="1"/>
          <p:nvPr/>
        </p:nvSpPr>
        <p:spPr>
          <a:xfrm>
            <a:off x="708660" y="2263140"/>
            <a:ext cx="7315200" cy="548640"/>
          </a:xfrm>
          <a:prstGeom prst="rect">
            <a:avLst/>
          </a:prstGeom>
          <a:noFill/>
          <a:ln/>
        </p:spPr>
        <p:txBody>
          <a:bodyPr wrap="square" lIns="0" tIns="0" rIns="0" bIns="0" rtlCol="0" anchor="t"/>
          <a:lstStyle/>
          <a:p>
            <a:pPr marL="0" indent="0">
              <a:buNone/>
            </a:pPr>
            <a:r>
              <a:rPr lang="en-US" sz="2400" dirty="0">
                <a:solidFill>
                  <a:srgbClr val="FFFFFF"/>
                </a:solidFill>
                <a:latin typeface="Arial" pitchFamily="34" charset="0"/>
                <a:ea typeface="Arial" pitchFamily="34" charset="-122"/>
                <a:cs typeface="Arial" pitchFamily="34" charset="-120"/>
              </a:rPr>
              <a:t>Video here: Insert → Video, then stretch it over the whole slide</a:t>
            </a:r>
          </a:p>
        </p:txBody>
      </p:sp>
      <p:pic>
        <p:nvPicPr>
          <p:cNvPr id="18" name="Picture 17">
            <a:extLst>
              <a:ext uri="{FF2B5EF4-FFF2-40B4-BE49-F238E27FC236}">
                <a16:creationId xmlns:a16="http://schemas.microsoft.com/office/drawing/2014/main" id="{0E878275-16E5-38CB-BDDE-2DBBEDBFFF70}"/>
              </a:ext>
            </a:extLst>
          </p:cNvPr>
          <p:cNvPicPr>
            <a:picLocks noChangeAspect="1"/>
          </p:cNvPicPr>
          <p:nvPr/>
        </p:nvPicPr>
        <p:blipFill>
          <a:blip r:embed="rId6">
            <a:biLevel thresh="50000"/>
            <a:alphaModFix amt="5000"/>
          </a:blip>
          <a:stretch>
            <a:fillRect/>
          </a:stretch>
        </p:blipFill>
        <p:spPr>
          <a:xfrm>
            <a:off x="7010694" y="1010913"/>
            <a:ext cx="4910350" cy="50779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2085</Words>
  <Application>Microsoft Macintosh PowerPoint</Application>
  <PresentationFormat>Widescreen</PresentationFormat>
  <Paragraphs>162</Paragraphs>
  <Slides>11</Slides>
  <Notes>11</Notes>
  <HiddenSlides>1</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Prostart – Technology &amp; Health half-time presentation</dc:title>
  <dc:subject>PptxGenJS Presentation</dc:subject>
  <dc:creator>PptxGenJS</dc:creator>
  <cp:lastModifiedBy>Lorenzo Galli</cp:lastModifiedBy>
  <cp:revision>4</cp:revision>
  <dcterms:created xsi:type="dcterms:W3CDTF">2026-09-23T20:24:05Z</dcterms:created>
  <dcterms:modified xsi:type="dcterms:W3CDTF">2026-09-24T22:53:00Z</dcterms:modified>
</cp:coreProperties>
</file>